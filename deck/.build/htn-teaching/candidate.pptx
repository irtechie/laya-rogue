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c00ad221e44edd" /><Relationship Type="http://schemas.openxmlformats.org/officeDocument/2006/relationships/extended-properties" Target="/docProps/app.xml" Id="R2e21a0a953f1464b" /><Relationship Type="http://schemas.openxmlformats.org/officeDocument/2006/relationships/officeDocument" Target="/ppt/presentation.xml" Id="R7a81aca3355e46e6" /></Relationships>
</file>

<file path=ppt/presentation.xml><?xml version="1.0" encoding="utf-8"?>
<p:presentation xmlns:p="http://schemas.openxmlformats.org/presentationml/2006/main">
  <p:sldMasterIdLst>
    <p:sldMasterId xmlns:r="http://schemas.openxmlformats.org/officeDocument/2006/relationships" id="2147483648" r:id="Rd0d48620c5c54372"/>
  </p:sldMasterIdLst>
  <p:notesMasterIdLst>
    <p:notesMasterId xmlns:r="http://schemas.openxmlformats.org/officeDocument/2006/relationships" r:id="R3f1af7bccf64486b"/>
  </p:notesMasterIdLst>
  <p:sldIdLst>
    <p:sldId xmlns:r="http://schemas.openxmlformats.org/officeDocument/2006/relationships" id="256" r:id="R48d38bc7dd7249fa"/>
    <p:sldId xmlns:r="http://schemas.openxmlformats.org/officeDocument/2006/relationships" id="257" r:id="R8e094b0e257b411d"/>
    <p:sldId xmlns:r="http://schemas.openxmlformats.org/officeDocument/2006/relationships" id="258" r:id="Ra578c60e0cd04ca1"/>
    <p:sldId xmlns:r="http://schemas.openxmlformats.org/officeDocument/2006/relationships" id="259" r:id="R1bf3f65b78dc40cd"/>
    <p:sldId xmlns:r="http://schemas.openxmlformats.org/officeDocument/2006/relationships" id="260" r:id="Rfefaf7a6e75145db"/>
    <p:sldId xmlns:r="http://schemas.openxmlformats.org/officeDocument/2006/relationships" id="261" r:id="R4ccf00ebfe8f4ce0"/>
    <p:sldId xmlns:r="http://schemas.openxmlformats.org/officeDocument/2006/relationships" id="262" r:id="R09a4cc78da3b402c"/>
    <p:sldId xmlns:r="http://schemas.openxmlformats.org/officeDocument/2006/relationships" id="263" r:id="R39b5ff5dc5db49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a9c459d0ed4ed3" /><Relationship Type="http://schemas.openxmlformats.org/officeDocument/2006/relationships/slideMaster" Target="/ppt/slideMasters/slideMaster1.xml" Id="Rd0d48620c5c54372" /><Relationship Type="http://schemas.openxmlformats.org/officeDocument/2006/relationships/notesMaster" Target="/ppt/notesMasters/notesMaster1.xml" Id="R3f1af7bccf64486b" /><Relationship Type="http://schemas.openxmlformats.org/officeDocument/2006/relationships/presProps" Target="/ppt/presProps.xml" Id="Radf3a0aa6ff542c4" /><Relationship Type="http://schemas.openxmlformats.org/officeDocument/2006/relationships/tableStyles" Target="/ppt/tableStyles.xml" Id="Rf0903a6643744f70" /><Relationship Type="http://schemas.openxmlformats.org/officeDocument/2006/relationships/slide" Target="/ppt/slides/slide1.xml" Id="R48d38bc7dd7249fa" /><Relationship Type="http://schemas.openxmlformats.org/officeDocument/2006/relationships/slide" Target="/ppt/slides/slide2.xml" Id="R8e094b0e257b411d" /><Relationship Type="http://schemas.openxmlformats.org/officeDocument/2006/relationships/slide" Target="/ppt/slides/slide3.xml" Id="Ra578c60e0cd04ca1" /><Relationship Type="http://schemas.openxmlformats.org/officeDocument/2006/relationships/slide" Target="/ppt/slides/slide4.xml" Id="R1bf3f65b78dc40cd" /><Relationship Type="http://schemas.openxmlformats.org/officeDocument/2006/relationships/slide" Target="/ppt/slides/slide5.xml" Id="Rfefaf7a6e75145db" /><Relationship Type="http://schemas.openxmlformats.org/officeDocument/2006/relationships/slide" Target="/ppt/slides/slide6.xml" Id="R4ccf00ebfe8f4ce0" /><Relationship Type="http://schemas.openxmlformats.org/officeDocument/2006/relationships/slide" Target="/ppt/slides/slide7.xml" Id="R09a4cc78da3b402c" /><Relationship Type="http://schemas.openxmlformats.org/officeDocument/2006/relationships/slide" Target="/ppt/slides/slide8.xml" Id="R39b5ff5dc5db49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f336034b0c43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48614fd0de46be" /><Relationship Type="http://schemas.openxmlformats.org/officeDocument/2006/relationships/notesMaster" Target="/ppt/notesMasters/notesMaster1.xml" Id="Rcf58c22f7b8248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ba310a58df4ef7" /><Relationship Type="http://schemas.openxmlformats.org/officeDocument/2006/relationships/notesMaster" Target="/ppt/notesMasters/notesMaster1.xml" Id="Rd491d96d1ead44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bdf89f7b7c48fc" /><Relationship Type="http://schemas.openxmlformats.org/officeDocument/2006/relationships/notesMaster" Target="/ppt/notesMasters/notesMaster1.xml" Id="R2dc5848c2b344b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93550429734edc" /><Relationship Type="http://schemas.openxmlformats.org/officeDocument/2006/relationships/notesMaster" Target="/ppt/notesMasters/notesMaster1.xml" Id="R1e8200ba8ed64c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10541fbaea48dc" /><Relationship Type="http://schemas.openxmlformats.org/officeDocument/2006/relationships/notesMaster" Target="/ppt/notesMasters/notesMaster1.xml" Id="R7e120548f61940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81ff93ed38432b" /><Relationship Type="http://schemas.openxmlformats.org/officeDocument/2006/relationships/notesMaster" Target="/ppt/notesMasters/notesMaster1.xml" Id="R5c7cef2f1dae46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deb6f6c86d4444" /><Relationship Type="http://schemas.openxmlformats.org/officeDocument/2006/relationships/notesMaster" Target="/ppt/notesMasters/notesMaster1.xml" Id="Rf70b2b89a8be45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0196edea3b42ce" /><Relationship Type="http://schemas.openxmlformats.org/officeDocument/2006/relationships/notesMaster" Target="/ppt/notesMasters/notesMaster1.xml" Id="R16466b4dd7004c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The game gives us two kinds of decisions. Fighting or healing is a choice for this turn. A trip to town is an outcome that needs multiple state changes, and interruptions may happen along the way. That is the dividing line: use a typed judgment plus direct policy for the first kind; use a goal and ordered tasks for the second. Source: bridge/matrix.py, game/src/laya/policy.js, game/src/laya/planner.js.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65 seconds. This is the code I would actually show. Choice picks among eleven intent labels and returns a distribution. Score positions the situation on an ordered danger scale. Noul asks a strict binary proposition and returns P(true). The slide excerpts shorten the descriptions and omit four Noul questions; matrix.py contains the full schema. All seven are submitted in one predict call and one model forward pass. One pass does not imply identical latency to a single question, and the current checkpoint’s confidence should not be described as calibrated for this game. Demo cue: open bridge/matrix.py. Source: local bridge/matrix.py; upstream Laya: https://github.com/NandhaKishorM/laya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The left side is an example output supplied with the presenter’s pasted text, not a fresh benchmark from this run. The right side is a shortened version of actual policy checks. The game is below the 35 percent HP safety threshold? Heal or flee. The model says overmatched above 0.7 and the factual conditions agree? Flee. These decisions do not need a long plan. The model proposes a typed signal; code validates and executes. The full policy also has an intent confidence floor and deterministic fallback. Demo cue: run bridge/demo.py or open one live dashboard decision. Sources: pasted text and local game/src/laya/policy.js.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These are the real goal methods, simplified into readable lines. unpack and haveKey are separate reasons for going to town. Each declares a trigger and a task sequence. The model’s packNeedsTending probability can also arm a tending goal, but only with additional dungeon and bag or gold facts. The planner does not ask LayA to invent this path. The decomposition is authored in planner.js. This matters when the outcome spans many turns or map transitions; a single intent like “travel” cannot remember why we traveled or where to return. Source: local game/src/laya/planner.js.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65 seconds. Here is the graph the earlier explanation alluded to. The three goal methods all ask for some overlapping steps. mergePlans sorts active goals by weight, deduplicates shared gohome and chores steps, retains buy key, and hoists the terminal resume task to the end. The resulting path is one trip. The code also handles a descend task specially so a terminal resume is not added when we are already diving deeper. This is HTN-style method decomposition and plan merging, not graph search or an automatically synthesized plan. Source: local game/src/laya/planner.js, mergePlans.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65 seconds. This is the step the original deck skipped. The planner keeps a plan in working memory, points to the head task, tests its done predicate against fresh game facts, and advances only when the world has changed enough. It skips later tasks already completed on the way. If combat appears, the action layer can fight through the plan, while the plan remains. The code has a 400-tick fuse per task and an 80-tick cooldown on completed goals. For general workflows, this is the key design rule: chain by observable completion conditions, not by a fixed delay or by assuming the previous call succeeded. Source: local game/src/laya/planner.js and game/src/laya/policy.js.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50 seconds. The same distinction applies outside the game. A classifier may choose among eligible models for one bounded task. But a work item with planning, tool use, verification and repair needs a chain whose steps have observable success criteria. In the working-skills repository, current planning uses broad size tiers; a future classifier could consider task type, context, tools, quality requirements, latency and cost, based on measured outcomes. This is a proposed extension, not a current integration. A claim that Opus or Sol is better requires task-specific eval evidence. Source for tier practice: presenter description; game mechanics: local bridge/matrix.py and game/src/laya/planner.js.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about 45 seconds. The game is the teaching example. The broader experiment is to label a recurring decision for a client or an industry, train or adapt a typed decision head, and test it on held-out cases. Start with recommendation authority and promote only when its quality and calibration support that role. Keep the task planner, factual guards, and escalation path explicit. Ask the team which bounded, high-volume judgment would be worth testing first. Upstream Laya describes fine-tuning and cautions against using the base checkpoint as a zero-shot production decider. Source: https://github.com/NandhaKishorM/laya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92580e3f6d4f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df8c57bd664150" /><Relationship Type="http://schemas.openxmlformats.org/officeDocument/2006/relationships/slideLayout" Target="/ppt/slideLayouts/slideLayout1.xml" Id="R0eb01b97216946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b01b97216946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c20c8b89c7448b" /><Relationship Type="http://schemas.openxmlformats.org/officeDocument/2006/relationships/notesSlide" Target="/ppt/notesSlides/notesSlide1.xml" Id="R95cd05581d7f49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345a59c2b794aa7" /><Relationship Type="http://schemas.openxmlformats.org/officeDocument/2006/relationships/notesSlide" Target="/ppt/notesSlides/notesSlide2.xml" Id="R8f87c9b68e1e4c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c80adfa5b424d65" /><Relationship Type="http://schemas.openxmlformats.org/officeDocument/2006/relationships/notesSlide" Target="/ppt/notesSlides/notesSlide3.xml" Id="R04498b3433ee46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efc42028d6471c" /><Relationship Type="http://schemas.openxmlformats.org/officeDocument/2006/relationships/notesSlide" Target="/ppt/notesSlides/notesSlide4.xml" Id="R9c4a8a79d0124e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141644563894120" /><Relationship Type="http://schemas.openxmlformats.org/officeDocument/2006/relationships/notesSlide" Target="/ppt/notesSlides/notesSlide5.xml" Id="Reb74c2e193e442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e0f7ca278f64590" /><Relationship Type="http://schemas.openxmlformats.org/officeDocument/2006/relationships/notesSlide" Target="/ppt/notesSlides/notesSlide6.xml" Id="R1d657bc9f8de41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32454dd09814a8c" /><Relationship Type="http://schemas.openxmlformats.org/officeDocument/2006/relationships/notesSlide" Target="/ppt/notesSlides/notesSlide7.xml" Id="Rcc23eeee2cbc41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4b9eb5cdd024659" /><Relationship Type="http://schemas.openxmlformats.org/officeDocument/2006/relationships/notesSlide" Target="/ppt/notesSlides/notesSlide8.xml" Id="R81ea9f942e594984" /></Relationships>
</file>

<file path=ppt/slides/slide1.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983A206-BA4D-4966-8F85-EA684FA64656}"/>
              </a:ext>
            </a:extLst>
          </p:cNvPr>
          <p:cNvSpPr>
            <a:spLocks xmlns:a="http://schemas.openxmlformats.org/drawingml/2006/main" noGrp="1"/>
          </p:cNvSpPr>
          <p:nvPr/>
        </p:nvSpPr>
        <p:spPr>
          <a:xfrm xmlns:a="http://schemas.openxmlformats.org/drawingml/2006/main">
            <a:off x="647700" y="34290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4F7FB"/>
                </a:solidFill>
                <a:latin typeface="Aptos"/>
                <a:ea typeface="Aptos"/>
                <a:cs typeface="Aptos"/>
              </a:defRPr>
            </a:pPr>
            <a:r>
              <a:rPr sz="3150" b="1">
                <a:solidFill>
                  <a:srgbClr val="F4F7FB"/>
                </a:solidFill>
                <a:latin typeface="Aptos"/>
                <a:ea typeface="Aptos"/>
                <a:cs typeface="Aptos"/>
              </a:rPr>
              <a:t>When is one decision enough?</a:t>
            </a:r>
          </a:p>
        </p:txBody>
      </p:sp>
      <p:sp>
        <p:nvSpPr>
          <p:cNvPr id="2" name="">
            <a:extLst xmlns:a="http://schemas.openxmlformats.org/drawingml/2006/main">
              <a:ext uri="{FF2B5EF4-FFF2-40B4-BE49-F238E27FC236}">
                <a16:creationId xmlns:a16="http://schemas.microsoft.com/office/drawing/2014/main" id="{E687768A-E6A2-46EB-8CB9-BC6895662826}"/>
              </a:ext>
            </a:extLst>
          </p:cNvPr>
          <p:cNvSpPr>
            <a:spLocks xmlns:a="http://schemas.openxmlformats.org/drawingml/2006/main" noGrp="1"/>
          </p:cNvSpPr>
          <p:nvPr/>
        </p:nvSpPr>
        <p:spPr>
          <a:xfrm xmlns:a="http://schemas.openxmlformats.org/drawingml/2006/main">
            <a:off x="647700" y="1200150"/>
            <a:ext cx="10896600" cy="19050"/>
          </a:xfrm>
          <a:prstGeom xmlns:a="http://schemas.openxmlformats.org/drawingml/2006/main" prst="rect">
            <a:avLst/>
          </a:prstGeom>
          <a:solidFill xmlns:a="http://schemas.openxmlformats.org/drawingml/2006/main">
            <a:srgbClr val="3B4A5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D77EAC0-CE3A-4CE4-A876-4F9E97ABD60A}"/>
              </a:ext>
            </a:extLst>
          </p:cNvPr>
          <p:cNvSpPr>
            <a:spLocks xmlns:a="http://schemas.openxmlformats.org/drawingml/2006/main" noGrp="1"/>
          </p:cNvSpPr>
          <p:nvPr/>
        </p:nvSpPr>
        <p:spPr>
          <a:xfrm xmlns:a="http://schemas.openxmlformats.org/drawingml/2006/main">
            <a:off x="647700" y="64103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AABBD0"/>
                </a:solidFill>
                <a:latin typeface="Aptos"/>
                <a:ea typeface="Aptos"/>
                <a:cs typeface="Aptos"/>
              </a:defRPr>
            </a:pPr>
            <a:r>
              <a:rPr sz="1200" b="0">
                <a:solidFill>
                  <a:srgbClr val="AABBD0"/>
                </a:solidFill>
                <a:latin typeface="Aptos"/>
                <a:ea typeface="Aptos"/>
                <a:cs typeface="Aptos"/>
              </a:rPr>
              <a:t>LayA · RogueRNG    1/8</a:t>
            </a:r>
          </a:p>
        </p:txBody>
      </p:sp>
      <p:sp>
        <p:nvSpPr>
          <p:cNvPr id="4" name="">
            <a:extLst xmlns:a="http://schemas.openxmlformats.org/drawingml/2006/main">
              <a:ext uri="{FF2B5EF4-FFF2-40B4-BE49-F238E27FC236}">
                <a16:creationId xmlns:a16="http://schemas.microsoft.com/office/drawing/2014/main" id="{05413163-DF79-492E-BDC2-604C4E5DB946}"/>
              </a:ext>
            </a:extLst>
          </p:cNvPr>
          <p:cNvSpPr>
            <a:spLocks xmlns:a="http://schemas.openxmlformats.org/drawingml/2006/main" noGrp="1"/>
          </p:cNvSpPr>
          <p:nvPr/>
        </p:nvSpPr>
        <p:spPr>
          <a:xfrm xmlns:a="http://schemas.openxmlformats.org/drawingml/2006/main">
            <a:off x="666750" y="164782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72E0BC"/>
                </a:solidFill>
                <a:latin typeface="Aptos"/>
                <a:ea typeface="Aptos"/>
                <a:cs typeface="Aptos"/>
              </a:defRPr>
            </a:pPr>
            <a:r>
              <a:rPr sz="2100" b="1">
                <a:solidFill>
                  <a:srgbClr val="72E0BC"/>
                </a:solidFill>
                <a:latin typeface="Aptos"/>
                <a:ea typeface="Aptos"/>
                <a:cs typeface="Aptos"/>
              </a:rPr>
              <a:t>This turn</a:t>
            </a:r>
          </a:p>
        </p:txBody>
      </p:sp>
      <p:sp>
        <p:nvSpPr>
          <p:cNvPr id="5" name="">
            <a:extLst xmlns:a="http://schemas.openxmlformats.org/drawingml/2006/main">
              <a:ext uri="{FF2B5EF4-FFF2-40B4-BE49-F238E27FC236}">
                <a16:creationId xmlns:a16="http://schemas.microsoft.com/office/drawing/2014/main" id="{7B249953-F1EE-4A18-827B-8EB7257041DB}"/>
              </a:ext>
            </a:extLst>
          </p:cNvPr>
          <p:cNvSpPr>
            <a:spLocks xmlns:a="http://schemas.openxmlformats.org/drawingml/2006/main" noGrp="1"/>
          </p:cNvSpPr>
          <p:nvPr/>
        </p:nvSpPr>
        <p:spPr>
          <a:xfrm xmlns:a="http://schemas.openxmlformats.org/drawingml/2006/main">
            <a:off x="666750" y="214312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F4F7FB"/>
                </a:solidFill>
                <a:latin typeface="Aptos"/>
                <a:ea typeface="Aptos"/>
                <a:cs typeface="Aptos"/>
              </a:defRPr>
            </a:pPr>
            <a:r>
              <a:rPr sz="2550" b="0">
                <a:solidFill>
                  <a:srgbClr val="F4F7FB"/>
                </a:solidFill>
                <a:latin typeface="Aptos"/>
                <a:ea typeface="Aptos"/>
                <a:cs typeface="Aptos"/>
              </a:rPr>
              <a:t>Fight, heal, flee, explore</a:t>
            </a:r>
          </a:p>
        </p:txBody>
      </p:sp>
      <p:sp>
        <p:nvSpPr>
          <p:cNvPr id="6" name="">
            <a:extLst xmlns:a="http://schemas.openxmlformats.org/drawingml/2006/main">
              <a:ext uri="{FF2B5EF4-FFF2-40B4-BE49-F238E27FC236}">
                <a16:creationId xmlns:a16="http://schemas.microsoft.com/office/drawing/2014/main" id="{0C83D5E8-9A42-4A2A-952E-FB4072B02B78}"/>
              </a:ext>
            </a:extLst>
          </p:cNvPr>
          <p:cNvSpPr>
            <a:spLocks xmlns:a="http://schemas.openxmlformats.org/drawingml/2006/main" noGrp="1"/>
          </p:cNvSpPr>
          <p:nvPr/>
        </p:nvSpPr>
        <p:spPr>
          <a:xfrm xmlns:a="http://schemas.openxmlformats.org/drawingml/2006/main">
            <a:off x="666750" y="28860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AABBD0"/>
                </a:solidFill>
                <a:latin typeface="Aptos"/>
                <a:ea typeface="Aptos"/>
                <a:cs typeface="Aptos"/>
              </a:defRPr>
            </a:pPr>
            <a:r>
              <a:rPr sz="2175" b="0">
                <a:solidFill>
                  <a:srgbClr val="AABBD0"/>
                </a:solidFill>
                <a:latin typeface="Aptos"/>
                <a:ea typeface="Aptos"/>
                <a:cs typeface="Aptos"/>
              </a:rPr>
              <a:t>One answer → validate against current facts → act</a:t>
            </a:r>
          </a:p>
        </p:txBody>
      </p:sp>
      <p:sp>
        <p:nvSpPr>
          <p:cNvPr id="7" name="">
            <a:extLst xmlns:a="http://schemas.openxmlformats.org/drawingml/2006/main">
              <a:ext uri="{FF2B5EF4-FFF2-40B4-BE49-F238E27FC236}">
                <a16:creationId xmlns:a16="http://schemas.microsoft.com/office/drawing/2014/main" id="{1841CAA8-24D2-4295-B4D6-9E3983798538}"/>
              </a:ext>
            </a:extLst>
          </p:cNvPr>
          <p:cNvSpPr>
            <a:spLocks xmlns:a="http://schemas.openxmlformats.org/drawingml/2006/main" noGrp="1"/>
          </p:cNvSpPr>
          <p:nvPr/>
        </p:nvSpPr>
        <p:spPr>
          <a:xfrm xmlns:a="http://schemas.openxmlformats.org/drawingml/2006/main">
            <a:off x="647700" y="3752850"/>
            <a:ext cx="10896600" cy="19050"/>
          </a:xfrm>
          <a:prstGeom xmlns:a="http://schemas.openxmlformats.org/drawingml/2006/main" prst="rect">
            <a:avLst/>
          </a:prstGeom>
          <a:solidFill xmlns:a="http://schemas.openxmlformats.org/drawingml/2006/main">
            <a:srgbClr val="3B4A5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F8131FA-5C17-40FF-BA2E-521C9972FDA9}"/>
              </a:ext>
            </a:extLst>
          </p:cNvPr>
          <p:cNvSpPr>
            <a:spLocks xmlns:a="http://schemas.openxmlformats.org/drawingml/2006/main" noGrp="1"/>
          </p:cNvSpPr>
          <p:nvPr/>
        </p:nvSpPr>
        <p:spPr>
          <a:xfrm xmlns:a="http://schemas.openxmlformats.org/drawingml/2006/main">
            <a:off x="666750" y="402907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86B8FF"/>
                </a:solidFill>
                <a:latin typeface="Aptos"/>
                <a:ea typeface="Aptos"/>
                <a:cs typeface="Aptos"/>
              </a:defRPr>
            </a:pPr>
            <a:r>
              <a:rPr sz="2100" b="1">
                <a:solidFill>
                  <a:srgbClr val="86B8FF"/>
                </a:solidFill>
                <a:latin typeface="Aptos"/>
                <a:ea typeface="Aptos"/>
                <a:cs typeface="Aptos"/>
              </a:rPr>
              <a:t>Across turns</a:t>
            </a:r>
          </a:p>
        </p:txBody>
      </p:sp>
      <p:sp>
        <p:nvSpPr>
          <p:cNvPr id="9" name="">
            <a:extLst xmlns:a="http://schemas.openxmlformats.org/drawingml/2006/main">
              <a:ext uri="{FF2B5EF4-FFF2-40B4-BE49-F238E27FC236}">
                <a16:creationId xmlns:a16="http://schemas.microsoft.com/office/drawing/2014/main" id="{6D16F261-E1E0-498D-9878-78A096CD4490}"/>
              </a:ext>
            </a:extLst>
          </p:cNvPr>
          <p:cNvSpPr>
            <a:spLocks xmlns:a="http://schemas.openxmlformats.org/drawingml/2006/main" noGrp="1"/>
          </p:cNvSpPr>
          <p:nvPr/>
        </p:nvSpPr>
        <p:spPr>
          <a:xfrm xmlns:a="http://schemas.openxmlformats.org/drawingml/2006/main">
            <a:off x="666750" y="45339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F4F7FB"/>
                </a:solidFill>
                <a:latin typeface="Aptos"/>
                <a:ea typeface="Aptos"/>
                <a:cs typeface="Aptos"/>
              </a:defRPr>
            </a:pPr>
            <a:r>
              <a:rPr sz="2325" b="0">
                <a:solidFill>
                  <a:srgbClr val="F4F7FB"/>
                </a:solidFill>
                <a:latin typeface="Aptos"/>
                <a:ea typeface="Aptos"/>
                <a:cs typeface="Aptos"/>
              </a:rPr>
              <a:t>Leave dungeon, do chores, buy key, return to depth 2</a:t>
            </a:r>
          </a:p>
        </p:txBody>
      </p:sp>
      <p:sp>
        <p:nvSpPr>
          <p:cNvPr id="10" name="">
            <a:extLst xmlns:a="http://schemas.openxmlformats.org/drawingml/2006/main">
              <a:ext uri="{FF2B5EF4-FFF2-40B4-BE49-F238E27FC236}">
                <a16:creationId xmlns:a16="http://schemas.microsoft.com/office/drawing/2014/main" id="{85E9D573-EE6C-4EAC-A399-1301833EE551}"/>
              </a:ext>
            </a:extLst>
          </p:cNvPr>
          <p:cNvSpPr>
            <a:spLocks xmlns:a="http://schemas.openxmlformats.org/drawingml/2006/main" noGrp="1"/>
          </p:cNvSpPr>
          <p:nvPr/>
        </p:nvSpPr>
        <p:spPr>
          <a:xfrm xmlns:a="http://schemas.openxmlformats.org/drawingml/2006/main">
            <a:off x="666750" y="5467350"/>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AABBD0"/>
                </a:solidFill>
                <a:latin typeface="Aptos"/>
                <a:ea typeface="Aptos"/>
                <a:cs typeface="Aptos"/>
              </a:defRPr>
            </a:pPr>
            <a:r>
              <a:rPr sz="2100" b="0">
                <a:solidFill>
                  <a:srgbClr val="AABBD0"/>
                </a:solidFill>
                <a:latin typeface="Aptos"/>
                <a:ea typeface="Aptos"/>
                <a:cs typeface="Aptos"/>
              </a:rPr>
              <a:t>Keep a goal until the world says each step is done</a:t>
            </a:r>
          </a:p>
        </p:txBody>
      </p:sp>
    </p:spTree>
    <p:extLst>
      <p:ext uri="{BB962C8B-B14F-4D97-AF65-F5344CB8AC3E}">
        <p14:creationId xmlns:p14="http://schemas.microsoft.com/office/powerpoint/2010/main" val="1408943776"/>
      </p:ext>
    </p:extLst>
  </p:cSld>
</p:sld>
</file>

<file path=ppt/slides/slide2.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E7891D-8FFD-4639-9C7F-D24463F0B030}"/>
              </a:ext>
            </a:extLst>
          </p:cNvPr>
          <p:cNvSpPr>
            <a:spLocks xmlns:a="http://schemas.openxmlformats.org/drawingml/2006/main" noGrp="1"/>
          </p:cNvSpPr>
          <p:nvPr/>
        </p:nvSpPr>
        <p:spPr>
          <a:xfrm xmlns:a="http://schemas.openxmlformats.org/drawingml/2006/main">
            <a:off x="647700" y="34290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4F7FB"/>
                </a:solidFill>
                <a:latin typeface="Aptos"/>
                <a:ea typeface="Aptos"/>
                <a:cs typeface="Aptos"/>
              </a:defRPr>
            </a:pPr>
            <a:r>
              <a:rPr sz="3150" b="1">
                <a:solidFill>
                  <a:srgbClr val="F4F7FB"/>
                </a:solidFill>
                <a:latin typeface="Aptos"/>
                <a:ea typeface="Aptos"/>
                <a:cs typeface="Aptos"/>
              </a:rPr>
              <a:t>matrix.py: three question types</a:t>
            </a:r>
          </a:p>
        </p:txBody>
      </p:sp>
      <p:sp>
        <p:nvSpPr>
          <p:cNvPr id="2" name="">
            <a:extLst xmlns:a="http://schemas.openxmlformats.org/drawingml/2006/main">
              <a:ext uri="{FF2B5EF4-FFF2-40B4-BE49-F238E27FC236}">
                <a16:creationId xmlns:a16="http://schemas.microsoft.com/office/drawing/2014/main" id="{6B2B760B-B113-4505-903A-943A0FEDCB2D}"/>
              </a:ext>
            </a:extLst>
          </p:cNvPr>
          <p:cNvSpPr>
            <a:spLocks xmlns:a="http://schemas.openxmlformats.org/drawingml/2006/main" noGrp="1"/>
          </p:cNvSpPr>
          <p:nvPr/>
        </p:nvSpPr>
        <p:spPr>
          <a:xfrm xmlns:a="http://schemas.openxmlformats.org/drawingml/2006/main">
            <a:off x="647700" y="1200150"/>
            <a:ext cx="10896600" cy="19050"/>
          </a:xfrm>
          <a:prstGeom xmlns:a="http://schemas.openxmlformats.org/drawingml/2006/main" prst="rect">
            <a:avLst/>
          </a:prstGeom>
          <a:solidFill xmlns:a="http://schemas.openxmlformats.org/drawingml/2006/main">
            <a:srgbClr val="3B4A5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2D3B518-A625-4CE0-9620-C44AF430D624}"/>
              </a:ext>
            </a:extLst>
          </p:cNvPr>
          <p:cNvSpPr>
            <a:spLocks xmlns:a="http://schemas.openxmlformats.org/drawingml/2006/main" noGrp="1"/>
          </p:cNvSpPr>
          <p:nvPr/>
        </p:nvSpPr>
        <p:spPr>
          <a:xfrm xmlns:a="http://schemas.openxmlformats.org/drawingml/2006/main">
            <a:off x="647700" y="64103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AABBD0"/>
                </a:solidFill>
                <a:latin typeface="Aptos"/>
                <a:ea typeface="Aptos"/>
                <a:cs typeface="Aptos"/>
              </a:defRPr>
            </a:pPr>
            <a:r>
              <a:rPr sz="1200" b="0">
                <a:solidFill>
                  <a:srgbClr val="AABBD0"/>
                </a:solidFill>
                <a:latin typeface="Aptos"/>
                <a:ea typeface="Aptos"/>
                <a:cs typeface="Aptos"/>
              </a:rPr>
              <a:t>LayA · RogueRNG    2/8</a:t>
            </a:r>
          </a:p>
        </p:txBody>
      </p:sp>
      <p:sp>
        <p:nvSpPr>
          <p:cNvPr id="4" name="">
            <a:extLst xmlns:a="http://schemas.openxmlformats.org/drawingml/2006/main">
              <a:ext uri="{FF2B5EF4-FFF2-40B4-BE49-F238E27FC236}">
                <a16:creationId xmlns:a16="http://schemas.microsoft.com/office/drawing/2014/main" id="{C67FB676-90D9-493C-BC7B-A3027902AB0F}"/>
              </a:ext>
            </a:extLst>
          </p:cNvPr>
          <p:cNvSpPr>
            <a:spLocks xmlns:a="http://schemas.openxmlformats.org/drawingml/2006/main" noGrp="1"/>
          </p:cNvSpPr>
          <p:nvPr/>
        </p:nvSpPr>
        <p:spPr>
          <a:xfrm xmlns:a="http://schemas.openxmlformats.org/drawingml/2006/main">
            <a:off x="666750" y="14478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AABBD0"/>
                </a:solidFill>
                <a:latin typeface="Aptos"/>
                <a:ea typeface="Aptos"/>
                <a:cs typeface="Aptos"/>
              </a:defRPr>
            </a:pPr>
            <a:r>
              <a:rPr sz="1650" b="1">
                <a:solidFill>
                  <a:srgbClr val="AABBD0"/>
                </a:solidFill>
                <a:latin typeface="Aptos"/>
                <a:ea typeface="Aptos"/>
                <a:cs typeface="Aptos"/>
              </a:rPr>
              <a:t>Excerpt from GAME_QUESTIONS</a:t>
            </a:r>
          </a:p>
        </p:txBody>
      </p:sp>
      <p:sp>
        <p:nvSpPr>
          <p:cNvPr id="5" name="">
            <a:extLst xmlns:a="http://schemas.openxmlformats.org/drawingml/2006/main">
              <a:ext uri="{FF2B5EF4-FFF2-40B4-BE49-F238E27FC236}">
                <a16:creationId xmlns:a16="http://schemas.microsoft.com/office/drawing/2014/main" id="{1892AF15-6E7C-401E-8EAB-75263DF4A171}"/>
              </a:ext>
            </a:extLst>
          </p:cNvPr>
          <p:cNvSpPr>
            <a:spLocks xmlns:a="http://schemas.openxmlformats.org/drawingml/2006/main" noGrp="1"/>
          </p:cNvSpPr>
          <p:nvPr/>
        </p:nvSpPr>
        <p:spPr>
          <a:xfrm xmlns:a="http://schemas.openxmlformats.org/drawingml/2006/main">
            <a:off x="647700" y="1905000"/>
            <a:ext cx="10896600" cy="3667125"/>
          </a:xfrm>
          <a:prstGeom xmlns:a="http://schemas.openxmlformats.org/drawingml/2006/main" prst="rect">
            <a:avLst/>
          </a:prstGeom>
          <a:solidFill xmlns:a="http://schemas.openxmlformats.org/drawingml/2006/main">
            <a:srgbClr val="19263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47F02F1-4E97-4727-9CA5-FA45134A4EF9}"/>
              </a:ext>
            </a:extLst>
          </p:cNvPr>
          <p:cNvSpPr>
            <a:spLocks xmlns:a="http://schemas.openxmlformats.org/drawingml/2006/main" noGrp="1"/>
          </p:cNvSpPr>
          <p:nvPr/>
        </p:nvSpPr>
        <p:spPr>
          <a:xfrm xmlns:a="http://schemas.openxmlformats.org/drawingml/2006/main">
            <a:off x="857250" y="2028825"/>
            <a:ext cx="1047750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F4F7FB"/>
                </a:solidFill>
                <a:latin typeface="Consolas"/>
                <a:ea typeface="Consolas"/>
                <a:cs typeface="Consolas"/>
              </a:defRPr>
            </a:pPr>
            <a:r>
              <a:rPr sz="1725" b="0">
                <a:solidFill>
                  <a:srgbClr val="F4F7FB"/>
                </a:solidFill>
                <a:latin typeface="Consolas"/>
                <a:ea typeface="Consolas"/>
                <a:cs typeface="Consolas"/>
              </a:rPr>
              <a:t>"intent": Choice(</a:t>
            </a:r>
          </a:p>
          <a:p xmlns:a="http://schemas.openxmlformats.org/drawingml/2006/main">
            <a:pPr>
              <a:defRPr sz="1725" b="0">
                <a:solidFill>
                  <a:srgbClr val="F4F7FB"/>
                </a:solidFill>
                <a:latin typeface="Consolas"/>
                <a:ea typeface="Consolas"/>
                <a:cs typeface="Consolas"/>
              </a:defRPr>
            </a:pPr>
            <a:r>
              <a:rPr sz="1725" b="0">
                <a:solidFill>
                  <a:srgbClr val="F4F7FB"/>
                </a:solidFill>
                <a:latin typeface="Consolas"/>
                <a:ea typeface="Consolas"/>
                <a:cs typeface="Consolas"/>
              </a:rPr>
              <a:t>  "What single move should the adventurer make this turn?",</a:t>
            </a:r>
          </a:p>
          <a:p xmlns:a="http://schemas.openxmlformats.org/drawingml/2006/main">
            <a:pPr>
              <a:defRPr sz="1725" b="0">
                <a:solidFill>
                  <a:srgbClr val="F4F7FB"/>
                </a:solidFill>
                <a:latin typeface="Consolas"/>
                <a:ea typeface="Consolas"/>
                <a:cs typeface="Consolas"/>
              </a:defRPr>
            </a:pPr>
            <a:r>
              <a:rPr sz="1725" b="0">
                <a:solidFill>
                  <a:srgbClr val="F4F7FB"/>
                </a:solidFill>
                <a:latin typeface="Consolas"/>
                <a:ea typeface="Consolas"/>
                <a:cs typeface="Consolas"/>
              </a:rPr>
              <a:t>  {"fight": "strike a monster", "heal": "use healing", ...}),</a:t>
            </a:r>
          </a:p>
          <a:p xmlns:a="http://schemas.openxmlformats.org/drawingml/2006/main">
            <a:r>
              <a:t/>
            </a:r>
          </a:p>
          <a:p xmlns:a="http://schemas.openxmlformats.org/drawingml/2006/main">
            <a:pPr>
              <a:defRPr sz="1725" b="0">
                <a:solidFill>
                  <a:srgbClr val="F4F7FB"/>
                </a:solidFill>
                <a:latin typeface="Consolas"/>
                <a:ea typeface="Consolas"/>
                <a:cs typeface="Consolas"/>
              </a:defRPr>
            </a:pPr>
            <a:r>
              <a:rPr sz="1725" b="0">
                <a:solidFill>
                  <a:srgbClr val="F4F7FB"/>
                </a:solidFill>
                <a:latin typeface="Consolas"/>
                <a:ea typeface="Consolas"/>
                <a:cs typeface="Consolas"/>
              </a:rPr>
              <a:t>"threat": Score(</a:t>
            </a:r>
          </a:p>
          <a:p xmlns:a="http://schemas.openxmlformats.org/drawingml/2006/main">
            <a:pPr>
              <a:defRPr sz="1725" b="0">
                <a:solidFill>
                  <a:srgbClr val="F4F7FB"/>
                </a:solidFill>
                <a:latin typeface="Consolas"/>
                <a:ea typeface="Consolas"/>
                <a:cs typeface="Consolas"/>
              </a:defRPr>
            </a:pPr>
            <a:r>
              <a:rPr sz="1725" b="0">
                <a:solidFill>
                  <a:srgbClr val="F4F7FB"/>
                </a:solidFill>
                <a:latin typeface="Consolas"/>
                <a:ea typeface="Consolas"/>
                <a:cs typeface="Consolas"/>
              </a:rPr>
              <a:t>  "How dangerous is this turn?",</a:t>
            </a:r>
          </a:p>
          <a:p xmlns:a="http://schemas.openxmlformats.org/drawingml/2006/main">
            <a:pPr>
              <a:defRPr sz="1725" b="0">
                <a:solidFill>
                  <a:srgbClr val="F4F7FB"/>
                </a:solidFill>
                <a:latin typeface="Consolas"/>
                <a:ea typeface="Consolas"/>
                <a:cs typeface="Consolas"/>
              </a:defRPr>
            </a:pPr>
            <a:r>
              <a:rPr sz="1725" b="0">
                <a:solidFill>
                  <a:srgbClr val="F4F7FB"/>
                </a:solidFill>
                <a:latin typeface="Consolas"/>
                <a:ea typeface="Consolas"/>
                <a:cs typeface="Consolas"/>
              </a:rPr>
              <a:t>  ["harmless", "tense", "dangerous", "lethal"]),</a:t>
            </a:r>
          </a:p>
          <a:p xmlns:a="http://schemas.openxmlformats.org/drawingml/2006/main">
            <a:r>
              <a:t/>
            </a:r>
          </a:p>
          <a:p xmlns:a="http://schemas.openxmlformats.org/drawingml/2006/main">
            <a:pPr>
              <a:defRPr sz="1725" b="0">
                <a:solidFill>
                  <a:srgbClr val="F4F7FB"/>
                </a:solidFill>
                <a:latin typeface="Consolas"/>
                <a:ea typeface="Consolas"/>
                <a:cs typeface="Consolas"/>
              </a:defRPr>
            </a:pPr>
            <a:r>
              <a:rPr sz="1725" b="0">
                <a:solidFill>
                  <a:srgbClr val="F4F7FB"/>
                </a:solidFill>
                <a:latin typeface="Consolas"/>
                <a:ea typeface="Consolas"/>
                <a:cs typeface="Consolas"/>
              </a:rPr>
              <a:t>"pack_needs_tending": Noul(</a:t>
            </a:r>
          </a:p>
          <a:p xmlns:a="http://schemas.openxmlformats.org/drawingml/2006/main">
            <a:pPr>
              <a:defRPr sz="1725" b="0">
                <a:solidFill>
                  <a:srgbClr val="F4F7FB"/>
                </a:solidFill>
                <a:latin typeface="Consolas"/>
                <a:ea typeface="Consolas"/>
                <a:cs typeface="Consolas"/>
              </a:defRPr>
            </a:pPr>
            <a:r>
              <a:rPr sz="1725" b="0">
                <a:solidFill>
                  <a:srgbClr val="F4F7FB"/>
                </a:solidFill>
                <a:latin typeface="Consolas"/>
                <a:ea typeface="Consolas"/>
                <a:cs typeface="Consolas"/>
              </a:rPr>
              <a:t>  "Should the adventurer go to town soon?")</a:t>
            </a:r>
          </a:p>
        </p:txBody>
      </p:sp>
      <p:sp>
        <p:nvSpPr>
          <p:cNvPr id="7" name="">
            <a:extLst xmlns:a="http://schemas.openxmlformats.org/drawingml/2006/main">
              <a:ext uri="{FF2B5EF4-FFF2-40B4-BE49-F238E27FC236}">
                <a16:creationId xmlns:a16="http://schemas.microsoft.com/office/drawing/2014/main" id="{5741B954-E2AF-40D3-9080-F97D1C21311B}"/>
              </a:ext>
            </a:extLst>
          </p:cNvPr>
          <p:cNvSpPr>
            <a:spLocks xmlns:a="http://schemas.openxmlformats.org/drawingml/2006/main" noGrp="1"/>
          </p:cNvSpPr>
          <p:nvPr/>
        </p:nvSpPr>
        <p:spPr>
          <a:xfrm xmlns:a="http://schemas.openxmlformats.org/drawingml/2006/main">
            <a:off x="666750" y="5762625"/>
            <a:ext cx="10810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72E0BC"/>
                </a:solidFill>
                <a:latin typeface="Aptos"/>
                <a:ea typeface="Aptos"/>
                <a:cs typeface="Aptos"/>
              </a:defRPr>
            </a:pPr>
            <a:r>
              <a:rPr sz="1800" b="1">
                <a:solidFill>
                  <a:srgbClr val="72E0BC"/>
                </a:solidFill>
                <a:latin typeface="Aptos"/>
                <a:ea typeface="Aptos"/>
                <a:cs typeface="Aptos"/>
              </a:rPr>
              <a:t>1 Choice (11 intents)  +  1 Score (0–3)  +  5 Noul probabilities  =  7 answers</a:t>
            </a:r>
          </a:p>
        </p:txBody>
      </p:sp>
    </p:spTree>
    <p:extLst>
      <p:ext uri="{BB962C8B-B14F-4D97-AF65-F5344CB8AC3E}">
        <p14:creationId xmlns:p14="http://schemas.microsoft.com/office/powerpoint/2010/main" val="114899904"/>
      </p:ext>
    </p:extLst>
  </p:cSld>
</p:sld>
</file>

<file path=ppt/slides/slide3.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42FFBDA-2380-4700-9A94-89F0A7349859}"/>
              </a:ext>
            </a:extLst>
          </p:cNvPr>
          <p:cNvSpPr>
            <a:spLocks xmlns:a="http://schemas.openxmlformats.org/drawingml/2006/main" noGrp="1"/>
          </p:cNvSpPr>
          <p:nvPr/>
        </p:nvSpPr>
        <p:spPr>
          <a:xfrm xmlns:a="http://schemas.openxmlformats.org/drawingml/2006/main">
            <a:off x="647700" y="34290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4F7FB"/>
                </a:solidFill>
                <a:latin typeface="Aptos"/>
                <a:ea typeface="Aptos"/>
                <a:cs typeface="Aptos"/>
              </a:defRPr>
            </a:pPr>
            <a:r>
              <a:rPr sz="3150" b="1">
                <a:solidFill>
                  <a:srgbClr val="F4F7FB"/>
                </a:solidFill>
                <a:latin typeface="Aptos"/>
                <a:ea typeface="Aptos"/>
                <a:cs typeface="Aptos"/>
              </a:rPr>
              <a:t>A typed answer can stay simple</a:t>
            </a:r>
          </a:p>
        </p:txBody>
      </p:sp>
      <p:sp>
        <p:nvSpPr>
          <p:cNvPr id="2" name="">
            <a:extLst xmlns:a="http://schemas.openxmlformats.org/drawingml/2006/main">
              <a:ext uri="{FF2B5EF4-FFF2-40B4-BE49-F238E27FC236}">
                <a16:creationId xmlns:a16="http://schemas.microsoft.com/office/drawing/2014/main" id="{9DBB8389-FD27-4060-B77C-132C7DD8EAEB}"/>
              </a:ext>
            </a:extLst>
          </p:cNvPr>
          <p:cNvSpPr>
            <a:spLocks xmlns:a="http://schemas.openxmlformats.org/drawingml/2006/main" noGrp="1"/>
          </p:cNvSpPr>
          <p:nvPr/>
        </p:nvSpPr>
        <p:spPr>
          <a:xfrm xmlns:a="http://schemas.openxmlformats.org/drawingml/2006/main">
            <a:off x="647700" y="1200150"/>
            <a:ext cx="10896600" cy="19050"/>
          </a:xfrm>
          <a:prstGeom xmlns:a="http://schemas.openxmlformats.org/drawingml/2006/main" prst="rect">
            <a:avLst/>
          </a:prstGeom>
          <a:solidFill xmlns:a="http://schemas.openxmlformats.org/drawingml/2006/main">
            <a:srgbClr val="3B4A5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FF5E7A8-A1DA-4E2C-AB83-BDF91C8BF796}"/>
              </a:ext>
            </a:extLst>
          </p:cNvPr>
          <p:cNvSpPr>
            <a:spLocks xmlns:a="http://schemas.openxmlformats.org/drawingml/2006/main" noGrp="1"/>
          </p:cNvSpPr>
          <p:nvPr/>
        </p:nvSpPr>
        <p:spPr>
          <a:xfrm xmlns:a="http://schemas.openxmlformats.org/drawingml/2006/main">
            <a:off x="647700" y="64103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AABBD0"/>
                </a:solidFill>
                <a:latin typeface="Aptos"/>
                <a:ea typeface="Aptos"/>
                <a:cs typeface="Aptos"/>
              </a:defRPr>
            </a:pPr>
            <a:r>
              <a:rPr sz="1200" b="0">
                <a:solidFill>
                  <a:srgbClr val="AABBD0"/>
                </a:solidFill>
                <a:latin typeface="Aptos"/>
                <a:ea typeface="Aptos"/>
                <a:cs typeface="Aptos"/>
              </a:rPr>
              <a:t>LayA · RogueRNG    3/8</a:t>
            </a:r>
          </a:p>
        </p:txBody>
      </p:sp>
      <p:sp>
        <p:nvSpPr>
          <p:cNvPr id="4" name="">
            <a:extLst xmlns:a="http://schemas.openxmlformats.org/drawingml/2006/main">
              <a:ext uri="{FF2B5EF4-FFF2-40B4-BE49-F238E27FC236}">
                <a16:creationId xmlns:a16="http://schemas.microsoft.com/office/drawing/2014/main" id="{E36E9170-F2ED-4DA1-AF0A-06FF117ED88E}"/>
              </a:ext>
            </a:extLst>
          </p:cNvPr>
          <p:cNvSpPr>
            <a:spLocks xmlns:a="http://schemas.openxmlformats.org/drawingml/2006/main" noGrp="1"/>
          </p:cNvSpPr>
          <p:nvPr/>
        </p:nvSpPr>
        <p:spPr>
          <a:xfrm xmlns:a="http://schemas.openxmlformats.org/drawingml/2006/main">
            <a:off x="666750" y="1476375"/>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AABBD0"/>
                </a:solidFill>
                <a:latin typeface="Aptos"/>
                <a:ea typeface="Aptos"/>
                <a:cs typeface="Aptos"/>
              </a:defRPr>
            </a:pPr>
            <a:r>
              <a:rPr sz="1725" b="1">
                <a:solidFill>
                  <a:srgbClr val="AABBD0"/>
                </a:solidFill>
                <a:latin typeface="Aptos"/>
                <a:ea typeface="Aptos"/>
                <a:cs typeface="Aptos"/>
              </a:rPr>
              <a:t>Pasted demo output · one call</a:t>
            </a:r>
          </a:p>
        </p:txBody>
      </p:sp>
      <p:sp>
        <p:nvSpPr>
          <p:cNvPr id="5" name="">
            <a:extLst xmlns:a="http://schemas.openxmlformats.org/drawingml/2006/main">
              <a:ext uri="{FF2B5EF4-FFF2-40B4-BE49-F238E27FC236}">
                <a16:creationId xmlns:a16="http://schemas.microsoft.com/office/drawing/2014/main" id="{5F2776A1-0D87-42F0-A96A-A135A3C48804}"/>
              </a:ext>
            </a:extLst>
          </p:cNvPr>
          <p:cNvSpPr>
            <a:spLocks xmlns:a="http://schemas.openxmlformats.org/drawingml/2006/main" noGrp="1"/>
          </p:cNvSpPr>
          <p:nvPr/>
        </p:nvSpPr>
        <p:spPr>
          <a:xfrm xmlns:a="http://schemas.openxmlformats.org/drawingml/2006/main">
            <a:off x="647700" y="2000250"/>
            <a:ext cx="4857750" cy="2762250"/>
          </a:xfrm>
          <a:prstGeom xmlns:a="http://schemas.openxmlformats.org/drawingml/2006/main" prst="rect">
            <a:avLst/>
          </a:prstGeom>
          <a:solidFill xmlns:a="http://schemas.openxmlformats.org/drawingml/2006/main">
            <a:srgbClr val="19263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A594170-EF75-49D4-B131-ADAE57B03276}"/>
              </a:ext>
            </a:extLst>
          </p:cNvPr>
          <p:cNvSpPr>
            <a:spLocks xmlns:a="http://schemas.openxmlformats.org/drawingml/2006/main" noGrp="1"/>
          </p:cNvSpPr>
          <p:nvPr/>
        </p:nvSpPr>
        <p:spPr>
          <a:xfrm xmlns:a="http://schemas.openxmlformats.org/drawingml/2006/main">
            <a:off x="857250" y="2124075"/>
            <a:ext cx="443865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F4F7FB"/>
                </a:solidFill>
                <a:latin typeface="Consolas"/>
                <a:ea typeface="Consolas"/>
                <a:cs typeface="Consolas"/>
              </a:defRPr>
            </a:pPr>
            <a:r>
              <a:rPr sz="1650" b="0">
                <a:solidFill>
                  <a:srgbClr val="F4F7FB"/>
                </a:solidFill>
                <a:latin typeface="Consolas"/>
                <a:ea typeface="Consolas"/>
                <a:cs typeface="Consolas"/>
              </a:rPr>
              <a:t>intent        explore  (0.26)</a:t>
            </a:r>
          </a:p>
          <a:p xmlns:a="http://schemas.openxmlformats.org/drawingml/2006/main">
            <a:pPr>
              <a:defRPr sz="1650" b="0">
                <a:solidFill>
                  <a:srgbClr val="F4F7FB"/>
                </a:solidFill>
                <a:latin typeface="Consolas"/>
                <a:ea typeface="Consolas"/>
                <a:cs typeface="Consolas"/>
              </a:defRPr>
            </a:pPr>
            <a:r>
              <a:rPr sz="1650" b="0">
                <a:solidFill>
                  <a:srgbClr val="F4F7FB"/>
                </a:solidFill>
                <a:latin typeface="Consolas"/>
                <a:ea typeface="Consolas"/>
                <a:cs typeface="Consolas"/>
              </a:rPr>
              <a:t>threat        1.79 / 3</a:t>
            </a:r>
          </a:p>
          <a:p xmlns:a="http://schemas.openxmlformats.org/drawingml/2006/main">
            <a:pPr>
              <a:defRPr sz="1650" b="0">
                <a:solidFill>
                  <a:srgbClr val="F4F7FB"/>
                </a:solidFill>
                <a:latin typeface="Consolas"/>
                <a:ea typeface="Consolas"/>
                <a:cs typeface="Consolas"/>
              </a:defRPr>
            </a:pPr>
            <a:r>
              <a:rPr sz="1650" b="0">
                <a:solidFill>
                  <a:srgbClr val="F4F7FB"/>
                </a:solidFill>
                <a:latin typeface="Consolas"/>
                <a:ea typeface="Consolas"/>
                <a:cs typeface="Consolas"/>
              </a:rPr>
              <a:t>hp_critical   0.25</a:t>
            </a:r>
          </a:p>
          <a:p xmlns:a="http://schemas.openxmlformats.org/drawingml/2006/main">
            <a:pPr>
              <a:defRPr sz="1650" b="0">
                <a:solidFill>
                  <a:srgbClr val="F4F7FB"/>
                </a:solidFill>
                <a:latin typeface="Consolas"/>
                <a:ea typeface="Consolas"/>
                <a:cs typeface="Consolas"/>
              </a:defRPr>
            </a:pPr>
            <a:r>
              <a:rPr sz="1650" b="0">
                <a:solidFill>
                  <a:srgbClr val="F4F7FB"/>
                </a:solidFill>
                <a:latin typeface="Consolas"/>
                <a:ea typeface="Consolas"/>
                <a:cs typeface="Consolas"/>
              </a:rPr>
              <a:t>overmatched   0.23</a:t>
            </a:r>
          </a:p>
        </p:txBody>
      </p:sp>
      <p:sp>
        <p:nvSpPr>
          <p:cNvPr id="7" name="">
            <a:extLst xmlns:a="http://schemas.openxmlformats.org/drawingml/2006/main">
              <a:ext uri="{FF2B5EF4-FFF2-40B4-BE49-F238E27FC236}">
                <a16:creationId xmlns:a16="http://schemas.microsoft.com/office/drawing/2014/main" id="{1C5F2929-88C5-4810-8661-778326F0E689}"/>
              </a:ext>
            </a:extLst>
          </p:cNvPr>
          <p:cNvSpPr>
            <a:spLocks xmlns:a="http://schemas.openxmlformats.org/drawingml/2006/main" noGrp="1"/>
          </p:cNvSpPr>
          <p:nvPr/>
        </p:nvSpPr>
        <p:spPr>
          <a:xfrm xmlns:a="http://schemas.openxmlformats.org/drawingml/2006/main">
            <a:off x="6019800" y="1476375"/>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86B8FF"/>
                </a:solidFill>
                <a:latin typeface="Aptos"/>
                <a:ea typeface="Aptos"/>
                <a:cs typeface="Aptos"/>
              </a:defRPr>
            </a:pPr>
            <a:r>
              <a:rPr sz="1725" b="1">
                <a:solidFill>
                  <a:srgbClr val="86B8FF"/>
                </a:solidFill>
                <a:latin typeface="Aptos"/>
                <a:ea typeface="Aptos"/>
                <a:cs typeface="Aptos"/>
              </a:rPr>
              <a:t>Direct policy checks (simplified)</a:t>
            </a:r>
          </a:p>
        </p:txBody>
      </p:sp>
      <p:sp>
        <p:nvSpPr>
          <p:cNvPr id="8" name="">
            <a:extLst xmlns:a="http://schemas.openxmlformats.org/drawingml/2006/main">
              <a:ext uri="{FF2B5EF4-FFF2-40B4-BE49-F238E27FC236}">
                <a16:creationId xmlns:a16="http://schemas.microsoft.com/office/drawing/2014/main" id="{2E5566D0-B541-41C6-A4DE-38A69971FAB0}"/>
              </a:ext>
            </a:extLst>
          </p:cNvPr>
          <p:cNvSpPr>
            <a:spLocks xmlns:a="http://schemas.openxmlformats.org/drawingml/2006/main" noGrp="1"/>
          </p:cNvSpPr>
          <p:nvPr/>
        </p:nvSpPr>
        <p:spPr>
          <a:xfrm xmlns:a="http://schemas.openxmlformats.org/drawingml/2006/main">
            <a:off x="5867400" y="2000250"/>
            <a:ext cx="5676900" cy="2762250"/>
          </a:xfrm>
          <a:prstGeom xmlns:a="http://schemas.openxmlformats.org/drawingml/2006/main" prst="rect">
            <a:avLst/>
          </a:prstGeom>
          <a:solidFill xmlns:a="http://schemas.openxmlformats.org/drawingml/2006/main">
            <a:srgbClr val="19263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7B3F782-7AE3-4740-8470-1E3E06AF5F37}"/>
              </a:ext>
            </a:extLst>
          </p:cNvPr>
          <p:cNvSpPr>
            <a:spLocks xmlns:a="http://schemas.openxmlformats.org/drawingml/2006/main" noGrp="1"/>
          </p:cNvSpPr>
          <p:nvPr/>
        </p:nvSpPr>
        <p:spPr>
          <a:xfrm xmlns:a="http://schemas.openxmlformats.org/drawingml/2006/main">
            <a:off x="6076950" y="2124075"/>
            <a:ext cx="52578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F4F7FB"/>
                </a:solidFill>
                <a:latin typeface="Consolas"/>
                <a:ea typeface="Consolas"/>
                <a:cs typeface="Consolas"/>
              </a:defRPr>
            </a:pPr>
            <a:r>
              <a:rPr sz="1650" b="0">
                <a:solidFill>
                  <a:srgbClr val="F4F7FB"/>
                </a:solidFill>
                <a:latin typeface="Consolas"/>
                <a:ea typeface="Consolas"/>
                <a:cs typeface="Consolas"/>
              </a:rPr>
              <a:t>if (f.hpRatio &lt; 0.35)</a:t>
            </a:r>
          </a:p>
          <a:p xmlns:a="http://schemas.openxmlformats.org/drawingml/2006/main">
            <a:pPr>
              <a:defRPr sz="1650" b="0">
                <a:solidFill>
                  <a:srgbClr val="F4F7FB"/>
                </a:solidFill>
                <a:latin typeface="Consolas"/>
                <a:ea typeface="Consolas"/>
                <a:cs typeface="Consolas"/>
              </a:defRPr>
            </a:pPr>
            <a:r>
              <a:rPr sz="1650" b="0">
                <a:solidFill>
                  <a:srgbClr val="F4F7FB"/>
                </a:solidFill>
                <a:latin typeface="Consolas"/>
                <a:ea typeface="Consolas"/>
                <a:cs typeface="Consolas"/>
              </a:rPr>
              <a:t>  return healOrFlee(f);</a:t>
            </a:r>
          </a:p>
          <a:p xmlns:a="http://schemas.openxmlformats.org/drawingml/2006/main">
            <a:r>
              <a:t/>
            </a:r>
          </a:p>
          <a:p xmlns:a="http://schemas.openxmlformats.org/drawingml/2006/main">
            <a:pPr>
              <a:defRPr sz="1650" b="0">
                <a:solidFill>
                  <a:srgbClr val="F4F7FB"/>
                </a:solidFill>
                <a:latin typeface="Consolas"/>
                <a:ea typeface="Consolas"/>
                <a:cs typeface="Consolas"/>
              </a:defRPr>
            </a:pPr>
            <a:r>
              <a:rPr sz="1650" b="0">
                <a:solidFill>
                  <a:srgbClr val="F4F7FB"/>
                </a:solidFill>
                <a:latin typeface="Consolas"/>
                <a:ea typeface="Consolas"/>
                <a:cs typeface="Consolas"/>
              </a:rPr>
              <a:t>if (decision.overmatched &gt; 0.7</a:t>
            </a:r>
          </a:p>
          <a:p xmlns:a="http://schemas.openxmlformats.org/drawingml/2006/main">
            <a:pPr>
              <a:defRPr sz="1650" b="0">
                <a:solidFill>
                  <a:srgbClr val="F4F7FB"/>
                </a:solidFill>
                <a:latin typeface="Consolas"/>
                <a:ea typeface="Consolas"/>
                <a:cs typeface="Consolas"/>
              </a:defRPr>
            </a:pPr>
            <a:r>
              <a:rPr sz="1650" b="0">
                <a:solidFill>
                  <a:srgbClr val="F4F7FB"/>
                </a:solidFill>
                <a:latin typeface="Consolas"/>
                <a:ea typeface="Consolas"/>
                <a:cs typeface="Consolas"/>
              </a:rPr>
              <a:t>    &amp;&amp; f.hpRatio &lt; 0.6 &amp;&amp; !f.adj.length)</a:t>
            </a:r>
          </a:p>
          <a:p xmlns:a="http://schemas.openxmlformats.org/drawingml/2006/main">
            <a:pPr>
              <a:defRPr sz="1650" b="0">
                <a:solidFill>
                  <a:srgbClr val="F4F7FB"/>
                </a:solidFill>
                <a:latin typeface="Consolas"/>
                <a:ea typeface="Consolas"/>
                <a:cs typeface="Consolas"/>
              </a:defRPr>
            </a:pPr>
            <a:r>
              <a:rPr sz="1650" b="0">
                <a:solidFill>
                  <a:srgbClr val="F4F7FB"/>
                </a:solidFill>
                <a:latin typeface="Consolas"/>
                <a:ea typeface="Consolas"/>
                <a:cs typeface="Consolas"/>
              </a:rPr>
              <a:t>  return fleeAction(f);</a:t>
            </a:r>
          </a:p>
        </p:txBody>
      </p:sp>
      <p:sp>
        <p:nvSpPr>
          <p:cNvPr id="10" name="">
            <a:extLst xmlns:a="http://schemas.openxmlformats.org/drawingml/2006/main">
              <a:ext uri="{FF2B5EF4-FFF2-40B4-BE49-F238E27FC236}">
                <a16:creationId xmlns:a16="http://schemas.microsoft.com/office/drawing/2014/main" id="{E173E35D-C3CE-4F00-9CEF-1009177C146C}"/>
              </a:ext>
            </a:extLst>
          </p:cNvPr>
          <p:cNvSpPr>
            <a:spLocks xmlns:a="http://schemas.openxmlformats.org/drawingml/2006/main" noGrp="1"/>
          </p:cNvSpPr>
          <p:nvPr/>
        </p:nvSpPr>
        <p:spPr>
          <a:xfrm xmlns:a="http://schemas.openxmlformats.org/drawingml/2006/main">
            <a:off x="647700" y="5076825"/>
            <a:ext cx="10896600" cy="19050"/>
          </a:xfrm>
          <a:prstGeom xmlns:a="http://schemas.openxmlformats.org/drawingml/2006/main" prst="rect">
            <a:avLst/>
          </a:prstGeom>
          <a:solidFill xmlns:a="http://schemas.openxmlformats.org/drawingml/2006/main">
            <a:srgbClr val="3B4A5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DA2B875-81D9-47BB-8E8C-A54B1F790B1A}"/>
              </a:ext>
            </a:extLst>
          </p:cNvPr>
          <p:cNvSpPr>
            <a:spLocks xmlns:a="http://schemas.openxmlformats.org/drawingml/2006/main" noGrp="1"/>
          </p:cNvSpPr>
          <p:nvPr/>
        </p:nvSpPr>
        <p:spPr>
          <a:xfrm xmlns:a="http://schemas.openxmlformats.org/drawingml/2006/main">
            <a:off x="666750" y="53435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72E0BC"/>
                </a:solidFill>
                <a:latin typeface="Aptos"/>
                <a:ea typeface="Aptos"/>
                <a:cs typeface="Aptos"/>
              </a:defRPr>
            </a:pPr>
            <a:r>
              <a:rPr sz="2100" b="1">
                <a:solidFill>
                  <a:srgbClr val="72E0BC"/>
                </a:solidFill>
                <a:latin typeface="Aptos"/>
                <a:ea typeface="Aptos"/>
                <a:cs typeface="Aptos"/>
              </a:rPr>
              <a:t>Use this when the action can be chosen and checked from the current state.</a:t>
            </a:r>
          </a:p>
        </p:txBody>
      </p:sp>
    </p:spTree>
    <p:extLst>
      <p:ext uri="{BB962C8B-B14F-4D97-AF65-F5344CB8AC3E}">
        <p14:creationId xmlns:p14="http://schemas.microsoft.com/office/powerpoint/2010/main" val="872382669"/>
      </p:ext>
    </p:extLst>
  </p:cSld>
</p:sld>
</file>

<file path=ppt/slides/slide4.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B448818-C725-4E47-8C32-19511625E9F1}"/>
              </a:ext>
            </a:extLst>
          </p:cNvPr>
          <p:cNvSpPr>
            <a:spLocks xmlns:a="http://schemas.openxmlformats.org/drawingml/2006/main" noGrp="1"/>
          </p:cNvSpPr>
          <p:nvPr/>
        </p:nvSpPr>
        <p:spPr>
          <a:xfrm xmlns:a="http://schemas.openxmlformats.org/drawingml/2006/main">
            <a:off x="647700" y="34290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4F7FB"/>
                </a:solidFill>
                <a:latin typeface="Aptos"/>
                <a:ea typeface="Aptos"/>
                <a:cs typeface="Aptos"/>
              </a:defRPr>
            </a:pPr>
            <a:r>
              <a:rPr sz="3150" b="1">
                <a:solidFill>
                  <a:srgbClr val="F4F7FB"/>
                </a:solidFill>
                <a:latin typeface="Aptos"/>
                <a:ea typeface="Aptos"/>
                <a:cs typeface="Aptos"/>
              </a:rPr>
              <a:t>When the outcome needs a path</a:t>
            </a:r>
          </a:p>
        </p:txBody>
      </p:sp>
      <p:sp>
        <p:nvSpPr>
          <p:cNvPr id="2" name="">
            <a:extLst xmlns:a="http://schemas.openxmlformats.org/drawingml/2006/main">
              <a:ext uri="{FF2B5EF4-FFF2-40B4-BE49-F238E27FC236}">
                <a16:creationId xmlns:a16="http://schemas.microsoft.com/office/drawing/2014/main" id="{F219AFDE-D235-4923-A5D2-C32CBF817908}"/>
              </a:ext>
            </a:extLst>
          </p:cNvPr>
          <p:cNvSpPr>
            <a:spLocks xmlns:a="http://schemas.openxmlformats.org/drawingml/2006/main" noGrp="1"/>
          </p:cNvSpPr>
          <p:nvPr/>
        </p:nvSpPr>
        <p:spPr>
          <a:xfrm xmlns:a="http://schemas.openxmlformats.org/drawingml/2006/main">
            <a:off x="647700" y="1200150"/>
            <a:ext cx="10896600" cy="19050"/>
          </a:xfrm>
          <a:prstGeom xmlns:a="http://schemas.openxmlformats.org/drawingml/2006/main" prst="rect">
            <a:avLst/>
          </a:prstGeom>
          <a:solidFill xmlns:a="http://schemas.openxmlformats.org/drawingml/2006/main">
            <a:srgbClr val="3B4A5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BB2A15C-9AA8-45E4-82B5-9DC1539E4AA8}"/>
              </a:ext>
            </a:extLst>
          </p:cNvPr>
          <p:cNvSpPr>
            <a:spLocks xmlns:a="http://schemas.openxmlformats.org/drawingml/2006/main" noGrp="1"/>
          </p:cNvSpPr>
          <p:nvPr/>
        </p:nvSpPr>
        <p:spPr>
          <a:xfrm xmlns:a="http://schemas.openxmlformats.org/drawingml/2006/main">
            <a:off x="647700" y="64103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AABBD0"/>
                </a:solidFill>
                <a:latin typeface="Aptos"/>
                <a:ea typeface="Aptos"/>
                <a:cs typeface="Aptos"/>
              </a:defRPr>
            </a:pPr>
            <a:r>
              <a:rPr sz="1200" b="0">
                <a:solidFill>
                  <a:srgbClr val="AABBD0"/>
                </a:solidFill>
                <a:latin typeface="Aptos"/>
                <a:ea typeface="Aptos"/>
                <a:cs typeface="Aptos"/>
              </a:rPr>
              <a:t>LayA · RogueRNG    4/8</a:t>
            </a:r>
          </a:p>
        </p:txBody>
      </p:sp>
      <p:sp>
        <p:nvSpPr>
          <p:cNvPr id="4" name="">
            <a:extLst xmlns:a="http://schemas.openxmlformats.org/drawingml/2006/main">
              <a:ext uri="{FF2B5EF4-FFF2-40B4-BE49-F238E27FC236}">
                <a16:creationId xmlns:a16="http://schemas.microsoft.com/office/drawing/2014/main" id="{A2153391-4E51-4A73-81AE-FDA641C27C75}"/>
              </a:ext>
            </a:extLst>
          </p:cNvPr>
          <p:cNvSpPr>
            <a:spLocks xmlns:a="http://schemas.openxmlformats.org/drawingml/2006/main" noGrp="1"/>
          </p:cNvSpPr>
          <p:nvPr/>
        </p:nvSpPr>
        <p:spPr>
          <a:xfrm xmlns:a="http://schemas.openxmlformats.org/drawingml/2006/main">
            <a:off x="666750" y="15049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72E0BC"/>
                </a:solidFill>
                <a:latin typeface="Aptos"/>
                <a:ea typeface="Aptos"/>
                <a:cs typeface="Aptos"/>
              </a:defRPr>
            </a:pPr>
            <a:r>
              <a:rPr sz="2100" b="1">
                <a:solidFill>
                  <a:srgbClr val="72E0BC"/>
                </a:solidFill>
                <a:latin typeface="Aptos"/>
                <a:ea typeface="Aptos"/>
                <a:cs typeface="Aptos"/>
              </a:rPr>
              <a:t>A goal has a trigger and a method</a:t>
            </a:r>
          </a:p>
        </p:txBody>
      </p:sp>
      <p:sp>
        <p:nvSpPr>
          <p:cNvPr id="5" name="">
            <a:extLst xmlns:a="http://schemas.openxmlformats.org/drawingml/2006/main">
              <a:ext uri="{FF2B5EF4-FFF2-40B4-BE49-F238E27FC236}">
                <a16:creationId xmlns:a16="http://schemas.microsoft.com/office/drawing/2014/main" id="{8B3C6CAC-B026-475D-8186-ABE41D3A3B11}"/>
              </a:ext>
            </a:extLst>
          </p:cNvPr>
          <p:cNvSpPr>
            <a:spLocks xmlns:a="http://schemas.openxmlformats.org/drawingml/2006/main" noGrp="1"/>
          </p:cNvSpPr>
          <p:nvPr/>
        </p:nvSpPr>
        <p:spPr>
          <a:xfrm xmlns:a="http://schemas.openxmlformats.org/drawingml/2006/main">
            <a:off x="647700" y="2143125"/>
            <a:ext cx="10896600" cy="2476500"/>
          </a:xfrm>
          <a:prstGeom xmlns:a="http://schemas.openxmlformats.org/drawingml/2006/main" prst="rect">
            <a:avLst/>
          </a:prstGeom>
          <a:solidFill xmlns:a="http://schemas.openxmlformats.org/drawingml/2006/main">
            <a:srgbClr val="19263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8A14A21-B4D2-4BDF-9D98-1E814C0C8688}"/>
              </a:ext>
            </a:extLst>
          </p:cNvPr>
          <p:cNvSpPr>
            <a:spLocks xmlns:a="http://schemas.openxmlformats.org/drawingml/2006/main" noGrp="1"/>
          </p:cNvSpPr>
          <p:nvPr/>
        </p:nvSpPr>
        <p:spPr>
          <a:xfrm xmlns:a="http://schemas.openxmlformats.org/drawingml/2006/main">
            <a:off x="857250" y="2266950"/>
            <a:ext cx="10477500" cy="2228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F4F7FB"/>
                </a:solidFill>
                <a:latin typeface="Consolas"/>
                <a:ea typeface="Consolas"/>
                <a:cs typeface="Consolas"/>
              </a:defRPr>
            </a:pPr>
            <a:r>
              <a:rPr sz="1875" b="0">
                <a:solidFill>
                  <a:srgbClr val="F4F7FB"/>
                </a:solidFill>
                <a:latin typeface="Consolas"/>
                <a:ea typeface="Consolas"/>
                <a:cs typeface="Consolas"/>
              </a:rPr>
              <a:t>unpack: bag.length &gt;= 18</a:t>
            </a:r>
          </a:p>
          <a:p xmlns:a="http://schemas.openxmlformats.org/drawingml/2006/main">
            <a:pPr>
              <a:defRPr sz="1875" b="0">
                <a:solidFill>
                  <a:srgbClr val="F4F7FB"/>
                </a:solidFill>
                <a:latin typeface="Consolas"/>
                <a:ea typeface="Consolas"/>
                <a:cs typeface="Consolas"/>
              </a:defRPr>
            </a:pPr>
            <a:r>
              <a:rPr sz="1875" b="0">
                <a:solidFill>
                  <a:srgbClr val="F4F7FB"/>
                </a:solidFill>
                <a:latin typeface="Consolas"/>
                <a:ea typeface="Consolas"/>
                <a:cs typeface="Consolas"/>
              </a:rPr>
              <a:t>  → gohome → chores → resume</a:t>
            </a:r>
          </a:p>
          <a:p xmlns:a="http://schemas.openxmlformats.org/drawingml/2006/main">
            <a:r>
              <a:t/>
            </a:r>
          </a:p>
          <a:p xmlns:a="http://schemas.openxmlformats.org/drawingml/2006/main">
            <a:pPr>
              <a:defRPr sz="1875" b="0">
                <a:solidFill>
                  <a:srgbClr val="F4F7FB"/>
                </a:solidFill>
                <a:latin typeface="Consolas"/>
                <a:ea typeface="Consolas"/>
                <a:cs typeface="Consolas"/>
              </a:defRPr>
            </a:pPr>
            <a:r>
              <a:rPr sz="1875" b="0">
                <a:solidFill>
                  <a:srgbClr val="F4F7FB"/>
                </a:solidFill>
                <a:latin typeface="Consolas"/>
                <a:ea typeface="Consolas"/>
                <a:cs typeface="Consolas"/>
              </a:rPr>
              <a:t>haveKey: locked chest &amp;&amp; no key &amp;&amp; gold &gt;= 55</a:t>
            </a:r>
          </a:p>
          <a:p xmlns:a="http://schemas.openxmlformats.org/drawingml/2006/main">
            <a:pPr>
              <a:defRPr sz="1875" b="0">
                <a:solidFill>
                  <a:srgbClr val="F4F7FB"/>
                </a:solidFill>
                <a:latin typeface="Consolas"/>
                <a:ea typeface="Consolas"/>
                <a:cs typeface="Consolas"/>
              </a:defRPr>
            </a:pPr>
            <a:r>
              <a:rPr sz="1875" b="0">
                <a:solidFill>
                  <a:srgbClr val="F4F7FB"/>
                </a:solidFill>
                <a:latin typeface="Consolas"/>
                <a:ea typeface="Consolas"/>
                <a:cs typeface="Consolas"/>
              </a:rPr>
              <a:t>  → gohome → buy key → resume</a:t>
            </a:r>
          </a:p>
        </p:txBody>
      </p:sp>
      <p:sp>
        <p:nvSpPr>
          <p:cNvPr id="7" name="">
            <a:extLst xmlns:a="http://schemas.openxmlformats.org/drawingml/2006/main">
              <a:ext uri="{FF2B5EF4-FFF2-40B4-BE49-F238E27FC236}">
                <a16:creationId xmlns:a16="http://schemas.microsoft.com/office/drawing/2014/main" id="{76108FCD-BC51-4CF4-9343-9C0D2EDE8130}"/>
              </a:ext>
            </a:extLst>
          </p:cNvPr>
          <p:cNvSpPr>
            <a:spLocks xmlns:a="http://schemas.openxmlformats.org/drawingml/2006/main" noGrp="1"/>
          </p:cNvSpPr>
          <p:nvPr/>
        </p:nvSpPr>
        <p:spPr>
          <a:xfrm xmlns:a="http://schemas.openxmlformats.org/drawingml/2006/main">
            <a:off x="647700" y="4943475"/>
            <a:ext cx="10896600" cy="19050"/>
          </a:xfrm>
          <a:prstGeom xmlns:a="http://schemas.openxmlformats.org/drawingml/2006/main" prst="rect">
            <a:avLst/>
          </a:prstGeom>
          <a:solidFill xmlns:a="http://schemas.openxmlformats.org/drawingml/2006/main">
            <a:srgbClr val="3B4A5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59599DB-0C3A-4877-9552-19C9D9101CF5}"/>
              </a:ext>
            </a:extLst>
          </p:cNvPr>
          <p:cNvSpPr>
            <a:spLocks xmlns:a="http://schemas.openxmlformats.org/drawingml/2006/main" noGrp="1"/>
          </p:cNvSpPr>
          <p:nvPr/>
        </p:nvSpPr>
        <p:spPr>
          <a:xfrm xmlns:a="http://schemas.openxmlformats.org/drawingml/2006/main">
            <a:off x="666750" y="5229225"/>
            <a:ext cx="666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86B8FF"/>
                </a:solidFill>
                <a:latin typeface="Aptos"/>
                <a:ea typeface="Aptos"/>
                <a:cs typeface="Aptos"/>
              </a:defRPr>
            </a:pPr>
            <a:r>
              <a:rPr sz="2250" b="1">
                <a:solidFill>
                  <a:srgbClr val="86B8FF"/>
                </a:solidFill>
                <a:latin typeface="Aptos"/>
                <a:ea typeface="Aptos"/>
                <a:cs typeface="Aptos"/>
              </a:rPr>
              <a:t>LayA can also arm a goal</a:t>
            </a:r>
          </a:p>
        </p:txBody>
      </p:sp>
      <p:sp>
        <p:nvSpPr>
          <p:cNvPr id="9" name="">
            <a:extLst xmlns:a="http://schemas.openxmlformats.org/drawingml/2006/main">
              <a:ext uri="{FF2B5EF4-FFF2-40B4-BE49-F238E27FC236}">
                <a16:creationId xmlns:a16="http://schemas.microsoft.com/office/drawing/2014/main" id="{DD61DDAC-7588-4542-9853-F9060DEF7DC6}"/>
              </a:ext>
            </a:extLst>
          </p:cNvPr>
          <p:cNvSpPr>
            <a:spLocks xmlns:a="http://schemas.openxmlformats.org/drawingml/2006/main" noGrp="1"/>
          </p:cNvSpPr>
          <p:nvPr/>
        </p:nvSpPr>
        <p:spPr>
          <a:xfrm xmlns:a="http://schemas.openxmlformats.org/drawingml/2006/main">
            <a:off x="666750" y="57150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F4F7FB"/>
                </a:solidFill>
                <a:latin typeface="Aptos"/>
                <a:ea typeface="Aptos"/>
                <a:cs typeface="Aptos"/>
              </a:defRPr>
            </a:pPr>
            <a:r>
              <a:rPr sz="1950" b="0">
                <a:solidFill>
                  <a:srgbClr val="F4F7FB"/>
                </a:solidFill>
                <a:latin typeface="Aptos"/>
                <a:ea typeface="Aptos"/>
                <a:cs typeface="Aptos"/>
              </a:rPr>
              <a:t>packNeedsTending &gt; 0.75 + bag/gold facts → tending goal</a:t>
            </a:r>
          </a:p>
        </p:txBody>
      </p:sp>
    </p:spTree>
    <p:extLst>
      <p:ext uri="{BB962C8B-B14F-4D97-AF65-F5344CB8AC3E}">
        <p14:creationId xmlns:p14="http://schemas.microsoft.com/office/powerpoint/2010/main" val="1426897599"/>
      </p:ext>
    </p:extLst>
  </p:cSld>
</p:sld>
</file>

<file path=ppt/slides/slide5.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B5329A3-5D42-4A87-9005-B323DE3FB1F6}"/>
              </a:ext>
            </a:extLst>
          </p:cNvPr>
          <p:cNvSpPr>
            <a:spLocks xmlns:a="http://schemas.openxmlformats.org/drawingml/2006/main" noGrp="1"/>
          </p:cNvSpPr>
          <p:nvPr/>
        </p:nvSpPr>
        <p:spPr>
          <a:xfrm xmlns:a="http://schemas.openxmlformats.org/drawingml/2006/main">
            <a:off x="647700" y="34290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4F7FB"/>
                </a:solidFill>
                <a:latin typeface="Aptos"/>
                <a:ea typeface="Aptos"/>
                <a:cs typeface="Aptos"/>
              </a:defRPr>
            </a:pPr>
            <a:r>
              <a:rPr sz="3150" b="1">
                <a:solidFill>
                  <a:srgbClr val="F4F7FB"/>
                </a:solidFill>
                <a:latin typeface="Aptos"/>
                <a:ea typeface="Aptos"/>
                <a:cs typeface="Aptos"/>
              </a:rPr>
              <a:t>Three goals merge into one path</a:t>
            </a:r>
          </a:p>
        </p:txBody>
      </p:sp>
      <p:sp>
        <p:nvSpPr>
          <p:cNvPr id="2" name="">
            <a:extLst xmlns:a="http://schemas.openxmlformats.org/drawingml/2006/main">
              <a:ext uri="{FF2B5EF4-FFF2-40B4-BE49-F238E27FC236}">
                <a16:creationId xmlns:a16="http://schemas.microsoft.com/office/drawing/2014/main" id="{FD4E8ED6-FC1D-474C-9E0E-EA59B05B8181}"/>
              </a:ext>
            </a:extLst>
          </p:cNvPr>
          <p:cNvSpPr>
            <a:spLocks xmlns:a="http://schemas.openxmlformats.org/drawingml/2006/main" noGrp="1"/>
          </p:cNvSpPr>
          <p:nvPr/>
        </p:nvSpPr>
        <p:spPr>
          <a:xfrm xmlns:a="http://schemas.openxmlformats.org/drawingml/2006/main">
            <a:off x="647700" y="1200150"/>
            <a:ext cx="10896600" cy="19050"/>
          </a:xfrm>
          <a:prstGeom xmlns:a="http://schemas.openxmlformats.org/drawingml/2006/main" prst="rect">
            <a:avLst/>
          </a:prstGeom>
          <a:solidFill xmlns:a="http://schemas.openxmlformats.org/drawingml/2006/main">
            <a:srgbClr val="3B4A5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72F9C2B-7A29-42E3-AB0F-79CC25713B6C}"/>
              </a:ext>
            </a:extLst>
          </p:cNvPr>
          <p:cNvSpPr>
            <a:spLocks xmlns:a="http://schemas.openxmlformats.org/drawingml/2006/main" noGrp="1"/>
          </p:cNvSpPr>
          <p:nvPr/>
        </p:nvSpPr>
        <p:spPr>
          <a:xfrm xmlns:a="http://schemas.openxmlformats.org/drawingml/2006/main">
            <a:off x="647700" y="64103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AABBD0"/>
                </a:solidFill>
                <a:latin typeface="Aptos"/>
                <a:ea typeface="Aptos"/>
                <a:cs typeface="Aptos"/>
              </a:defRPr>
            </a:pPr>
            <a:r>
              <a:rPr sz="1200" b="0">
                <a:solidFill>
                  <a:srgbClr val="AABBD0"/>
                </a:solidFill>
                <a:latin typeface="Aptos"/>
                <a:ea typeface="Aptos"/>
                <a:cs typeface="Aptos"/>
              </a:rPr>
              <a:t>LayA · RogueRNG    5/8</a:t>
            </a:r>
          </a:p>
        </p:txBody>
      </p:sp>
      <p:sp>
        <p:nvSpPr>
          <p:cNvPr id="4" name="">
            <a:extLst xmlns:a="http://schemas.openxmlformats.org/drawingml/2006/main">
              <a:ext uri="{FF2B5EF4-FFF2-40B4-BE49-F238E27FC236}">
                <a16:creationId xmlns:a16="http://schemas.microsoft.com/office/drawing/2014/main" id="{0B8DD0B9-4D2E-4E2F-B236-A4CAF417A208}"/>
              </a:ext>
            </a:extLst>
          </p:cNvPr>
          <p:cNvSpPr>
            <a:spLocks xmlns:a="http://schemas.openxmlformats.org/drawingml/2006/main" noGrp="1"/>
          </p:cNvSpPr>
          <p:nvPr/>
        </p:nvSpPr>
        <p:spPr>
          <a:xfrm xmlns:a="http://schemas.openxmlformats.org/drawingml/2006/main">
            <a:off x="666750" y="1514475"/>
            <a:ext cx="442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AABBD0"/>
                </a:solidFill>
                <a:latin typeface="Aptos"/>
                <a:ea typeface="Aptos"/>
                <a:cs typeface="Aptos"/>
              </a:defRPr>
            </a:pPr>
            <a:r>
              <a:rPr sz="1725" b="1">
                <a:solidFill>
                  <a:srgbClr val="AABBD0"/>
                </a:solidFill>
                <a:latin typeface="Aptos"/>
                <a:ea typeface="Aptos"/>
                <a:cs typeface="Aptos"/>
              </a:rPr>
              <a:t>ACTIVE GOALS</a:t>
            </a:r>
          </a:p>
        </p:txBody>
      </p:sp>
      <p:sp>
        <p:nvSpPr>
          <p:cNvPr id="5" name="">
            <a:extLst xmlns:a="http://schemas.openxmlformats.org/drawingml/2006/main">
              <a:ext uri="{FF2B5EF4-FFF2-40B4-BE49-F238E27FC236}">
                <a16:creationId xmlns:a16="http://schemas.microsoft.com/office/drawing/2014/main" id="{8E07C1BB-FE6F-4EED-A7D0-CF4E85751595}"/>
              </a:ext>
            </a:extLst>
          </p:cNvPr>
          <p:cNvSpPr>
            <a:spLocks xmlns:a="http://schemas.openxmlformats.org/drawingml/2006/main" noGrp="1"/>
          </p:cNvSpPr>
          <p:nvPr/>
        </p:nvSpPr>
        <p:spPr>
          <a:xfrm xmlns:a="http://schemas.openxmlformats.org/drawingml/2006/main">
            <a:off x="666750" y="198120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FFD193"/>
                </a:solidFill>
                <a:latin typeface="Aptos"/>
                <a:ea typeface="Aptos"/>
                <a:cs typeface="Aptos"/>
              </a:defRPr>
            </a:pPr>
            <a:r>
              <a:rPr sz="2250" b="1">
                <a:solidFill>
                  <a:srgbClr val="FFD193"/>
                </a:solidFill>
                <a:latin typeface="Aptos"/>
                <a:ea typeface="Aptos"/>
                <a:cs typeface="Aptos"/>
              </a:rPr>
              <a:t>unpack     resupply     haveKey</a:t>
            </a:r>
          </a:p>
        </p:txBody>
      </p:sp>
      <p:sp>
        <p:nvSpPr>
          <p:cNvPr id="6" name="">
            <a:extLst xmlns:a="http://schemas.openxmlformats.org/drawingml/2006/main">
              <a:ext uri="{FF2B5EF4-FFF2-40B4-BE49-F238E27FC236}">
                <a16:creationId xmlns:a16="http://schemas.microsoft.com/office/drawing/2014/main" id="{A2DBB0C5-7ED0-49DF-98D6-46C97303307F}"/>
              </a:ext>
            </a:extLst>
          </p:cNvPr>
          <p:cNvSpPr>
            <a:spLocks xmlns:a="http://schemas.openxmlformats.org/drawingml/2006/main" noGrp="1"/>
          </p:cNvSpPr>
          <p:nvPr/>
        </p:nvSpPr>
        <p:spPr>
          <a:xfrm xmlns:a="http://schemas.openxmlformats.org/drawingml/2006/main">
            <a:off x="666750" y="2790825"/>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72E0BC"/>
                </a:solidFill>
                <a:latin typeface="Aptos"/>
                <a:ea typeface="Aptos"/>
                <a:cs typeface="Aptos"/>
              </a:defRPr>
            </a:pPr>
            <a:r>
              <a:rPr sz="2025" b="1">
                <a:solidFill>
                  <a:srgbClr val="72E0BC"/>
                </a:solidFill>
                <a:latin typeface="Aptos"/>
                <a:ea typeface="Aptos"/>
                <a:cs typeface="Aptos"/>
              </a:rPr>
              <a:t>↓  shared tasks run once; resume goes last</a:t>
            </a:r>
          </a:p>
        </p:txBody>
      </p:sp>
      <p:sp>
        <p:nvSpPr>
          <p:cNvPr id="7" name="">
            <a:extLst xmlns:a="http://schemas.openxmlformats.org/drawingml/2006/main">
              <a:ext uri="{FF2B5EF4-FFF2-40B4-BE49-F238E27FC236}">
                <a16:creationId xmlns:a16="http://schemas.microsoft.com/office/drawing/2014/main" id="{7802A9A9-FC4E-400F-A491-D4F2D81B384A}"/>
              </a:ext>
            </a:extLst>
          </p:cNvPr>
          <p:cNvSpPr>
            <a:spLocks xmlns:a="http://schemas.openxmlformats.org/drawingml/2006/main" noGrp="1"/>
          </p:cNvSpPr>
          <p:nvPr/>
        </p:nvSpPr>
        <p:spPr>
          <a:xfrm xmlns:a="http://schemas.openxmlformats.org/drawingml/2006/main">
            <a:off x="647700" y="3562350"/>
            <a:ext cx="10896600" cy="19050"/>
          </a:xfrm>
          <a:prstGeom xmlns:a="http://schemas.openxmlformats.org/drawingml/2006/main" prst="rect">
            <a:avLst/>
          </a:prstGeom>
          <a:solidFill xmlns:a="http://schemas.openxmlformats.org/drawingml/2006/main">
            <a:srgbClr val="3B4A5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16B1F98-EA72-449F-9B8F-04F444192B11}"/>
              </a:ext>
            </a:extLst>
          </p:cNvPr>
          <p:cNvSpPr>
            <a:spLocks xmlns:a="http://schemas.openxmlformats.org/drawingml/2006/main" noGrp="1"/>
          </p:cNvSpPr>
          <p:nvPr/>
        </p:nvSpPr>
        <p:spPr>
          <a:xfrm xmlns:a="http://schemas.openxmlformats.org/drawingml/2006/main">
            <a:off x="666750" y="4048125"/>
            <a:ext cx="2333625" cy="952500"/>
          </a:xfrm>
          <a:prstGeom xmlns:a="http://schemas.openxmlformats.org/drawingml/2006/main" prst="rect">
            <a:avLst/>
          </a:prstGeom>
          <a:solidFill xmlns:a="http://schemas.openxmlformats.org/drawingml/2006/main">
            <a:srgbClr val="19263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4E279AA-ADD9-42F1-9614-33E030070357}"/>
              </a:ext>
            </a:extLst>
          </p:cNvPr>
          <p:cNvSpPr>
            <a:spLocks xmlns:a="http://schemas.openxmlformats.org/drawingml/2006/main" noGrp="1"/>
          </p:cNvSpPr>
          <p:nvPr/>
        </p:nvSpPr>
        <p:spPr>
          <a:xfrm xmlns:a="http://schemas.openxmlformats.org/drawingml/2006/main">
            <a:off x="800100" y="4219575"/>
            <a:ext cx="2076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F4F7FB"/>
                </a:solidFill>
                <a:latin typeface="Aptos"/>
                <a:ea typeface="Aptos"/>
                <a:cs typeface="Aptos"/>
              </a:defRPr>
            </a:pPr>
            <a:r>
              <a:rPr sz="1875" b="1">
                <a:solidFill>
                  <a:srgbClr val="F4F7FB"/>
                </a:solidFill>
                <a:latin typeface="Aptos"/>
                <a:ea typeface="Aptos"/>
                <a:cs typeface="Aptos"/>
              </a:rPr>
              <a:t>1  gohome</a:t>
            </a:r>
          </a:p>
        </p:txBody>
      </p:sp>
      <p:sp>
        <p:nvSpPr>
          <p:cNvPr id="10" name="">
            <a:extLst xmlns:a="http://schemas.openxmlformats.org/drawingml/2006/main">
              <a:ext uri="{FF2B5EF4-FFF2-40B4-BE49-F238E27FC236}">
                <a16:creationId xmlns:a16="http://schemas.microsoft.com/office/drawing/2014/main" id="{4FC9AD3B-C817-4A9A-A538-616FF6D7CFEB}"/>
              </a:ext>
            </a:extLst>
          </p:cNvPr>
          <p:cNvSpPr>
            <a:spLocks xmlns:a="http://schemas.openxmlformats.org/drawingml/2006/main" noGrp="1"/>
          </p:cNvSpPr>
          <p:nvPr/>
        </p:nvSpPr>
        <p:spPr>
          <a:xfrm xmlns:a="http://schemas.openxmlformats.org/drawingml/2006/main">
            <a:off x="3019425" y="4276725"/>
            <a:ext cx="38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86B8FF"/>
                </a:solidFill>
                <a:latin typeface="Aptos"/>
                <a:ea typeface="Aptos"/>
                <a:cs typeface="Aptos"/>
              </a:defRPr>
            </a:pPr>
            <a:r>
              <a:rPr sz="2100" b="1">
                <a:solidFill>
                  <a:srgbClr val="86B8FF"/>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8B906711-8501-4A2F-B4C7-174C16BF2FD3}"/>
              </a:ext>
            </a:extLst>
          </p:cNvPr>
          <p:cNvSpPr>
            <a:spLocks xmlns:a="http://schemas.openxmlformats.org/drawingml/2006/main" noGrp="1"/>
          </p:cNvSpPr>
          <p:nvPr/>
        </p:nvSpPr>
        <p:spPr>
          <a:xfrm xmlns:a="http://schemas.openxmlformats.org/drawingml/2006/main">
            <a:off x="3409950" y="4048125"/>
            <a:ext cx="2333625" cy="952500"/>
          </a:xfrm>
          <a:prstGeom xmlns:a="http://schemas.openxmlformats.org/drawingml/2006/main" prst="rect">
            <a:avLst/>
          </a:prstGeom>
          <a:solidFill xmlns:a="http://schemas.openxmlformats.org/drawingml/2006/main">
            <a:srgbClr val="19263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CD977DF-909E-42F9-BB80-D724C279B683}"/>
              </a:ext>
            </a:extLst>
          </p:cNvPr>
          <p:cNvSpPr>
            <a:spLocks xmlns:a="http://schemas.openxmlformats.org/drawingml/2006/main" noGrp="1"/>
          </p:cNvSpPr>
          <p:nvPr/>
        </p:nvSpPr>
        <p:spPr>
          <a:xfrm xmlns:a="http://schemas.openxmlformats.org/drawingml/2006/main">
            <a:off x="3543300" y="4219575"/>
            <a:ext cx="2076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F4F7FB"/>
                </a:solidFill>
                <a:latin typeface="Aptos"/>
                <a:ea typeface="Aptos"/>
                <a:cs typeface="Aptos"/>
              </a:defRPr>
            </a:pPr>
            <a:r>
              <a:rPr sz="1875" b="1">
                <a:solidFill>
                  <a:srgbClr val="F4F7FB"/>
                </a:solidFill>
                <a:latin typeface="Aptos"/>
                <a:ea typeface="Aptos"/>
                <a:cs typeface="Aptos"/>
              </a:rPr>
              <a:t>2  chores</a:t>
            </a:r>
          </a:p>
        </p:txBody>
      </p:sp>
      <p:sp>
        <p:nvSpPr>
          <p:cNvPr id="13" name="">
            <a:extLst xmlns:a="http://schemas.openxmlformats.org/drawingml/2006/main">
              <a:ext uri="{FF2B5EF4-FFF2-40B4-BE49-F238E27FC236}">
                <a16:creationId xmlns:a16="http://schemas.microsoft.com/office/drawing/2014/main" id="{B0FFC88D-DB66-4563-B164-345EB2A51EE9}"/>
              </a:ext>
            </a:extLst>
          </p:cNvPr>
          <p:cNvSpPr>
            <a:spLocks xmlns:a="http://schemas.openxmlformats.org/drawingml/2006/main" noGrp="1"/>
          </p:cNvSpPr>
          <p:nvPr/>
        </p:nvSpPr>
        <p:spPr>
          <a:xfrm xmlns:a="http://schemas.openxmlformats.org/drawingml/2006/main">
            <a:off x="5762625" y="4276725"/>
            <a:ext cx="38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86B8FF"/>
                </a:solidFill>
                <a:latin typeface="Aptos"/>
                <a:ea typeface="Aptos"/>
                <a:cs typeface="Aptos"/>
              </a:defRPr>
            </a:pPr>
            <a:r>
              <a:rPr sz="2100" b="1">
                <a:solidFill>
                  <a:srgbClr val="86B8FF"/>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00FA5F85-F4D2-4C4C-90F9-4FEE8624A36C}"/>
              </a:ext>
            </a:extLst>
          </p:cNvPr>
          <p:cNvSpPr>
            <a:spLocks xmlns:a="http://schemas.openxmlformats.org/drawingml/2006/main" noGrp="1"/>
          </p:cNvSpPr>
          <p:nvPr/>
        </p:nvSpPr>
        <p:spPr>
          <a:xfrm xmlns:a="http://schemas.openxmlformats.org/drawingml/2006/main">
            <a:off x="6153150" y="4048125"/>
            <a:ext cx="2333625" cy="952500"/>
          </a:xfrm>
          <a:prstGeom xmlns:a="http://schemas.openxmlformats.org/drawingml/2006/main" prst="rect">
            <a:avLst/>
          </a:prstGeom>
          <a:solidFill xmlns:a="http://schemas.openxmlformats.org/drawingml/2006/main">
            <a:srgbClr val="19263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A238716-AAFE-4702-9F3B-847C43EB1049}"/>
              </a:ext>
            </a:extLst>
          </p:cNvPr>
          <p:cNvSpPr>
            <a:spLocks xmlns:a="http://schemas.openxmlformats.org/drawingml/2006/main" noGrp="1"/>
          </p:cNvSpPr>
          <p:nvPr/>
        </p:nvSpPr>
        <p:spPr>
          <a:xfrm xmlns:a="http://schemas.openxmlformats.org/drawingml/2006/main">
            <a:off x="6286500" y="4219575"/>
            <a:ext cx="2076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F4F7FB"/>
                </a:solidFill>
                <a:latin typeface="Aptos"/>
                <a:ea typeface="Aptos"/>
                <a:cs typeface="Aptos"/>
              </a:defRPr>
            </a:pPr>
            <a:r>
              <a:rPr sz="1875" b="1">
                <a:solidFill>
                  <a:srgbClr val="F4F7FB"/>
                </a:solidFill>
                <a:latin typeface="Aptos"/>
                <a:ea typeface="Aptos"/>
                <a:cs typeface="Aptos"/>
              </a:rPr>
              <a:t>3  buy key</a:t>
            </a:r>
          </a:p>
        </p:txBody>
      </p:sp>
      <p:sp>
        <p:nvSpPr>
          <p:cNvPr id="16" name="">
            <a:extLst xmlns:a="http://schemas.openxmlformats.org/drawingml/2006/main">
              <a:ext uri="{FF2B5EF4-FFF2-40B4-BE49-F238E27FC236}">
                <a16:creationId xmlns:a16="http://schemas.microsoft.com/office/drawing/2014/main" id="{3BAA7152-0A41-4761-81C1-71734B502787}"/>
              </a:ext>
            </a:extLst>
          </p:cNvPr>
          <p:cNvSpPr>
            <a:spLocks xmlns:a="http://schemas.openxmlformats.org/drawingml/2006/main" noGrp="1"/>
          </p:cNvSpPr>
          <p:nvPr/>
        </p:nvSpPr>
        <p:spPr>
          <a:xfrm xmlns:a="http://schemas.openxmlformats.org/drawingml/2006/main">
            <a:off x="8505825" y="4276725"/>
            <a:ext cx="38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86B8FF"/>
                </a:solidFill>
                <a:latin typeface="Aptos"/>
                <a:ea typeface="Aptos"/>
                <a:cs typeface="Aptos"/>
              </a:defRPr>
            </a:pPr>
            <a:r>
              <a:rPr sz="2100" b="1">
                <a:solidFill>
                  <a:srgbClr val="86B8FF"/>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F2220A59-43BC-41EE-AA4B-B6DBC9BA54C0}"/>
              </a:ext>
            </a:extLst>
          </p:cNvPr>
          <p:cNvSpPr>
            <a:spLocks xmlns:a="http://schemas.openxmlformats.org/drawingml/2006/main" noGrp="1"/>
          </p:cNvSpPr>
          <p:nvPr/>
        </p:nvSpPr>
        <p:spPr>
          <a:xfrm xmlns:a="http://schemas.openxmlformats.org/drawingml/2006/main">
            <a:off x="8896350" y="4048125"/>
            <a:ext cx="2333625" cy="952500"/>
          </a:xfrm>
          <a:prstGeom xmlns:a="http://schemas.openxmlformats.org/drawingml/2006/main" prst="rect">
            <a:avLst/>
          </a:prstGeom>
          <a:solidFill xmlns:a="http://schemas.openxmlformats.org/drawingml/2006/main">
            <a:srgbClr val="19263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2EC59F5-E21C-4FB5-86CB-4BFC92C77B8E}"/>
              </a:ext>
            </a:extLst>
          </p:cNvPr>
          <p:cNvSpPr>
            <a:spLocks xmlns:a="http://schemas.openxmlformats.org/drawingml/2006/main" noGrp="1"/>
          </p:cNvSpPr>
          <p:nvPr/>
        </p:nvSpPr>
        <p:spPr>
          <a:xfrm xmlns:a="http://schemas.openxmlformats.org/drawingml/2006/main">
            <a:off x="9029700" y="4219575"/>
            <a:ext cx="2076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F4F7FB"/>
                </a:solidFill>
                <a:latin typeface="Aptos"/>
                <a:ea typeface="Aptos"/>
                <a:cs typeface="Aptos"/>
              </a:defRPr>
            </a:pPr>
            <a:r>
              <a:rPr sz="1875" b="1">
                <a:solidFill>
                  <a:srgbClr val="F4F7FB"/>
                </a:solidFill>
                <a:latin typeface="Aptos"/>
                <a:ea typeface="Aptos"/>
                <a:cs typeface="Aptos"/>
              </a:rPr>
              <a:t>4  resume</a:t>
            </a:r>
          </a:p>
        </p:txBody>
      </p:sp>
      <p:sp>
        <p:nvSpPr>
          <p:cNvPr id="19" name="">
            <a:extLst xmlns:a="http://schemas.openxmlformats.org/drawingml/2006/main">
              <a:ext uri="{FF2B5EF4-FFF2-40B4-BE49-F238E27FC236}">
                <a16:creationId xmlns:a16="http://schemas.microsoft.com/office/drawing/2014/main" id="{86CAB2E7-E6EB-46F7-B714-F0F0D4CE785C}"/>
              </a:ext>
            </a:extLst>
          </p:cNvPr>
          <p:cNvSpPr>
            <a:spLocks xmlns:a="http://schemas.openxmlformats.org/drawingml/2006/main" noGrp="1"/>
          </p:cNvSpPr>
          <p:nvPr/>
        </p:nvSpPr>
        <p:spPr>
          <a:xfrm xmlns:a="http://schemas.openxmlformats.org/drawingml/2006/main">
            <a:off x="666750" y="542925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F4F7FB"/>
                </a:solidFill>
                <a:latin typeface="Aptos"/>
                <a:ea typeface="Aptos"/>
                <a:cs typeface="Aptos"/>
              </a:defRPr>
            </a:pPr>
            <a:r>
              <a:rPr sz="2100" b="0">
                <a:solidFill>
                  <a:srgbClr val="F4F7FB"/>
                </a:solidFill>
                <a:latin typeface="Aptos"/>
                <a:ea typeface="Aptos"/>
                <a:cs typeface="Aptos"/>
              </a:rPr>
              <a:t>Result: one town visit, then return to the saved dungeon depth.</a:t>
            </a:r>
          </a:p>
        </p:txBody>
      </p:sp>
    </p:spTree>
    <p:extLst>
      <p:ext uri="{BB962C8B-B14F-4D97-AF65-F5344CB8AC3E}">
        <p14:creationId xmlns:p14="http://schemas.microsoft.com/office/powerpoint/2010/main" val="1745979932"/>
      </p:ext>
    </p:extLst>
  </p:cSld>
</p:sld>
</file>

<file path=ppt/slides/slide6.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BB98B13-9E64-4322-A1A2-6CEBDC43273B}"/>
              </a:ext>
            </a:extLst>
          </p:cNvPr>
          <p:cNvSpPr>
            <a:spLocks xmlns:a="http://schemas.openxmlformats.org/drawingml/2006/main" noGrp="1"/>
          </p:cNvSpPr>
          <p:nvPr/>
        </p:nvSpPr>
        <p:spPr>
          <a:xfrm xmlns:a="http://schemas.openxmlformats.org/drawingml/2006/main">
            <a:off x="647700" y="34290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4F7FB"/>
                </a:solidFill>
                <a:latin typeface="Aptos"/>
                <a:ea typeface="Aptos"/>
                <a:cs typeface="Aptos"/>
              </a:defRPr>
            </a:pPr>
            <a:r>
              <a:rPr sz="3150" b="1">
                <a:solidFill>
                  <a:srgbClr val="F4F7FB"/>
                </a:solidFill>
                <a:latin typeface="Aptos"/>
                <a:ea typeface="Aptos"/>
                <a:cs typeface="Aptos"/>
              </a:rPr>
              <a:t>How the chain survives each turn</a:t>
            </a:r>
          </a:p>
        </p:txBody>
      </p:sp>
      <p:sp>
        <p:nvSpPr>
          <p:cNvPr id="2" name="">
            <a:extLst xmlns:a="http://schemas.openxmlformats.org/drawingml/2006/main">
              <a:ext uri="{FF2B5EF4-FFF2-40B4-BE49-F238E27FC236}">
                <a16:creationId xmlns:a16="http://schemas.microsoft.com/office/drawing/2014/main" id="{BF3C21C9-F6F0-4077-AACE-61824F5930AB}"/>
              </a:ext>
            </a:extLst>
          </p:cNvPr>
          <p:cNvSpPr>
            <a:spLocks xmlns:a="http://schemas.openxmlformats.org/drawingml/2006/main" noGrp="1"/>
          </p:cNvSpPr>
          <p:nvPr/>
        </p:nvSpPr>
        <p:spPr>
          <a:xfrm xmlns:a="http://schemas.openxmlformats.org/drawingml/2006/main">
            <a:off x="647700" y="1200150"/>
            <a:ext cx="10896600" cy="19050"/>
          </a:xfrm>
          <a:prstGeom xmlns:a="http://schemas.openxmlformats.org/drawingml/2006/main" prst="rect">
            <a:avLst/>
          </a:prstGeom>
          <a:solidFill xmlns:a="http://schemas.openxmlformats.org/drawingml/2006/main">
            <a:srgbClr val="3B4A5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C72A498-8409-491C-AA67-74E1C3A15A01}"/>
              </a:ext>
            </a:extLst>
          </p:cNvPr>
          <p:cNvSpPr>
            <a:spLocks xmlns:a="http://schemas.openxmlformats.org/drawingml/2006/main" noGrp="1"/>
          </p:cNvSpPr>
          <p:nvPr/>
        </p:nvSpPr>
        <p:spPr>
          <a:xfrm xmlns:a="http://schemas.openxmlformats.org/drawingml/2006/main">
            <a:off x="647700" y="64103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AABBD0"/>
                </a:solidFill>
                <a:latin typeface="Aptos"/>
                <a:ea typeface="Aptos"/>
                <a:cs typeface="Aptos"/>
              </a:defRPr>
            </a:pPr>
            <a:r>
              <a:rPr sz="1200" b="0">
                <a:solidFill>
                  <a:srgbClr val="AABBD0"/>
                </a:solidFill>
                <a:latin typeface="Aptos"/>
                <a:ea typeface="Aptos"/>
                <a:cs typeface="Aptos"/>
              </a:rPr>
              <a:t>LayA · RogueRNG    6/8</a:t>
            </a:r>
          </a:p>
        </p:txBody>
      </p:sp>
      <p:sp>
        <p:nvSpPr>
          <p:cNvPr id="4" name="">
            <a:extLst xmlns:a="http://schemas.openxmlformats.org/drawingml/2006/main">
              <a:ext uri="{FF2B5EF4-FFF2-40B4-BE49-F238E27FC236}">
                <a16:creationId xmlns:a16="http://schemas.microsoft.com/office/drawing/2014/main" id="{99C964E2-D9A7-4037-98E7-3E873B3FE6FB}"/>
              </a:ext>
            </a:extLst>
          </p:cNvPr>
          <p:cNvSpPr>
            <a:spLocks xmlns:a="http://schemas.openxmlformats.org/drawingml/2006/main" noGrp="1"/>
          </p:cNvSpPr>
          <p:nvPr/>
        </p:nvSpPr>
        <p:spPr>
          <a:xfrm xmlns:a="http://schemas.openxmlformats.org/drawingml/2006/main">
            <a:off x="666750" y="137160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1">
                <a:solidFill>
                  <a:srgbClr val="AABBD0"/>
                </a:solidFill>
                <a:latin typeface="Aptos"/>
                <a:ea typeface="Aptos"/>
                <a:cs typeface="Aptos"/>
              </a:defRPr>
            </a:pPr>
            <a:r>
              <a:rPr sz="1575" b="1">
                <a:solidFill>
                  <a:srgbClr val="AABBD0"/>
                </a:solidFill>
                <a:latin typeface="Aptos"/>
                <a:ea typeface="Aptos"/>
                <a:cs typeface="Aptos"/>
              </a:rPr>
              <a:t>Execution loop (simplified)</a:t>
            </a:r>
          </a:p>
        </p:txBody>
      </p:sp>
      <p:sp>
        <p:nvSpPr>
          <p:cNvPr id="5" name="">
            <a:extLst xmlns:a="http://schemas.openxmlformats.org/drawingml/2006/main">
              <a:ext uri="{FF2B5EF4-FFF2-40B4-BE49-F238E27FC236}">
                <a16:creationId xmlns:a16="http://schemas.microsoft.com/office/drawing/2014/main" id="{51F4F799-F9D4-4EAB-B572-CBA73BF53D96}"/>
              </a:ext>
            </a:extLst>
          </p:cNvPr>
          <p:cNvSpPr>
            <a:spLocks xmlns:a="http://schemas.openxmlformats.org/drawingml/2006/main" noGrp="1"/>
          </p:cNvSpPr>
          <p:nvPr/>
        </p:nvSpPr>
        <p:spPr>
          <a:xfrm xmlns:a="http://schemas.openxmlformats.org/drawingml/2006/main">
            <a:off x="647700" y="1809750"/>
            <a:ext cx="10896600" cy="2466975"/>
          </a:xfrm>
          <a:prstGeom xmlns:a="http://schemas.openxmlformats.org/drawingml/2006/main" prst="rect">
            <a:avLst/>
          </a:prstGeom>
          <a:solidFill xmlns:a="http://schemas.openxmlformats.org/drawingml/2006/main">
            <a:srgbClr val="19263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25676C3-0924-4268-8228-4078240A0016}"/>
              </a:ext>
            </a:extLst>
          </p:cNvPr>
          <p:cNvSpPr>
            <a:spLocks xmlns:a="http://schemas.openxmlformats.org/drawingml/2006/main" noGrp="1"/>
          </p:cNvSpPr>
          <p:nvPr/>
        </p:nvSpPr>
        <p:spPr>
          <a:xfrm xmlns:a="http://schemas.openxmlformats.org/drawingml/2006/main">
            <a:off x="857250" y="1933575"/>
            <a:ext cx="10477500" cy="2219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F4F7FB"/>
                </a:solidFill>
                <a:latin typeface="Consolas"/>
                <a:ea typeface="Consolas"/>
                <a:cs typeface="Consolas"/>
              </a:defRPr>
            </a:pPr>
            <a:r>
              <a:rPr sz="1875" b="0">
                <a:solidFill>
                  <a:srgbClr val="F4F7FB"/>
                </a:solidFill>
                <a:latin typeface="Consolas"/>
                <a:ea typeface="Consolas"/>
                <a:cs typeface="Consolas"/>
              </a:rPr>
              <a:t>const step = plan.steps[plan.i]</a:t>
            </a:r>
          </a:p>
          <a:p xmlns:a="http://schemas.openxmlformats.org/drawingml/2006/main">
            <a:pPr>
              <a:defRPr sz="1875" b="0">
                <a:solidFill>
                  <a:srgbClr val="F4F7FB"/>
                </a:solidFill>
                <a:latin typeface="Consolas"/>
                <a:ea typeface="Consolas"/>
                <a:cs typeface="Consolas"/>
              </a:defRPr>
            </a:pPr>
            <a:r>
              <a:rPr sz="1875" b="0">
                <a:solidFill>
                  <a:srgbClr val="F4F7FB"/>
                </a:solidFill>
                <a:latin typeface="Consolas"/>
                <a:ea typeface="Consolas"/>
                <a:cs typeface="Consolas"/>
              </a:rPr>
              <a:t>if (step.done(f)) plan.i++</a:t>
            </a:r>
          </a:p>
          <a:p xmlns:a="http://schemas.openxmlformats.org/drawingml/2006/main">
            <a:pPr>
              <a:defRPr sz="1875" b="0">
                <a:solidFill>
                  <a:srgbClr val="F4F7FB"/>
                </a:solidFill>
                <a:latin typeface="Consolas"/>
                <a:ea typeface="Consolas"/>
                <a:cs typeface="Consolas"/>
              </a:defRPr>
            </a:pPr>
            <a:r>
              <a:rPr sz="1875" b="0">
                <a:solidFill>
                  <a:srgbClr val="F4F7FB"/>
                </a:solidFill>
                <a:latin typeface="Consolas"/>
                <a:ea typeface="Consolas"/>
                <a:cs typeface="Consolas"/>
              </a:rPr>
              <a:t>else return step.act(f)</a:t>
            </a:r>
          </a:p>
          <a:p xmlns:a="http://schemas.openxmlformats.org/drawingml/2006/main">
            <a:pPr>
              <a:defRPr sz="1875" b="0">
                <a:solidFill>
                  <a:srgbClr val="F4F7FB"/>
                </a:solidFill>
                <a:latin typeface="Consolas"/>
                <a:ea typeface="Consolas"/>
                <a:cs typeface="Consolas"/>
              </a:defRPr>
            </a:pPr>
            <a:r>
              <a:rPr sz="1875" b="0">
                <a:solidFill>
                  <a:srgbClr val="F4F7FB"/>
                </a:solidFill>
                <a:latin typeface="Consolas"/>
                <a:ea typeface="Consolas"/>
                <a:cs typeface="Consolas"/>
              </a:rPr>
              <a:t>// next turn: read fresh facts, repeat</a:t>
            </a:r>
          </a:p>
        </p:txBody>
      </p:sp>
      <p:sp>
        <p:nvSpPr>
          <p:cNvPr id="7" name="">
            <a:extLst xmlns:a="http://schemas.openxmlformats.org/drawingml/2006/main">
              <a:ext uri="{FF2B5EF4-FFF2-40B4-BE49-F238E27FC236}">
                <a16:creationId xmlns:a16="http://schemas.microsoft.com/office/drawing/2014/main" id="{30E8B6C0-1981-4D06-9782-D09BD7B66671}"/>
              </a:ext>
            </a:extLst>
          </p:cNvPr>
          <p:cNvSpPr>
            <a:spLocks xmlns:a="http://schemas.openxmlformats.org/drawingml/2006/main" noGrp="1"/>
          </p:cNvSpPr>
          <p:nvPr/>
        </p:nvSpPr>
        <p:spPr>
          <a:xfrm xmlns:a="http://schemas.openxmlformats.org/drawingml/2006/main">
            <a:off x="666750" y="4562475"/>
            <a:ext cx="10001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86B8FF"/>
                </a:solidFill>
                <a:latin typeface="Aptos"/>
                <a:ea typeface="Aptos"/>
                <a:cs typeface="Aptos"/>
              </a:defRPr>
            </a:pPr>
            <a:r>
              <a:rPr sz="1725" b="1">
                <a:solidFill>
                  <a:srgbClr val="86B8FF"/>
                </a:solidFill>
                <a:latin typeface="Aptos"/>
                <a:ea typeface="Aptos"/>
                <a:cs typeface="Aptos"/>
              </a:rPr>
              <a:t>Example done checks</a:t>
            </a:r>
          </a:p>
        </p:txBody>
      </p:sp>
      <p:sp>
        <p:nvSpPr>
          <p:cNvPr id="8" name="">
            <a:extLst xmlns:a="http://schemas.openxmlformats.org/drawingml/2006/main">
              <a:ext uri="{FF2B5EF4-FFF2-40B4-BE49-F238E27FC236}">
                <a16:creationId xmlns:a16="http://schemas.microsoft.com/office/drawing/2014/main" id="{9374173F-2383-4ED1-8304-4258BDB907EA}"/>
              </a:ext>
            </a:extLst>
          </p:cNvPr>
          <p:cNvSpPr>
            <a:spLocks xmlns:a="http://schemas.openxmlformats.org/drawingml/2006/main" noGrp="1"/>
          </p:cNvSpPr>
          <p:nvPr/>
        </p:nvSpPr>
        <p:spPr>
          <a:xfrm xmlns:a="http://schemas.openxmlformats.org/drawingml/2006/main">
            <a:off x="666750" y="5010150"/>
            <a:ext cx="10810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F4F7FB"/>
                </a:solidFill>
                <a:latin typeface="Aptos"/>
                <a:ea typeface="Aptos"/>
                <a:cs typeface="Aptos"/>
              </a:defRPr>
            </a:pPr>
            <a:r>
              <a:rPr sz="1950" b="0">
                <a:solidFill>
                  <a:srgbClr val="F4F7FB"/>
                </a:solidFill>
                <a:latin typeface="Aptos"/>
                <a:ea typeface="Aptos"/>
                <a:cs typeface="Aptos"/>
              </a:rPr>
              <a:t>gohome: mapKind === "town"     resume: same zone and depth reached</a:t>
            </a:r>
          </a:p>
        </p:txBody>
      </p:sp>
      <p:sp>
        <p:nvSpPr>
          <p:cNvPr id="9" name="">
            <a:extLst xmlns:a="http://schemas.openxmlformats.org/drawingml/2006/main">
              <a:ext uri="{FF2B5EF4-FFF2-40B4-BE49-F238E27FC236}">
                <a16:creationId xmlns:a16="http://schemas.microsoft.com/office/drawing/2014/main" id="{79B974A5-85EF-4F5D-813F-11F820AB46AD}"/>
              </a:ext>
            </a:extLst>
          </p:cNvPr>
          <p:cNvSpPr>
            <a:spLocks xmlns:a="http://schemas.openxmlformats.org/drawingml/2006/main" noGrp="1"/>
          </p:cNvSpPr>
          <p:nvPr/>
        </p:nvSpPr>
        <p:spPr>
          <a:xfrm xmlns:a="http://schemas.openxmlformats.org/drawingml/2006/main">
            <a:off x="666750" y="5762625"/>
            <a:ext cx="10810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AABBD0"/>
                </a:solidFill>
                <a:latin typeface="Aptos"/>
                <a:ea typeface="Aptos"/>
                <a:cs typeface="Aptos"/>
              </a:defRPr>
            </a:pPr>
            <a:r>
              <a:rPr sz="1575" b="0">
                <a:solidFill>
                  <a:srgbClr val="AABBD0"/>
                </a:solidFill>
                <a:latin typeface="Aptos"/>
                <a:ea typeface="Aptos"/>
                <a:cs typeface="Aptos"/>
              </a:rPr>
              <a:t>Safety can interrupt; the goal remains. 400-tick fuse and 80-tick cooldown bound stalls.</a:t>
            </a:r>
          </a:p>
        </p:txBody>
      </p:sp>
    </p:spTree>
    <p:extLst>
      <p:ext uri="{BB962C8B-B14F-4D97-AF65-F5344CB8AC3E}">
        <p14:creationId xmlns:p14="http://schemas.microsoft.com/office/powerpoint/2010/main" val="258282852"/>
      </p:ext>
    </p:extLst>
  </p:cSld>
</p:sld>
</file>

<file path=ppt/slides/slide7.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D3A96A1-4056-4EF7-B265-60B805967620}"/>
              </a:ext>
            </a:extLst>
          </p:cNvPr>
          <p:cNvSpPr>
            <a:spLocks xmlns:a="http://schemas.openxmlformats.org/drawingml/2006/main" noGrp="1"/>
          </p:cNvSpPr>
          <p:nvPr/>
        </p:nvSpPr>
        <p:spPr>
          <a:xfrm xmlns:a="http://schemas.openxmlformats.org/drawingml/2006/main">
            <a:off x="647700" y="34290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4F7FB"/>
                </a:solidFill>
                <a:latin typeface="Aptos"/>
                <a:ea typeface="Aptos"/>
                <a:cs typeface="Aptos"/>
              </a:defRPr>
            </a:pPr>
            <a:r>
              <a:rPr sz="3150" b="1">
                <a:solidFill>
                  <a:srgbClr val="F4F7FB"/>
                </a:solidFill>
                <a:latin typeface="Aptos"/>
                <a:ea typeface="Aptos"/>
                <a:cs typeface="Aptos"/>
              </a:rPr>
              <a:t>The same boundary in model routing</a:t>
            </a:r>
          </a:p>
        </p:txBody>
      </p:sp>
      <p:sp>
        <p:nvSpPr>
          <p:cNvPr id="2" name="">
            <a:extLst xmlns:a="http://schemas.openxmlformats.org/drawingml/2006/main">
              <a:ext uri="{FF2B5EF4-FFF2-40B4-BE49-F238E27FC236}">
                <a16:creationId xmlns:a16="http://schemas.microsoft.com/office/drawing/2014/main" id="{66FA2336-4B16-4FCA-989D-2FA1BFBD98C6}"/>
              </a:ext>
            </a:extLst>
          </p:cNvPr>
          <p:cNvSpPr>
            <a:spLocks xmlns:a="http://schemas.openxmlformats.org/drawingml/2006/main" noGrp="1"/>
          </p:cNvSpPr>
          <p:nvPr/>
        </p:nvSpPr>
        <p:spPr>
          <a:xfrm xmlns:a="http://schemas.openxmlformats.org/drawingml/2006/main">
            <a:off x="647700" y="1200150"/>
            <a:ext cx="10896600" cy="19050"/>
          </a:xfrm>
          <a:prstGeom xmlns:a="http://schemas.openxmlformats.org/drawingml/2006/main" prst="rect">
            <a:avLst/>
          </a:prstGeom>
          <a:solidFill xmlns:a="http://schemas.openxmlformats.org/drawingml/2006/main">
            <a:srgbClr val="3B4A5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4EECC3A-8D90-4F07-A47B-08A5147A3B6A}"/>
              </a:ext>
            </a:extLst>
          </p:cNvPr>
          <p:cNvSpPr>
            <a:spLocks xmlns:a="http://schemas.openxmlformats.org/drawingml/2006/main" noGrp="1"/>
          </p:cNvSpPr>
          <p:nvPr/>
        </p:nvSpPr>
        <p:spPr>
          <a:xfrm xmlns:a="http://schemas.openxmlformats.org/drawingml/2006/main">
            <a:off x="647700" y="64103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AABBD0"/>
                </a:solidFill>
                <a:latin typeface="Aptos"/>
                <a:ea typeface="Aptos"/>
                <a:cs typeface="Aptos"/>
              </a:defRPr>
            </a:pPr>
            <a:r>
              <a:rPr sz="1200" b="0">
                <a:solidFill>
                  <a:srgbClr val="AABBD0"/>
                </a:solidFill>
                <a:latin typeface="Aptos"/>
                <a:ea typeface="Aptos"/>
                <a:cs typeface="Aptos"/>
              </a:rPr>
              <a:t>LayA · RogueRNG    7/8</a:t>
            </a:r>
          </a:p>
        </p:txBody>
      </p:sp>
      <p:sp>
        <p:nvSpPr>
          <p:cNvPr id="4" name="">
            <a:extLst xmlns:a="http://schemas.openxmlformats.org/drawingml/2006/main">
              <a:ext uri="{FF2B5EF4-FFF2-40B4-BE49-F238E27FC236}">
                <a16:creationId xmlns:a16="http://schemas.microsoft.com/office/drawing/2014/main" id="{0A897EB2-C7BB-4706-9880-4979ACB22BEE}"/>
              </a:ext>
            </a:extLst>
          </p:cNvPr>
          <p:cNvSpPr>
            <a:spLocks xmlns:a="http://schemas.openxmlformats.org/drawingml/2006/main" noGrp="1"/>
          </p:cNvSpPr>
          <p:nvPr/>
        </p:nvSpPr>
        <p:spPr>
          <a:xfrm xmlns:a="http://schemas.openxmlformats.org/drawingml/2006/main">
            <a:off x="666750" y="160020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72E0BC"/>
                </a:solidFill>
                <a:latin typeface="Aptos"/>
                <a:ea typeface="Aptos"/>
                <a:cs typeface="Aptos"/>
              </a:defRPr>
            </a:pPr>
            <a:r>
              <a:rPr sz="2100" b="1">
                <a:solidFill>
                  <a:srgbClr val="72E0BC"/>
                </a:solidFill>
                <a:latin typeface="Aptos"/>
                <a:ea typeface="Aptos"/>
                <a:cs typeface="Aptos"/>
              </a:rPr>
              <a:t>Simple decision</a:t>
            </a:r>
          </a:p>
        </p:txBody>
      </p:sp>
      <p:sp>
        <p:nvSpPr>
          <p:cNvPr id="5" name="">
            <a:extLst xmlns:a="http://schemas.openxmlformats.org/drawingml/2006/main">
              <a:ext uri="{FF2B5EF4-FFF2-40B4-BE49-F238E27FC236}">
                <a16:creationId xmlns:a16="http://schemas.microsoft.com/office/drawing/2014/main" id="{0F2DB2AC-9AD0-4A86-8D80-ABA1F3861DB5}"/>
              </a:ext>
            </a:extLst>
          </p:cNvPr>
          <p:cNvSpPr>
            <a:spLocks xmlns:a="http://schemas.openxmlformats.org/drawingml/2006/main" noGrp="1"/>
          </p:cNvSpPr>
          <p:nvPr/>
        </p:nvSpPr>
        <p:spPr>
          <a:xfrm xmlns:a="http://schemas.openxmlformats.org/drawingml/2006/main">
            <a:off x="666750" y="2124075"/>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F4F7FB"/>
                </a:solidFill>
                <a:latin typeface="Aptos"/>
                <a:ea typeface="Aptos"/>
                <a:cs typeface="Aptos"/>
              </a:defRPr>
            </a:pPr>
            <a:r>
              <a:rPr sz="2400" b="0">
                <a:solidFill>
                  <a:srgbClr val="F4F7FB"/>
                </a:solidFill>
                <a:latin typeface="Aptos"/>
                <a:ea typeface="Aptos"/>
                <a:cs typeface="Aptos"/>
              </a:rPr>
              <a:t>Which eligible model suits this task?</a:t>
            </a:r>
          </a:p>
        </p:txBody>
      </p:sp>
      <p:sp>
        <p:nvSpPr>
          <p:cNvPr id="6" name="">
            <a:extLst xmlns:a="http://schemas.openxmlformats.org/drawingml/2006/main">
              <a:ext uri="{FF2B5EF4-FFF2-40B4-BE49-F238E27FC236}">
                <a16:creationId xmlns:a16="http://schemas.microsoft.com/office/drawing/2014/main" id="{47A212A0-2D90-480B-BB4C-44A58883D256}"/>
              </a:ext>
            </a:extLst>
          </p:cNvPr>
          <p:cNvSpPr>
            <a:spLocks xmlns:a="http://schemas.openxmlformats.org/drawingml/2006/main" noGrp="1"/>
          </p:cNvSpPr>
          <p:nvPr/>
        </p:nvSpPr>
        <p:spPr>
          <a:xfrm xmlns:a="http://schemas.openxmlformats.org/drawingml/2006/main">
            <a:off x="647700" y="3133725"/>
            <a:ext cx="10896600" cy="19050"/>
          </a:xfrm>
          <a:prstGeom xmlns:a="http://schemas.openxmlformats.org/drawingml/2006/main" prst="rect">
            <a:avLst/>
          </a:prstGeom>
          <a:solidFill xmlns:a="http://schemas.openxmlformats.org/drawingml/2006/main">
            <a:srgbClr val="3B4A5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0B7A63B-629D-4888-B062-3B62659D4856}"/>
              </a:ext>
            </a:extLst>
          </p:cNvPr>
          <p:cNvSpPr>
            <a:spLocks xmlns:a="http://schemas.openxmlformats.org/drawingml/2006/main" noGrp="1"/>
          </p:cNvSpPr>
          <p:nvPr/>
        </p:nvSpPr>
        <p:spPr>
          <a:xfrm xmlns:a="http://schemas.openxmlformats.org/drawingml/2006/main">
            <a:off x="666750" y="347662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86B8FF"/>
                </a:solidFill>
                <a:latin typeface="Aptos"/>
                <a:ea typeface="Aptos"/>
                <a:cs typeface="Aptos"/>
              </a:defRPr>
            </a:pPr>
            <a:r>
              <a:rPr sz="2100" b="1">
                <a:solidFill>
                  <a:srgbClr val="86B8FF"/>
                </a:solidFill>
                <a:latin typeface="Aptos"/>
                <a:ea typeface="Aptos"/>
                <a:cs typeface="Aptos"/>
              </a:rPr>
              <a:t>Chained work</a:t>
            </a:r>
          </a:p>
        </p:txBody>
      </p:sp>
      <p:sp>
        <p:nvSpPr>
          <p:cNvPr id="8" name="">
            <a:extLst xmlns:a="http://schemas.openxmlformats.org/drawingml/2006/main">
              <a:ext uri="{FF2B5EF4-FFF2-40B4-BE49-F238E27FC236}">
                <a16:creationId xmlns:a16="http://schemas.microsoft.com/office/drawing/2014/main" id="{4F32FE0A-A607-40F5-8406-A9B91BBAD919}"/>
              </a:ext>
            </a:extLst>
          </p:cNvPr>
          <p:cNvSpPr>
            <a:spLocks xmlns:a="http://schemas.openxmlformats.org/drawingml/2006/main" noGrp="1"/>
          </p:cNvSpPr>
          <p:nvPr/>
        </p:nvSpPr>
        <p:spPr>
          <a:xfrm xmlns:a="http://schemas.openxmlformats.org/drawingml/2006/main">
            <a:off x="666750" y="40195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F4F7FB"/>
                </a:solidFill>
                <a:latin typeface="Aptos"/>
                <a:ea typeface="Aptos"/>
                <a:cs typeface="Aptos"/>
              </a:defRPr>
            </a:pPr>
            <a:r>
              <a:rPr sz="2250" b="0">
                <a:solidFill>
                  <a:srgbClr val="F4F7FB"/>
                </a:solidFill>
                <a:latin typeface="Aptos"/>
                <a:ea typeface="Aptos"/>
                <a:cs typeface="Aptos"/>
              </a:rPr>
              <a:t>plan → choose model → execute → verify → retry or escalate</a:t>
            </a:r>
          </a:p>
        </p:txBody>
      </p:sp>
      <p:sp>
        <p:nvSpPr>
          <p:cNvPr id="9" name="">
            <a:extLst xmlns:a="http://schemas.openxmlformats.org/drawingml/2006/main">
              <a:ext uri="{FF2B5EF4-FFF2-40B4-BE49-F238E27FC236}">
                <a16:creationId xmlns:a16="http://schemas.microsoft.com/office/drawing/2014/main" id="{EBD66709-383F-4CF7-B1FA-D6D183CB2F69}"/>
              </a:ext>
            </a:extLst>
          </p:cNvPr>
          <p:cNvSpPr>
            <a:spLocks xmlns:a="http://schemas.openxmlformats.org/drawingml/2006/main" noGrp="1"/>
          </p:cNvSpPr>
          <p:nvPr/>
        </p:nvSpPr>
        <p:spPr>
          <a:xfrm xmlns:a="http://schemas.openxmlformats.org/drawingml/2006/main">
            <a:off x="647700" y="5153025"/>
            <a:ext cx="10896600" cy="19050"/>
          </a:xfrm>
          <a:prstGeom xmlns:a="http://schemas.openxmlformats.org/drawingml/2006/main" prst="rect">
            <a:avLst/>
          </a:prstGeom>
          <a:solidFill xmlns:a="http://schemas.openxmlformats.org/drawingml/2006/main">
            <a:srgbClr val="3B4A5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2F65CD1-AD61-49CB-9953-1EAA8C449411}"/>
              </a:ext>
            </a:extLst>
          </p:cNvPr>
          <p:cNvSpPr>
            <a:spLocks xmlns:a="http://schemas.openxmlformats.org/drawingml/2006/main" noGrp="1"/>
          </p:cNvSpPr>
          <p:nvPr/>
        </p:nvSpPr>
        <p:spPr>
          <a:xfrm xmlns:a="http://schemas.openxmlformats.org/drawingml/2006/main">
            <a:off x="666750" y="54292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FFD193"/>
                </a:solidFill>
                <a:latin typeface="Aptos"/>
                <a:ea typeface="Aptos"/>
                <a:cs typeface="Aptos"/>
              </a:defRPr>
            </a:pPr>
            <a:r>
              <a:rPr sz="2025" b="1">
                <a:solidFill>
                  <a:srgbClr val="FFD193"/>
                </a:solidFill>
                <a:latin typeface="Aptos"/>
                <a:ea typeface="Aptos"/>
                <a:cs typeface="Aptos"/>
              </a:rPr>
              <a:t>Replace broad size tiers with task-specific evidence, then check the outcome.</a:t>
            </a:r>
          </a:p>
        </p:txBody>
      </p:sp>
    </p:spTree>
    <p:extLst>
      <p:ext uri="{BB962C8B-B14F-4D97-AF65-F5344CB8AC3E}">
        <p14:creationId xmlns:p14="http://schemas.microsoft.com/office/powerpoint/2010/main" val="1856120338"/>
      </p:ext>
    </p:extLst>
  </p:cSld>
</p:sld>
</file>

<file path=ppt/slides/slide8.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A1632F1-A211-40C1-88DC-D95C972D39AF}"/>
              </a:ext>
            </a:extLst>
          </p:cNvPr>
          <p:cNvSpPr>
            <a:spLocks xmlns:a="http://schemas.openxmlformats.org/drawingml/2006/main" noGrp="1"/>
          </p:cNvSpPr>
          <p:nvPr/>
        </p:nvSpPr>
        <p:spPr>
          <a:xfrm xmlns:a="http://schemas.openxmlformats.org/drawingml/2006/main">
            <a:off x="647700" y="34290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4F7FB"/>
                </a:solidFill>
                <a:latin typeface="Aptos"/>
                <a:ea typeface="Aptos"/>
                <a:cs typeface="Aptos"/>
              </a:defRPr>
            </a:pPr>
            <a:r>
              <a:rPr sz="3150" b="1">
                <a:solidFill>
                  <a:srgbClr val="F4F7FB"/>
                </a:solidFill>
                <a:latin typeface="Aptos"/>
                <a:ea typeface="Aptos"/>
                <a:cs typeface="Aptos"/>
              </a:rPr>
              <a:t>A decision head trained for the domain</a:t>
            </a:r>
          </a:p>
        </p:txBody>
      </p:sp>
      <p:sp>
        <p:nvSpPr>
          <p:cNvPr id="2" name="">
            <a:extLst xmlns:a="http://schemas.openxmlformats.org/drawingml/2006/main">
              <a:ext uri="{FF2B5EF4-FFF2-40B4-BE49-F238E27FC236}">
                <a16:creationId xmlns:a16="http://schemas.microsoft.com/office/drawing/2014/main" id="{2FF9B99A-946B-405B-B89F-E7DCFDE9626E}"/>
              </a:ext>
            </a:extLst>
          </p:cNvPr>
          <p:cNvSpPr>
            <a:spLocks xmlns:a="http://schemas.openxmlformats.org/drawingml/2006/main" noGrp="1"/>
          </p:cNvSpPr>
          <p:nvPr/>
        </p:nvSpPr>
        <p:spPr>
          <a:xfrm xmlns:a="http://schemas.openxmlformats.org/drawingml/2006/main">
            <a:off x="647700" y="1200150"/>
            <a:ext cx="10896600" cy="19050"/>
          </a:xfrm>
          <a:prstGeom xmlns:a="http://schemas.openxmlformats.org/drawingml/2006/main" prst="rect">
            <a:avLst/>
          </a:prstGeom>
          <a:solidFill xmlns:a="http://schemas.openxmlformats.org/drawingml/2006/main">
            <a:srgbClr val="3B4A5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BBEAB5B-5CC6-41A4-AACD-D44C2186768A}"/>
              </a:ext>
            </a:extLst>
          </p:cNvPr>
          <p:cNvSpPr>
            <a:spLocks xmlns:a="http://schemas.openxmlformats.org/drawingml/2006/main" noGrp="1"/>
          </p:cNvSpPr>
          <p:nvPr/>
        </p:nvSpPr>
        <p:spPr>
          <a:xfrm xmlns:a="http://schemas.openxmlformats.org/drawingml/2006/main">
            <a:off x="647700" y="64103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AABBD0"/>
                </a:solidFill>
                <a:latin typeface="Aptos"/>
                <a:ea typeface="Aptos"/>
                <a:cs typeface="Aptos"/>
              </a:defRPr>
            </a:pPr>
            <a:r>
              <a:rPr sz="1200" b="0">
                <a:solidFill>
                  <a:srgbClr val="AABBD0"/>
                </a:solidFill>
                <a:latin typeface="Aptos"/>
                <a:ea typeface="Aptos"/>
                <a:cs typeface="Aptos"/>
              </a:rPr>
              <a:t>LayA · RogueRNG    8/8</a:t>
            </a:r>
          </a:p>
        </p:txBody>
      </p:sp>
      <p:sp>
        <p:nvSpPr>
          <p:cNvPr id="4" name="">
            <a:extLst xmlns:a="http://schemas.openxmlformats.org/drawingml/2006/main">
              <a:ext uri="{FF2B5EF4-FFF2-40B4-BE49-F238E27FC236}">
                <a16:creationId xmlns:a16="http://schemas.microsoft.com/office/drawing/2014/main" id="{06856460-180A-443E-9982-2E89A7477D7F}"/>
              </a:ext>
            </a:extLst>
          </p:cNvPr>
          <p:cNvSpPr>
            <a:spLocks xmlns:a="http://schemas.openxmlformats.org/drawingml/2006/main" noGrp="1"/>
          </p:cNvSpPr>
          <p:nvPr/>
        </p:nvSpPr>
        <p:spPr>
          <a:xfrm xmlns:a="http://schemas.openxmlformats.org/drawingml/2006/main">
            <a:off x="666750" y="16668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F4F7FB"/>
                </a:solidFill>
                <a:latin typeface="Aptos"/>
                <a:ea typeface="Aptos"/>
                <a:cs typeface="Aptos"/>
              </a:defRPr>
            </a:pPr>
            <a:r>
              <a:rPr sz="2325" b="0">
                <a:solidFill>
                  <a:srgbClr val="F4F7FB"/>
                </a:solidFill>
                <a:latin typeface="Aptos"/>
                <a:ea typeface="Aptos"/>
                <a:cs typeface="Aptos"/>
              </a:rPr>
              <a:t>Collect labeled decisions from one client or industry workflow</a:t>
            </a:r>
          </a:p>
        </p:txBody>
      </p:sp>
      <p:sp>
        <p:nvSpPr>
          <p:cNvPr id="5" name="">
            <a:extLst xmlns:a="http://schemas.openxmlformats.org/drawingml/2006/main">
              <a:ext uri="{FF2B5EF4-FFF2-40B4-BE49-F238E27FC236}">
                <a16:creationId xmlns:a16="http://schemas.microsoft.com/office/drawing/2014/main" id="{EBC3FD1E-F1C7-4F54-8914-66578E939F40}"/>
              </a:ext>
            </a:extLst>
          </p:cNvPr>
          <p:cNvSpPr>
            <a:spLocks xmlns:a="http://schemas.openxmlformats.org/drawingml/2006/main" noGrp="1"/>
          </p:cNvSpPr>
          <p:nvPr/>
        </p:nvSpPr>
        <p:spPr>
          <a:xfrm xmlns:a="http://schemas.openxmlformats.org/drawingml/2006/main">
            <a:off x="666750" y="28956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72E0BC"/>
                </a:solidFill>
                <a:latin typeface="Aptos"/>
                <a:ea typeface="Aptos"/>
                <a:cs typeface="Aptos"/>
              </a:defRPr>
            </a:pPr>
            <a:r>
              <a:rPr sz="2250" b="1">
                <a:solidFill>
                  <a:srgbClr val="72E0BC"/>
                </a:solidFill>
                <a:latin typeface="Aptos"/>
                <a:ea typeface="Aptos"/>
                <a:cs typeface="Aptos"/>
              </a:rPr>
              <a:t>→  Train the typed classifier on the recurring judgments</a:t>
            </a:r>
          </a:p>
        </p:txBody>
      </p:sp>
      <p:sp>
        <p:nvSpPr>
          <p:cNvPr id="6" name="">
            <a:extLst xmlns:a="http://schemas.openxmlformats.org/drawingml/2006/main">
              <a:ext uri="{FF2B5EF4-FFF2-40B4-BE49-F238E27FC236}">
                <a16:creationId xmlns:a16="http://schemas.microsoft.com/office/drawing/2014/main" id="{7CAC0052-8F23-42F9-A312-47085F38BEA1}"/>
              </a:ext>
            </a:extLst>
          </p:cNvPr>
          <p:cNvSpPr>
            <a:spLocks xmlns:a="http://schemas.openxmlformats.org/drawingml/2006/main" noGrp="1"/>
          </p:cNvSpPr>
          <p:nvPr/>
        </p:nvSpPr>
        <p:spPr>
          <a:xfrm xmlns:a="http://schemas.openxmlformats.org/drawingml/2006/main">
            <a:off x="666750" y="3962400"/>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86B8FF"/>
                </a:solidFill>
                <a:latin typeface="Aptos"/>
                <a:ea typeface="Aptos"/>
                <a:cs typeface="Aptos"/>
              </a:defRPr>
            </a:pPr>
            <a:r>
              <a:rPr sz="2100" b="1">
                <a:solidFill>
                  <a:srgbClr val="86B8FF"/>
                </a:solidFill>
                <a:latin typeface="Aptos"/>
                <a:ea typeface="Aptos"/>
                <a:cs typeface="Aptos"/>
              </a:rPr>
              <a:t>→  Test quality, calibration, latency, cost and fallback on held-out cases</a:t>
            </a:r>
          </a:p>
        </p:txBody>
      </p:sp>
      <p:sp>
        <p:nvSpPr>
          <p:cNvPr id="7" name="">
            <a:extLst xmlns:a="http://schemas.openxmlformats.org/drawingml/2006/main">
              <a:ext uri="{FF2B5EF4-FFF2-40B4-BE49-F238E27FC236}">
                <a16:creationId xmlns:a16="http://schemas.microsoft.com/office/drawing/2014/main" id="{1D7332CD-88AB-46DA-8077-05883831DD1B}"/>
              </a:ext>
            </a:extLst>
          </p:cNvPr>
          <p:cNvSpPr>
            <a:spLocks xmlns:a="http://schemas.openxmlformats.org/drawingml/2006/main" noGrp="1"/>
          </p:cNvSpPr>
          <p:nvPr/>
        </p:nvSpPr>
        <p:spPr>
          <a:xfrm xmlns:a="http://schemas.openxmlformats.org/drawingml/2006/main">
            <a:off x="647700" y="5200650"/>
            <a:ext cx="10896600" cy="19050"/>
          </a:xfrm>
          <a:prstGeom xmlns:a="http://schemas.openxmlformats.org/drawingml/2006/main" prst="rect">
            <a:avLst/>
          </a:prstGeom>
          <a:solidFill xmlns:a="http://schemas.openxmlformats.org/drawingml/2006/main">
            <a:srgbClr val="3B4A5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591B286-593B-451C-A200-6EF1C8542325}"/>
              </a:ext>
            </a:extLst>
          </p:cNvPr>
          <p:cNvSpPr>
            <a:spLocks xmlns:a="http://schemas.openxmlformats.org/drawingml/2006/main" noGrp="1"/>
          </p:cNvSpPr>
          <p:nvPr/>
        </p:nvSpPr>
        <p:spPr>
          <a:xfrm xmlns:a="http://schemas.openxmlformats.org/drawingml/2006/main">
            <a:off x="666750" y="54864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FFD193"/>
                </a:solidFill>
                <a:latin typeface="Aptos"/>
                <a:ea typeface="Aptos"/>
                <a:cs typeface="Aptos"/>
              </a:defRPr>
            </a:pPr>
            <a:r>
              <a:rPr sz="2175" b="1">
                <a:solidFill>
                  <a:srgbClr val="FFD193"/>
                </a:solidFill>
                <a:latin typeface="Aptos"/>
                <a:ea typeface="Aptos"/>
                <a:cs typeface="Aptos"/>
              </a:rPr>
              <a:t>Where would a fast specialist earn authority in your workflow?</a:t>
            </a:r>
          </a:p>
        </p:txBody>
      </p:sp>
    </p:spTree>
    <p:extLst>
      <p:ext uri="{BB962C8B-B14F-4D97-AF65-F5344CB8AC3E}">
        <p14:creationId xmlns:p14="http://schemas.microsoft.com/office/powerpoint/2010/main" val="14544295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2026-09-24T15:17:24.1290000Z</dcterms:created>
  <dcterms:modified xsi:type="dcterms:W3CDTF">2026-09-24T15:17:24.1290000Z</dcterms:modified>
</coreProperties>
</file>