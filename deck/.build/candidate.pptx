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ce79436104d4e71" /><Relationship Type="http://schemas.openxmlformats.org/officeDocument/2006/relationships/extended-properties" Target="/docProps/app.xml" Id="R91ee327307a94dea" /><Relationship Type="http://schemas.openxmlformats.org/officeDocument/2006/relationships/officeDocument" Target="/ppt/presentation.xml" Id="Rd8641a71b32b4757" /></Relationships>
</file>

<file path=ppt/presentation.xml><?xml version="1.0" encoding="utf-8"?>
<p:presentation xmlns:p="http://schemas.openxmlformats.org/presentationml/2006/main">
  <p:sldMasterIdLst>
    <p:sldMasterId xmlns:r="http://schemas.openxmlformats.org/officeDocument/2006/relationships" id="2147483648" r:id="R066cc8f462c4405d"/>
  </p:sldMasterIdLst>
  <p:notesMasterIdLst>
    <p:notesMasterId xmlns:r="http://schemas.openxmlformats.org/officeDocument/2006/relationships" r:id="R0cd60283c75d4a67"/>
  </p:notesMasterIdLst>
  <p:sldIdLst>
    <p:sldId xmlns:r="http://schemas.openxmlformats.org/officeDocument/2006/relationships" id="256" r:id="Rd3a1a15c4e8a41ff"/>
    <p:sldId xmlns:r="http://schemas.openxmlformats.org/officeDocument/2006/relationships" id="257" r:id="R3291382c6eec4b60"/>
    <p:sldId xmlns:r="http://schemas.openxmlformats.org/officeDocument/2006/relationships" id="258" r:id="R5475ffa4d05a4302"/>
    <p:sldId xmlns:r="http://schemas.openxmlformats.org/officeDocument/2006/relationships" id="259" r:id="Rd92e2bf5867f4141"/>
    <p:sldId xmlns:r="http://schemas.openxmlformats.org/officeDocument/2006/relationships" id="260" r:id="R1f732203db354553"/>
    <p:sldId xmlns:r="http://schemas.openxmlformats.org/officeDocument/2006/relationships" id="261" r:id="R47167e7a9deb498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03e890a9cbd45fd" /><Relationship Type="http://schemas.openxmlformats.org/officeDocument/2006/relationships/slideMaster" Target="/ppt/slideMasters/slideMaster1.xml" Id="R066cc8f462c4405d" /><Relationship Type="http://schemas.openxmlformats.org/officeDocument/2006/relationships/notesMaster" Target="/ppt/notesMasters/notesMaster1.xml" Id="R0cd60283c75d4a67" /><Relationship Type="http://schemas.openxmlformats.org/officeDocument/2006/relationships/presProps" Target="/ppt/presProps.xml" Id="R53596391503649cc" /><Relationship Type="http://schemas.openxmlformats.org/officeDocument/2006/relationships/tableStyles" Target="/ppt/tableStyles.xml" Id="R81f25706c86f4bf8" /><Relationship Type="http://schemas.openxmlformats.org/officeDocument/2006/relationships/slide" Target="/ppt/slides/slide1.xml" Id="Rd3a1a15c4e8a41ff" /><Relationship Type="http://schemas.openxmlformats.org/officeDocument/2006/relationships/slide" Target="/ppt/slides/slide2.xml" Id="R3291382c6eec4b60" /><Relationship Type="http://schemas.openxmlformats.org/officeDocument/2006/relationships/slide" Target="/ppt/slides/slide3.xml" Id="R5475ffa4d05a4302" /><Relationship Type="http://schemas.openxmlformats.org/officeDocument/2006/relationships/slide" Target="/ppt/slides/slide4.xml" Id="Rd92e2bf5867f4141" /><Relationship Type="http://schemas.openxmlformats.org/officeDocument/2006/relationships/slide" Target="/ppt/slides/slide5.xml" Id="R1f732203db354553" /><Relationship Type="http://schemas.openxmlformats.org/officeDocument/2006/relationships/slide" Target="/ppt/slides/slide6.xml" Id="R47167e7a9deb498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c0cdd75b8a049d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5bb30596bc34426" /><Relationship Type="http://schemas.openxmlformats.org/officeDocument/2006/relationships/notesMaster" Target="/ppt/notesMasters/notesMaster1.xml" Id="R184fcfd1d5b94a6e" /></Relationships>
</file>

<file path=ppt/notesSlides/_rels/notesSlide2.xml.rels>&#65279;<?xml version="1.0" encoding="utf-8"?><Relationships xmlns="http://schemas.openxmlformats.org/package/2006/relationships"><Relationship Type="http://schemas.openxmlformats.org/officeDocument/2006/relationships/slide" Target="/ppt/slides/slide2.xml" Id="R0406892897324706" /><Relationship Type="http://schemas.openxmlformats.org/officeDocument/2006/relationships/notesMaster" Target="/ppt/notesMasters/notesMaster1.xml" Id="Rfa19dce54ba441eb" /></Relationships>
</file>

<file path=ppt/notesSlides/_rels/notesSlide3.xml.rels>&#65279;<?xml version="1.0" encoding="utf-8"?><Relationships xmlns="http://schemas.openxmlformats.org/package/2006/relationships"><Relationship Type="http://schemas.openxmlformats.org/officeDocument/2006/relationships/slide" Target="/ppt/slides/slide3.xml" Id="R56ca63ef9fe9452e" /><Relationship Type="http://schemas.openxmlformats.org/officeDocument/2006/relationships/notesMaster" Target="/ppt/notesMasters/notesMaster1.xml" Id="R35fbaab1089f43a4" /></Relationships>
</file>

<file path=ppt/notesSlides/_rels/notesSlide4.xml.rels>&#65279;<?xml version="1.0" encoding="utf-8"?><Relationships xmlns="http://schemas.openxmlformats.org/package/2006/relationships"><Relationship Type="http://schemas.openxmlformats.org/officeDocument/2006/relationships/slide" Target="/ppt/slides/slide4.xml" Id="R9d5431d65ab1420f" /><Relationship Type="http://schemas.openxmlformats.org/officeDocument/2006/relationships/notesMaster" Target="/ppt/notesMasters/notesMaster1.xml" Id="R110cfbcbc1174754" /></Relationships>
</file>

<file path=ppt/notesSlides/_rels/notesSlide5.xml.rels>&#65279;<?xml version="1.0" encoding="utf-8"?><Relationships xmlns="http://schemas.openxmlformats.org/package/2006/relationships"><Relationship Type="http://schemas.openxmlformats.org/officeDocument/2006/relationships/slide" Target="/ppt/slides/slide5.xml" Id="R0b1721a45bfc42a6" /><Relationship Type="http://schemas.openxmlformats.org/officeDocument/2006/relationships/notesMaster" Target="/ppt/notesMasters/notesMaster1.xml" Id="R79fb29bb2c0a402c" /></Relationships>
</file>

<file path=ppt/notesSlides/_rels/notesSlide6.xml.rels>&#65279;<?xml version="1.0" encoding="utf-8"?><Relationships xmlns="http://schemas.openxmlformats.org/package/2006/relationships"><Relationship Type="http://schemas.openxmlformats.org/officeDocument/2006/relationships/slide" Target="/ppt/slides/slide6.xml" Id="R81dbf5badc234264" /><Relationship Type="http://schemas.openxmlformats.org/officeDocument/2006/relationships/notesMaster" Target="/ppt/notesMasters/notesMaster1.xml" Id="R5b2e311ca951464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(about 50 seconds). My son and I built this with OpenCode and a local Qwen model, without using a frontier model for implementation. RogueRNG gives us a compact but realistic workflow: there are immediate choices such as fight, heal or explore, and persistent goals such as selling a full bag and resuming the same dungeon depth. The experiment is whether a classifier can supply cheap typed signals while code and a hierarchical task planner retain control. Show the running game briefly. This is a demonstration of the architecture, not proof of production accuracy. Source: local README.md, bridge/matrix.py, game/src/laya/planner.js.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75 seconds. matrix.py is the key learning artifact. This uses the Jev-style typed decision interface. It declares one closed-set Choice for eleven possible intentions, one ordered threat Score, and five Noul yes/no probabilities. The bridge sends the state and all seven questions in one predict call. We do not ask it to generate instructions or parse prose. The response includes the intent distribution and typed values. A selected label is not necessarily a correct decision; the policy gates it against confidence and executable game facts. The current base checkpoint is exploratory, so do not describe these probabilities as calibrated for the game. Sources: local bridge/matrix.py, bridge/server.py, game/src/laya/policy.js; upstream Laya README: https://github.com/NandhaKishorM/laya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75 seconds. HTN means hierarchical task network: a goal expands into a method, which is an ordered list of tasks. Here the triggers are a mixture of explicit facts and one model probability for pack tending. The planner merges all active goals, removes repeated tasks, and moves resume to the end. Therefore three reasons to visit town can become one trip. Each task has a done condition and an act method; the plan persists across turns. Immediate safety still has priority, and a combat action can happen while a plan is active. Do not imply the model invents the long plan: planner.js defines the methods. Source: local game/src/laya/planner.js and game/src/laya/policy.js.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60 seconds. The classifier is suited to decisions with a bounded set of answers that repeat often. One model request gives us seven typed answers, so there is no generated JSON step to parse. The policy still executes actions in a fixed priority: safety, a current plan, a validated model intent, then deterministic fallback. The dashboard records latency and which layer actually decided each turn. These are useful observability measures, but this game has not established a comparative speed, cost, or quality advantage over an LLM baseline. That is what an evaluation would need to measure. Sources: local bridge/matrix.py, bridge/server.py, game/src/laya/policy.js, dashboard/index.html.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About 60 seconds. In my working-skills repository, planning currently labels work with broad difficulty tiers. A decision model could use richer task context to recommend the execution model. For example, the question “Opus or Sol for this job?” should be answered from evaluations of similar jobs, with the available tools, required quality, latency and cost taken into account. The classifier would recommend a route; eligibility rules and fallback would remain explicit. This is a proposed extension. It is not wired into the repository today and I have not measured a winner between those named models. Source for the current tier concept: the presenter's working-skills workflow description. The local game demonstrates typed decision routing, not model selection.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(about 60 seconds). The practical next experiment is domain specialization. Gather representative decisions and outcomes from one workflow, define the available actions and abstention path, fine-tune or otherwise adapt the classifier, and evaluate on held-out cases. Measure whether the signal is accurate and calibrated enough for its assigned authority. Start with suggestions or routing recommendations and preserve validation and escalation. The open question for this team is which high-volume bounded decision would be worth testing first. Upstream Laya explicitly describes fine-tuning a fast decision head and warns against treating the base model as a zero-shot engine. Source: https://github.com/NandhaKishorM/laya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07ab310c91b42f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2296071d00a42b5" /><Relationship Type="http://schemas.openxmlformats.org/officeDocument/2006/relationships/slideLayout" Target="/ppt/slideLayouts/slideLayout1.xml" Id="R7169ce7d9ac342e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169ce7d9ac342e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1fbe1b5d5bd4a04" /><Relationship Type="http://schemas.openxmlformats.org/officeDocument/2006/relationships/notesSlide" Target="/ppt/notesSlides/notesSlide1.xml" Id="R8f6d77f2295a4e7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cc370b0d2a24871" /><Relationship Type="http://schemas.openxmlformats.org/officeDocument/2006/relationships/notesSlide" Target="/ppt/notesSlides/notesSlide2.xml" Id="R8c2353e62919470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50df8c2706f4a4f" /><Relationship Type="http://schemas.openxmlformats.org/officeDocument/2006/relationships/notesSlide" Target="/ppt/notesSlides/notesSlide3.xml" Id="Rb8f1e702f6d0447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4a3e1bcd4a54312" /><Relationship Type="http://schemas.openxmlformats.org/officeDocument/2006/relationships/notesSlide" Target="/ppt/notesSlides/notesSlide4.xml" Id="Re26024decae7470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a4936f447424cab" /><Relationship Type="http://schemas.openxmlformats.org/officeDocument/2006/relationships/notesSlide" Target="/ppt/notesSlides/notesSlide5.xml" Id="Rf1bb4dbe2b8347d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ae72c2ad9494aa3" /><Relationship Type="http://schemas.openxmlformats.org/officeDocument/2006/relationships/notesSlide" Target="/ppt/notesSlides/notesSlide6.xml" Id="R53a2376495eb4a57" /></Relationships>
</file>

<file path=ppt/slides/slide1.xml><?xml version="1.0" encoding="utf-8"?>
<p:sld xmlns:p="http://schemas.openxmlformats.org/presentationml/2006/main">
  <p:cSld>
    <p:bg>
      <p:bgPr>
        <a:solidFill xmlns:a="http://schemas.openxmlformats.org/drawingml/2006/main">
          <a:srgbClr val="10182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415BC71-41B9-4FD1-ADF1-F92A9C4FA2DB}"/>
              </a:ext>
            </a:extLst>
          </p:cNvPr>
          <p:cNvSpPr>
            <a:spLocks xmlns:a="http://schemas.openxmlformats.org/drawingml/2006/main" noGrp="1"/>
          </p:cNvSpPr>
          <p:nvPr/>
        </p:nvSpPr>
        <p:spPr>
          <a:xfrm xmlns:a="http://schemas.openxmlformats.org/drawingml/2006/main">
            <a:off x="666750" y="40005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F5F7FB"/>
                </a:solidFill>
                <a:latin typeface="Aptos"/>
                <a:ea typeface="Aptos"/>
                <a:cs typeface="Aptos"/>
              </a:defRPr>
            </a:pPr>
            <a:r>
              <a:rPr sz="3225" b="1">
                <a:solidFill>
                  <a:srgbClr val="F5F7FB"/>
                </a:solidFill>
                <a:latin typeface="Aptos"/>
                <a:ea typeface="Aptos"/>
                <a:cs typeface="Aptos"/>
              </a:rPr>
              <a:t>A game as a decision workflow</a:t>
            </a:r>
          </a:p>
        </p:txBody>
      </p:sp>
      <p:sp>
        <p:nvSpPr>
          <p:cNvPr id="2" name="">
            <a:extLst xmlns:a="http://schemas.openxmlformats.org/drawingml/2006/main">
              <a:ext uri="{FF2B5EF4-FFF2-40B4-BE49-F238E27FC236}">
                <a16:creationId xmlns:a16="http://schemas.microsoft.com/office/drawing/2014/main" id="{6EF4F8E3-E911-4AD5-B10D-B71DDAEA532B}"/>
              </a:ext>
            </a:extLst>
          </p:cNvPr>
          <p:cNvSpPr>
            <a:spLocks xmlns:a="http://schemas.openxmlformats.org/drawingml/2006/main" noGrp="1"/>
          </p:cNvSpPr>
          <p:nvPr/>
        </p:nvSpPr>
        <p:spPr>
          <a:xfrm xmlns:a="http://schemas.openxmlformats.org/drawingml/2006/main">
            <a:off x="666750" y="1209675"/>
            <a:ext cx="10858500" cy="19050"/>
          </a:xfrm>
          <a:prstGeom xmlns:a="http://schemas.openxmlformats.org/drawingml/2006/main" prst="rect">
            <a:avLst/>
          </a:prstGeom>
          <a:solidFill xmlns:a="http://schemas.openxmlformats.org/drawingml/2006/main">
            <a:srgbClr val="3A4A6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D71C17C1-B564-4E42-A763-A18804488DDA}"/>
              </a:ext>
            </a:extLst>
          </p:cNvPr>
          <p:cNvSpPr>
            <a:spLocks xmlns:a="http://schemas.openxmlformats.org/drawingml/2006/main" noGrp="1"/>
          </p:cNvSpPr>
          <p:nvPr/>
        </p:nvSpPr>
        <p:spPr>
          <a:xfrm xmlns:a="http://schemas.openxmlformats.org/drawingml/2006/main">
            <a:off x="666750" y="6372225"/>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AEBED1"/>
                </a:solidFill>
                <a:latin typeface="Aptos"/>
                <a:ea typeface="Aptos"/>
                <a:cs typeface="Aptos"/>
              </a:defRPr>
            </a:pPr>
            <a:r>
              <a:rPr sz="1275" b="0">
                <a:solidFill>
                  <a:srgbClr val="AEBED1"/>
                </a:solidFill>
                <a:latin typeface="Aptos"/>
                <a:ea typeface="Aptos"/>
                <a:cs typeface="Aptos"/>
              </a:rPr>
              <a:t>LayA + RogueRNG  ·  1/6</a:t>
            </a:r>
          </a:p>
        </p:txBody>
      </p:sp>
      <p:sp>
        <p:nvSpPr>
          <p:cNvPr id="4" name="">
            <a:extLst xmlns:a="http://schemas.openxmlformats.org/drawingml/2006/main">
              <a:ext uri="{FF2B5EF4-FFF2-40B4-BE49-F238E27FC236}">
                <a16:creationId xmlns:a16="http://schemas.microsoft.com/office/drawing/2014/main" id="{A1B18571-A649-495A-BB94-C06A69E0C7B5}"/>
              </a:ext>
            </a:extLst>
          </p:cNvPr>
          <p:cNvSpPr>
            <a:spLocks xmlns:a="http://schemas.openxmlformats.org/drawingml/2006/main" noGrp="1"/>
          </p:cNvSpPr>
          <p:nvPr/>
        </p:nvSpPr>
        <p:spPr>
          <a:xfrm xmlns:a="http://schemas.openxmlformats.org/drawingml/2006/main">
            <a:off x="666750" y="16002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72E0BC"/>
                </a:solidFill>
                <a:latin typeface="Aptos"/>
                <a:ea typeface="Aptos"/>
                <a:cs typeface="Aptos"/>
              </a:defRPr>
            </a:pPr>
            <a:r>
              <a:rPr sz="1875" b="1">
                <a:solidFill>
                  <a:srgbClr val="72E0BC"/>
                </a:solidFill>
                <a:latin typeface="Aptos"/>
                <a:ea typeface="Aptos"/>
                <a:cs typeface="Aptos"/>
              </a:rPr>
              <a:t>The problem</a:t>
            </a:r>
          </a:p>
        </p:txBody>
      </p:sp>
      <p:sp>
        <p:nvSpPr>
          <p:cNvPr id="5" name="">
            <a:extLst xmlns:a="http://schemas.openxmlformats.org/drawingml/2006/main">
              <a:ext uri="{FF2B5EF4-FFF2-40B4-BE49-F238E27FC236}">
                <a16:creationId xmlns:a16="http://schemas.microsoft.com/office/drawing/2014/main" id="{B69AD8F3-5FAA-4D5D-85DA-69423FB8FCDC}"/>
              </a:ext>
            </a:extLst>
          </p:cNvPr>
          <p:cNvSpPr>
            <a:spLocks xmlns:a="http://schemas.openxmlformats.org/drawingml/2006/main" noGrp="1"/>
          </p:cNvSpPr>
          <p:nvPr/>
        </p:nvSpPr>
        <p:spPr>
          <a:xfrm xmlns:a="http://schemas.openxmlformats.org/drawingml/2006/main">
            <a:off x="666750" y="2076450"/>
            <a:ext cx="9906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0">
                <a:solidFill>
                  <a:srgbClr val="F5F7FB"/>
                </a:solidFill>
                <a:latin typeface="Aptos"/>
                <a:ea typeface="Aptos"/>
                <a:cs typeface="Aptos"/>
              </a:defRPr>
            </a:pPr>
            <a:r>
              <a:rPr sz="2400" b="0">
                <a:solidFill>
                  <a:srgbClr val="F5F7FB"/>
                </a:solidFill>
                <a:latin typeface="Aptos"/>
                <a:ea typeface="Aptos"/>
                <a:cs typeface="Aptos"/>
              </a:rPr>
              <a:t>A roguelike asks for a new choice every turn — while longer goals must survive many turns.</a:t>
            </a:r>
          </a:p>
        </p:txBody>
      </p:sp>
      <p:sp>
        <p:nvSpPr>
          <p:cNvPr id="6" name="">
            <a:extLst xmlns:a="http://schemas.openxmlformats.org/drawingml/2006/main">
              <a:ext uri="{FF2B5EF4-FFF2-40B4-BE49-F238E27FC236}">
                <a16:creationId xmlns:a16="http://schemas.microsoft.com/office/drawing/2014/main" id="{A5854446-143D-4AAA-B052-45177CA45186}"/>
              </a:ext>
            </a:extLst>
          </p:cNvPr>
          <p:cNvSpPr>
            <a:spLocks xmlns:a="http://schemas.openxmlformats.org/drawingml/2006/main" noGrp="1"/>
          </p:cNvSpPr>
          <p:nvPr/>
        </p:nvSpPr>
        <p:spPr>
          <a:xfrm xmlns:a="http://schemas.openxmlformats.org/drawingml/2006/main">
            <a:off x="666750" y="3438525"/>
            <a:ext cx="10858500" cy="19050"/>
          </a:xfrm>
          <a:prstGeom xmlns:a="http://schemas.openxmlformats.org/drawingml/2006/main" prst="rect">
            <a:avLst/>
          </a:prstGeom>
          <a:solidFill xmlns:a="http://schemas.openxmlformats.org/drawingml/2006/main">
            <a:srgbClr val="3A4A6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D71FEED-D530-4B5D-96B2-5158823EABAE}"/>
              </a:ext>
            </a:extLst>
          </p:cNvPr>
          <p:cNvSpPr>
            <a:spLocks xmlns:a="http://schemas.openxmlformats.org/drawingml/2006/main" noGrp="1"/>
          </p:cNvSpPr>
          <p:nvPr/>
        </p:nvSpPr>
        <p:spPr>
          <a:xfrm xmlns:a="http://schemas.openxmlformats.org/drawingml/2006/main">
            <a:off x="666750" y="37338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83B7FF"/>
                </a:solidFill>
                <a:latin typeface="Aptos"/>
                <a:ea typeface="Aptos"/>
                <a:cs typeface="Aptos"/>
              </a:defRPr>
            </a:pPr>
            <a:r>
              <a:rPr sz="1875" b="1">
                <a:solidFill>
                  <a:srgbClr val="83B7FF"/>
                </a:solidFill>
                <a:latin typeface="Aptos"/>
                <a:ea typeface="Aptos"/>
                <a:cs typeface="Aptos"/>
              </a:rPr>
              <a:t>What we tested</a:t>
            </a:r>
          </a:p>
        </p:txBody>
      </p:sp>
      <p:sp>
        <p:nvSpPr>
          <p:cNvPr id="8" name="">
            <a:extLst xmlns:a="http://schemas.openxmlformats.org/drawingml/2006/main">
              <a:ext uri="{FF2B5EF4-FFF2-40B4-BE49-F238E27FC236}">
                <a16:creationId xmlns:a16="http://schemas.microsoft.com/office/drawing/2014/main" id="{1B82BAAD-7CDE-4EAE-BD2A-D727EF0AED6A}"/>
              </a:ext>
            </a:extLst>
          </p:cNvPr>
          <p:cNvSpPr>
            <a:spLocks xmlns:a="http://schemas.openxmlformats.org/drawingml/2006/main" noGrp="1"/>
          </p:cNvSpPr>
          <p:nvPr/>
        </p:nvSpPr>
        <p:spPr>
          <a:xfrm xmlns:a="http://schemas.openxmlformats.org/drawingml/2006/main">
            <a:off x="666750" y="4257675"/>
            <a:ext cx="10096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0">
                <a:solidFill>
                  <a:srgbClr val="F5F7FB"/>
                </a:solidFill>
                <a:latin typeface="Aptos"/>
                <a:ea typeface="Aptos"/>
                <a:cs typeface="Aptos"/>
              </a:defRPr>
            </a:pPr>
            <a:r>
              <a:rPr sz="2325" b="0">
                <a:solidFill>
                  <a:srgbClr val="F5F7FB"/>
                </a:solidFill>
                <a:latin typeface="Aptos"/>
                <a:ea typeface="Aptos"/>
                <a:cs typeface="Aptos"/>
              </a:rPr>
              <a:t>Can a small decision model handle frequent judgments while a planner handles the trip to town and back?</a:t>
            </a:r>
          </a:p>
        </p:txBody>
      </p:sp>
      <p:sp>
        <p:nvSpPr>
          <p:cNvPr id="9" name="">
            <a:extLst xmlns:a="http://schemas.openxmlformats.org/drawingml/2006/main">
              <a:ext uri="{FF2B5EF4-FFF2-40B4-BE49-F238E27FC236}">
                <a16:creationId xmlns:a16="http://schemas.microsoft.com/office/drawing/2014/main" id="{499D41A7-3F04-4533-B03A-72C70098BE62}"/>
              </a:ext>
            </a:extLst>
          </p:cNvPr>
          <p:cNvSpPr>
            <a:spLocks xmlns:a="http://schemas.openxmlformats.org/drawingml/2006/main" noGrp="1"/>
          </p:cNvSpPr>
          <p:nvPr/>
        </p:nvSpPr>
        <p:spPr>
          <a:xfrm xmlns:a="http://schemas.openxmlformats.org/drawingml/2006/main">
            <a:off x="666750" y="5753100"/>
            <a:ext cx="10287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FFC98C"/>
                </a:solidFill>
                <a:latin typeface="Aptos"/>
                <a:ea typeface="Aptos"/>
                <a:cs typeface="Aptos"/>
              </a:defRPr>
            </a:pPr>
            <a:r>
              <a:rPr sz="1650" b="1">
                <a:solidFill>
                  <a:srgbClr val="FFC98C"/>
                </a:solidFill>
                <a:latin typeface="Aptos"/>
                <a:ea typeface="Aptos"/>
                <a:cs typeface="Aptos"/>
              </a:rPr>
              <a:t>LIVE DEMO  →  game + decision dashboard</a:t>
            </a:r>
          </a:p>
        </p:txBody>
      </p:sp>
    </p:spTree>
    <p:extLst>
      <p:ext uri="{BB962C8B-B14F-4D97-AF65-F5344CB8AC3E}">
        <p14:creationId xmlns:p14="http://schemas.microsoft.com/office/powerpoint/2010/main" val="1683081100"/>
      </p:ext>
    </p:extLst>
  </p:cSld>
</p:sld>
</file>

<file path=ppt/slides/slide2.xml><?xml version="1.0" encoding="utf-8"?>
<p:sld xmlns:p="http://schemas.openxmlformats.org/presentationml/2006/main">
  <p:cSld>
    <p:bg>
      <p:bgPr>
        <a:solidFill xmlns:a="http://schemas.openxmlformats.org/drawingml/2006/main">
          <a:srgbClr val="101827"/>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26DA12D-6175-4E6D-B18C-4B9C4828322C}"/>
              </a:ext>
            </a:extLst>
          </p:cNvPr>
          <p:cNvSpPr>
            <a:spLocks xmlns:a="http://schemas.openxmlformats.org/drawingml/2006/main" noGrp="1"/>
          </p:cNvSpPr>
          <p:nvPr/>
        </p:nvSpPr>
        <p:spPr>
          <a:xfrm xmlns:a="http://schemas.openxmlformats.org/drawingml/2006/main">
            <a:off x="666750" y="40005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F5F7FB"/>
                </a:solidFill>
                <a:latin typeface="Aptos"/>
                <a:ea typeface="Aptos"/>
                <a:cs typeface="Aptos"/>
              </a:defRPr>
            </a:pPr>
            <a:r>
              <a:rPr sz="3225" b="1">
                <a:solidFill>
                  <a:srgbClr val="F5F7FB"/>
                </a:solidFill>
                <a:latin typeface="Aptos"/>
                <a:ea typeface="Aptos"/>
                <a:cs typeface="Aptos"/>
              </a:rPr>
              <a:t>Jev-style decisions in one pass</a:t>
            </a:r>
          </a:p>
        </p:txBody>
      </p:sp>
      <p:sp>
        <p:nvSpPr>
          <p:cNvPr id="2" name="">
            <a:extLst xmlns:a="http://schemas.openxmlformats.org/drawingml/2006/main">
              <a:ext uri="{FF2B5EF4-FFF2-40B4-BE49-F238E27FC236}">
                <a16:creationId xmlns:a16="http://schemas.microsoft.com/office/drawing/2014/main" id="{F6B78FBC-E1BC-433A-86D7-C3430EDC7C85}"/>
              </a:ext>
            </a:extLst>
          </p:cNvPr>
          <p:cNvSpPr>
            <a:spLocks xmlns:a="http://schemas.openxmlformats.org/drawingml/2006/main" noGrp="1"/>
          </p:cNvSpPr>
          <p:nvPr/>
        </p:nvSpPr>
        <p:spPr>
          <a:xfrm xmlns:a="http://schemas.openxmlformats.org/drawingml/2006/main">
            <a:off x="666750" y="1209675"/>
            <a:ext cx="10858500" cy="19050"/>
          </a:xfrm>
          <a:prstGeom xmlns:a="http://schemas.openxmlformats.org/drawingml/2006/main" prst="rect">
            <a:avLst/>
          </a:prstGeom>
          <a:solidFill xmlns:a="http://schemas.openxmlformats.org/drawingml/2006/main">
            <a:srgbClr val="3A4A6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863045F-A755-4A1E-A668-34CE90E1A257}"/>
              </a:ext>
            </a:extLst>
          </p:cNvPr>
          <p:cNvSpPr>
            <a:spLocks xmlns:a="http://schemas.openxmlformats.org/drawingml/2006/main" noGrp="1"/>
          </p:cNvSpPr>
          <p:nvPr/>
        </p:nvSpPr>
        <p:spPr>
          <a:xfrm xmlns:a="http://schemas.openxmlformats.org/drawingml/2006/main">
            <a:off x="666750" y="6372225"/>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AEBED1"/>
                </a:solidFill>
                <a:latin typeface="Aptos"/>
                <a:ea typeface="Aptos"/>
                <a:cs typeface="Aptos"/>
              </a:defRPr>
            </a:pPr>
            <a:r>
              <a:rPr sz="1275" b="0">
                <a:solidFill>
                  <a:srgbClr val="AEBED1"/>
                </a:solidFill>
                <a:latin typeface="Aptos"/>
                <a:ea typeface="Aptos"/>
                <a:cs typeface="Aptos"/>
              </a:rPr>
              <a:t>LayA + RogueRNG  ·  2/6</a:t>
            </a:r>
          </a:p>
        </p:txBody>
      </p:sp>
      <p:sp>
        <p:nvSpPr>
          <p:cNvPr id="4" name="">
            <a:extLst xmlns:a="http://schemas.openxmlformats.org/drawingml/2006/main">
              <a:ext uri="{FF2B5EF4-FFF2-40B4-BE49-F238E27FC236}">
                <a16:creationId xmlns:a16="http://schemas.microsoft.com/office/drawing/2014/main" id="{C0AF5A7F-CC87-4515-B9CE-E093A717AEB6}"/>
              </a:ext>
            </a:extLst>
          </p:cNvPr>
          <p:cNvSpPr>
            <a:spLocks xmlns:a="http://schemas.openxmlformats.org/drawingml/2006/main" noGrp="1"/>
          </p:cNvSpPr>
          <p:nvPr/>
        </p:nvSpPr>
        <p:spPr>
          <a:xfrm xmlns:a="http://schemas.openxmlformats.org/drawingml/2006/main">
            <a:off x="666750" y="1647825"/>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AEBED1"/>
                </a:solidFill>
                <a:latin typeface="Aptos"/>
                <a:ea typeface="Aptos"/>
                <a:cs typeface="Aptos"/>
              </a:defRPr>
            </a:pPr>
            <a:r>
              <a:rPr sz="1875" b="1">
                <a:solidFill>
                  <a:srgbClr val="AEBED1"/>
                </a:solidFill>
                <a:latin typeface="Aptos"/>
                <a:ea typeface="Aptos"/>
                <a:cs typeface="Aptos"/>
              </a:rPr>
              <a:t>GAME STATE</a:t>
            </a:r>
          </a:p>
        </p:txBody>
      </p:sp>
      <p:sp>
        <p:nvSpPr>
          <p:cNvPr id="5" name="">
            <a:extLst xmlns:a="http://schemas.openxmlformats.org/drawingml/2006/main">
              <a:ext uri="{FF2B5EF4-FFF2-40B4-BE49-F238E27FC236}">
                <a16:creationId xmlns:a16="http://schemas.microsoft.com/office/drawing/2014/main" id="{C13FFDA2-A25A-4117-B628-BB254197B3BA}"/>
              </a:ext>
            </a:extLst>
          </p:cNvPr>
          <p:cNvSpPr>
            <a:spLocks xmlns:a="http://schemas.openxmlformats.org/drawingml/2006/main" noGrp="1"/>
          </p:cNvSpPr>
          <p:nvPr/>
        </p:nvSpPr>
        <p:spPr>
          <a:xfrm xmlns:a="http://schemas.openxmlformats.org/drawingml/2006/main">
            <a:off x="666750" y="2038350"/>
            <a:ext cx="809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F5F7FB"/>
                </a:solidFill>
                <a:latin typeface="Aptos"/>
                <a:ea typeface="Aptos"/>
                <a:cs typeface="Aptos"/>
              </a:defRPr>
            </a:pPr>
            <a:r>
              <a:rPr sz="2100" b="0">
                <a:solidFill>
                  <a:srgbClr val="F5F7FB"/>
                </a:solidFill>
                <a:latin typeface="Aptos"/>
                <a:ea typeface="Aptos"/>
                <a:cs typeface="Aptos"/>
              </a:rPr>
              <a:t>player · monsters · inventory · objectives</a:t>
            </a:r>
          </a:p>
        </p:txBody>
      </p:sp>
      <p:sp>
        <p:nvSpPr>
          <p:cNvPr id="6" name="">
            <a:extLst xmlns:a="http://schemas.openxmlformats.org/drawingml/2006/main">
              <a:ext uri="{FF2B5EF4-FFF2-40B4-BE49-F238E27FC236}">
                <a16:creationId xmlns:a16="http://schemas.microsoft.com/office/drawing/2014/main" id="{2FF352D0-98CF-493F-A8DE-F1D5653AD47C}"/>
              </a:ext>
            </a:extLst>
          </p:cNvPr>
          <p:cNvSpPr>
            <a:spLocks xmlns:a="http://schemas.openxmlformats.org/drawingml/2006/main" noGrp="1"/>
          </p:cNvSpPr>
          <p:nvPr/>
        </p:nvSpPr>
        <p:spPr>
          <a:xfrm xmlns:a="http://schemas.openxmlformats.org/drawingml/2006/main">
            <a:off x="666750" y="2828925"/>
            <a:ext cx="10858500" cy="19050"/>
          </a:xfrm>
          <a:prstGeom xmlns:a="http://schemas.openxmlformats.org/drawingml/2006/main" prst="rect">
            <a:avLst/>
          </a:prstGeom>
          <a:solidFill xmlns:a="http://schemas.openxmlformats.org/drawingml/2006/main">
            <a:srgbClr val="3A4A6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418A41D-C1A4-4494-9F87-C4A77FD202BD}"/>
              </a:ext>
            </a:extLst>
          </p:cNvPr>
          <p:cNvSpPr>
            <a:spLocks xmlns:a="http://schemas.openxmlformats.org/drawingml/2006/main" noGrp="1"/>
          </p:cNvSpPr>
          <p:nvPr/>
        </p:nvSpPr>
        <p:spPr>
          <a:xfrm xmlns:a="http://schemas.openxmlformats.org/drawingml/2006/main">
            <a:off x="666750" y="3162300"/>
            <a:ext cx="228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72E0BC"/>
                </a:solidFill>
                <a:latin typeface="Aptos"/>
                <a:ea typeface="Aptos"/>
                <a:cs typeface="Aptos"/>
              </a:defRPr>
            </a:pPr>
            <a:r>
              <a:rPr sz="2250" b="1">
                <a:solidFill>
                  <a:srgbClr val="72E0BC"/>
                </a:solidFill>
                <a:latin typeface="Aptos"/>
                <a:ea typeface="Aptos"/>
                <a:cs typeface="Aptos"/>
              </a:rPr>
              <a:t>Choice</a:t>
            </a:r>
          </a:p>
        </p:txBody>
      </p:sp>
      <p:sp>
        <p:nvSpPr>
          <p:cNvPr id="8" name="">
            <a:extLst xmlns:a="http://schemas.openxmlformats.org/drawingml/2006/main">
              <a:ext uri="{FF2B5EF4-FFF2-40B4-BE49-F238E27FC236}">
                <a16:creationId xmlns:a16="http://schemas.microsoft.com/office/drawing/2014/main" id="{A1E6A5AD-6DD0-4AAA-ADF3-BE1B75D2A0EC}"/>
              </a:ext>
            </a:extLst>
          </p:cNvPr>
          <p:cNvSpPr>
            <a:spLocks xmlns:a="http://schemas.openxmlformats.org/drawingml/2006/main" noGrp="1"/>
          </p:cNvSpPr>
          <p:nvPr/>
        </p:nvSpPr>
        <p:spPr>
          <a:xfrm xmlns:a="http://schemas.openxmlformats.org/drawingml/2006/main">
            <a:off x="3143250" y="3162300"/>
            <a:ext cx="7620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F5F7FB"/>
                </a:solidFill>
                <a:latin typeface="Aptos"/>
                <a:ea typeface="Aptos"/>
                <a:cs typeface="Aptos"/>
              </a:defRPr>
            </a:pPr>
            <a:r>
              <a:rPr sz="2175" b="0">
                <a:solidFill>
                  <a:srgbClr val="F5F7FB"/>
                </a:solidFill>
                <a:latin typeface="Aptos"/>
                <a:ea typeface="Aptos"/>
                <a:cs typeface="Aptos"/>
              </a:rPr>
              <a:t>Which of 11 intents?</a:t>
            </a:r>
          </a:p>
        </p:txBody>
      </p:sp>
      <p:sp>
        <p:nvSpPr>
          <p:cNvPr id="9" name="">
            <a:extLst xmlns:a="http://schemas.openxmlformats.org/drawingml/2006/main">
              <a:ext uri="{FF2B5EF4-FFF2-40B4-BE49-F238E27FC236}">
                <a16:creationId xmlns:a16="http://schemas.microsoft.com/office/drawing/2014/main" id="{B8C98192-71EC-440F-92FE-1DDD3C349663}"/>
              </a:ext>
            </a:extLst>
          </p:cNvPr>
          <p:cNvSpPr>
            <a:spLocks xmlns:a="http://schemas.openxmlformats.org/drawingml/2006/main" noGrp="1"/>
          </p:cNvSpPr>
          <p:nvPr/>
        </p:nvSpPr>
        <p:spPr>
          <a:xfrm xmlns:a="http://schemas.openxmlformats.org/drawingml/2006/main">
            <a:off x="666750" y="3838575"/>
            <a:ext cx="228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83B7FF"/>
                </a:solidFill>
                <a:latin typeface="Aptos"/>
                <a:ea typeface="Aptos"/>
                <a:cs typeface="Aptos"/>
              </a:defRPr>
            </a:pPr>
            <a:r>
              <a:rPr sz="2250" b="1">
                <a:solidFill>
                  <a:srgbClr val="83B7FF"/>
                </a:solidFill>
                <a:latin typeface="Aptos"/>
                <a:ea typeface="Aptos"/>
                <a:cs typeface="Aptos"/>
              </a:rPr>
              <a:t>Score</a:t>
            </a:r>
          </a:p>
        </p:txBody>
      </p:sp>
      <p:sp>
        <p:nvSpPr>
          <p:cNvPr id="10" name="">
            <a:extLst xmlns:a="http://schemas.openxmlformats.org/drawingml/2006/main">
              <a:ext uri="{FF2B5EF4-FFF2-40B4-BE49-F238E27FC236}">
                <a16:creationId xmlns:a16="http://schemas.microsoft.com/office/drawing/2014/main" id="{4BCE2BC4-B998-4DD6-B46C-D18094DF0A25}"/>
              </a:ext>
            </a:extLst>
          </p:cNvPr>
          <p:cNvSpPr>
            <a:spLocks xmlns:a="http://schemas.openxmlformats.org/drawingml/2006/main" noGrp="1"/>
          </p:cNvSpPr>
          <p:nvPr/>
        </p:nvSpPr>
        <p:spPr>
          <a:xfrm xmlns:a="http://schemas.openxmlformats.org/drawingml/2006/main">
            <a:off x="3143250" y="3838575"/>
            <a:ext cx="7620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F5F7FB"/>
                </a:solidFill>
                <a:latin typeface="Aptos"/>
                <a:ea typeface="Aptos"/>
                <a:cs typeface="Aptos"/>
              </a:defRPr>
            </a:pPr>
            <a:r>
              <a:rPr sz="2175" b="0">
                <a:solidFill>
                  <a:srgbClr val="F5F7FB"/>
                </a:solidFill>
                <a:latin typeface="Aptos"/>
                <a:ea typeface="Aptos"/>
                <a:cs typeface="Aptos"/>
              </a:rPr>
              <a:t>How dangerous is this turn?  0–3</a:t>
            </a:r>
          </a:p>
        </p:txBody>
      </p:sp>
      <p:sp>
        <p:nvSpPr>
          <p:cNvPr id="11" name="">
            <a:extLst xmlns:a="http://schemas.openxmlformats.org/drawingml/2006/main">
              <a:ext uri="{FF2B5EF4-FFF2-40B4-BE49-F238E27FC236}">
                <a16:creationId xmlns:a16="http://schemas.microsoft.com/office/drawing/2014/main" id="{3673CBAE-FB28-4D7A-AB8B-7F559123AB30}"/>
              </a:ext>
            </a:extLst>
          </p:cNvPr>
          <p:cNvSpPr>
            <a:spLocks xmlns:a="http://schemas.openxmlformats.org/drawingml/2006/main" noGrp="1"/>
          </p:cNvSpPr>
          <p:nvPr/>
        </p:nvSpPr>
        <p:spPr>
          <a:xfrm xmlns:a="http://schemas.openxmlformats.org/drawingml/2006/main">
            <a:off x="666750" y="4514850"/>
            <a:ext cx="228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FFC98C"/>
                </a:solidFill>
                <a:latin typeface="Aptos"/>
                <a:ea typeface="Aptos"/>
                <a:cs typeface="Aptos"/>
              </a:defRPr>
            </a:pPr>
            <a:r>
              <a:rPr sz="2250" b="1">
                <a:solidFill>
                  <a:srgbClr val="FFC98C"/>
                </a:solidFill>
                <a:latin typeface="Aptos"/>
                <a:ea typeface="Aptos"/>
                <a:cs typeface="Aptos"/>
              </a:rPr>
              <a:t>Noul × 5</a:t>
            </a:r>
          </a:p>
        </p:txBody>
      </p:sp>
      <p:sp>
        <p:nvSpPr>
          <p:cNvPr id="12" name="">
            <a:extLst xmlns:a="http://schemas.openxmlformats.org/drawingml/2006/main">
              <a:ext uri="{FF2B5EF4-FFF2-40B4-BE49-F238E27FC236}">
                <a16:creationId xmlns:a16="http://schemas.microsoft.com/office/drawing/2014/main" id="{7B9AA70B-7D13-465B-8B70-C33BA5AA920F}"/>
              </a:ext>
            </a:extLst>
          </p:cNvPr>
          <p:cNvSpPr>
            <a:spLocks xmlns:a="http://schemas.openxmlformats.org/drawingml/2006/main" noGrp="1"/>
          </p:cNvSpPr>
          <p:nvPr/>
        </p:nvSpPr>
        <p:spPr>
          <a:xfrm xmlns:a="http://schemas.openxmlformats.org/drawingml/2006/main">
            <a:off x="3143250" y="4514850"/>
            <a:ext cx="8096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F5F7FB"/>
                </a:solidFill>
                <a:latin typeface="Aptos"/>
                <a:ea typeface="Aptos"/>
                <a:cs typeface="Aptos"/>
              </a:defRPr>
            </a:pPr>
            <a:r>
              <a:rPr sz="2175" b="0">
                <a:solidFill>
                  <a:srgbClr val="F5F7FB"/>
                </a:solidFill>
                <a:latin typeface="Aptos"/>
                <a:ea typeface="Aptos"/>
                <a:cs typeface="Aptos"/>
              </a:rPr>
              <a:t>P(true): critical HP, overmatched, town needed…</a:t>
            </a:r>
          </a:p>
        </p:txBody>
      </p:sp>
      <p:sp>
        <p:nvSpPr>
          <p:cNvPr id="13" name="">
            <a:extLst xmlns:a="http://schemas.openxmlformats.org/drawingml/2006/main">
              <a:ext uri="{FF2B5EF4-FFF2-40B4-BE49-F238E27FC236}">
                <a16:creationId xmlns:a16="http://schemas.microsoft.com/office/drawing/2014/main" id="{1F257853-24FE-4C64-8D3A-8904ABBDFDA4}"/>
              </a:ext>
            </a:extLst>
          </p:cNvPr>
          <p:cNvSpPr>
            <a:spLocks xmlns:a="http://schemas.openxmlformats.org/drawingml/2006/main" noGrp="1"/>
          </p:cNvSpPr>
          <p:nvPr/>
        </p:nvSpPr>
        <p:spPr>
          <a:xfrm xmlns:a="http://schemas.openxmlformats.org/drawingml/2006/main">
            <a:off x="666750" y="5362575"/>
            <a:ext cx="10858500" cy="19050"/>
          </a:xfrm>
          <a:prstGeom xmlns:a="http://schemas.openxmlformats.org/drawingml/2006/main" prst="rect">
            <a:avLst/>
          </a:prstGeom>
          <a:solidFill xmlns:a="http://schemas.openxmlformats.org/drawingml/2006/main">
            <a:srgbClr val="3A4A6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DA01A2A-43D8-4FC2-867E-555C085CC1F5}"/>
              </a:ext>
            </a:extLst>
          </p:cNvPr>
          <p:cNvSpPr>
            <a:spLocks xmlns:a="http://schemas.openxmlformats.org/drawingml/2006/main" noGrp="1"/>
          </p:cNvSpPr>
          <p:nvPr/>
        </p:nvSpPr>
        <p:spPr>
          <a:xfrm xmlns:a="http://schemas.openxmlformats.org/drawingml/2006/main">
            <a:off x="666750" y="5562600"/>
            <a:ext cx="10477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0">
                <a:solidFill>
                  <a:srgbClr val="F5F7FB"/>
                </a:solidFill>
                <a:latin typeface="Aptos"/>
                <a:ea typeface="Aptos"/>
                <a:cs typeface="Aptos"/>
              </a:defRPr>
            </a:pPr>
            <a:r>
              <a:rPr sz="1950" b="0">
                <a:solidFill>
                  <a:srgbClr val="F5F7FB"/>
                </a:solidFill>
                <a:latin typeface="Aptos"/>
                <a:ea typeface="Aptos"/>
                <a:cs typeface="Aptos"/>
              </a:rPr>
              <a:t>LayA returns probabilities; policy checks facts before an action runs.</a:t>
            </a:r>
          </a:p>
        </p:txBody>
      </p:sp>
    </p:spTree>
    <p:extLst>
      <p:ext uri="{BB962C8B-B14F-4D97-AF65-F5344CB8AC3E}">
        <p14:creationId xmlns:p14="http://schemas.microsoft.com/office/powerpoint/2010/main" val="1281298920"/>
      </p:ext>
    </p:extLst>
  </p:cSld>
</p:sld>
</file>

<file path=ppt/slides/slide3.xml><?xml version="1.0" encoding="utf-8"?>
<p:sld xmlns:p="http://schemas.openxmlformats.org/presentationml/2006/main">
  <p:cSld>
    <p:bg>
      <p:bgPr>
        <a:solidFill xmlns:a="http://schemas.openxmlformats.org/drawingml/2006/main">
          <a:srgbClr val="10182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31A23D4-D3CF-4890-8151-F13D3AE2EB6C}"/>
              </a:ext>
            </a:extLst>
          </p:cNvPr>
          <p:cNvSpPr>
            <a:spLocks xmlns:a="http://schemas.openxmlformats.org/drawingml/2006/main" noGrp="1"/>
          </p:cNvSpPr>
          <p:nvPr/>
        </p:nvSpPr>
        <p:spPr>
          <a:xfrm xmlns:a="http://schemas.openxmlformats.org/drawingml/2006/main">
            <a:off x="666750" y="40005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F5F7FB"/>
                </a:solidFill>
                <a:latin typeface="Aptos"/>
                <a:ea typeface="Aptos"/>
                <a:cs typeface="Aptos"/>
              </a:defRPr>
            </a:pPr>
            <a:r>
              <a:rPr sz="3225" b="1">
                <a:solidFill>
                  <a:srgbClr val="F5F7FB"/>
                </a:solidFill>
                <a:latin typeface="Aptos"/>
                <a:ea typeface="Aptos"/>
                <a:cs typeface="Aptos"/>
              </a:rPr>
              <a:t>HTN planner: one town trip, then resume</a:t>
            </a:r>
          </a:p>
        </p:txBody>
      </p:sp>
      <p:sp>
        <p:nvSpPr>
          <p:cNvPr id="2" name="">
            <a:extLst xmlns:a="http://schemas.openxmlformats.org/drawingml/2006/main">
              <a:ext uri="{FF2B5EF4-FFF2-40B4-BE49-F238E27FC236}">
                <a16:creationId xmlns:a16="http://schemas.microsoft.com/office/drawing/2014/main" id="{7D2C2C63-63CF-435C-BB37-973AD2168ED4}"/>
              </a:ext>
            </a:extLst>
          </p:cNvPr>
          <p:cNvSpPr>
            <a:spLocks xmlns:a="http://schemas.openxmlformats.org/drawingml/2006/main" noGrp="1"/>
          </p:cNvSpPr>
          <p:nvPr/>
        </p:nvSpPr>
        <p:spPr>
          <a:xfrm xmlns:a="http://schemas.openxmlformats.org/drawingml/2006/main">
            <a:off x="666750" y="1209675"/>
            <a:ext cx="10858500" cy="19050"/>
          </a:xfrm>
          <a:prstGeom xmlns:a="http://schemas.openxmlformats.org/drawingml/2006/main" prst="rect">
            <a:avLst/>
          </a:prstGeom>
          <a:solidFill xmlns:a="http://schemas.openxmlformats.org/drawingml/2006/main">
            <a:srgbClr val="3A4A6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AE38CF0C-7F8A-4641-A26D-F575873386FA}"/>
              </a:ext>
            </a:extLst>
          </p:cNvPr>
          <p:cNvSpPr>
            <a:spLocks xmlns:a="http://schemas.openxmlformats.org/drawingml/2006/main" noGrp="1"/>
          </p:cNvSpPr>
          <p:nvPr/>
        </p:nvSpPr>
        <p:spPr>
          <a:xfrm xmlns:a="http://schemas.openxmlformats.org/drawingml/2006/main">
            <a:off x="666750" y="6372225"/>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AEBED1"/>
                </a:solidFill>
                <a:latin typeface="Aptos"/>
                <a:ea typeface="Aptos"/>
                <a:cs typeface="Aptos"/>
              </a:defRPr>
            </a:pPr>
            <a:r>
              <a:rPr sz="1275" b="0">
                <a:solidFill>
                  <a:srgbClr val="AEBED1"/>
                </a:solidFill>
                <a:latin typeface="Aptos"/>
                <a:ea typeface="Aptos"/>
                <a:cs typeface="Aptos"/>
              </a:rPr>
              <a:t>LayA + RogueRNG  ·  3/6</a:t>
            </a:r>
          </a:p>
        </p:txBody>
      </p:sp>
      <p:sp>
        <p:nvSpPr>
          <p:cNvPr id="4" name="">
            <a:extLst xmlns:a="http://schemas.openxmlformats.org/drawingml/2006/main">
              <a:ext uri="{FF2B5EF4-FFF2-40B4-BE49-F238E27FC236}">
                <a16:creationId xmlns:a16="http://schemas.microsoft.com/office/drawing/2014/main" id="{306F2F12-9F9D-4A9B-865E-9B72493C7A4B}"/>
              </a:ext>
            </a:extLst>
          </p:cNvPr>
          <p:cNvSpPr>
            <a:spLocks xmlns:a="http://schemas.openxmlformats.org/drawingml/2006/main" noGrp="1"/>
          </p:cNvSpPr>
          <p:nvPr/>
        </p:nvSpPr>
        <p:spPr>
          <a:xfrm xmlns:a="http://schemas.openxmlformats.org/drawingml/2006/main">
            <a:off x="666750" y="1638300"/>
            <a:ext cx="328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AEBED1"/>
                </a:solidFill>
                <a:latin typeface="Aptos"/>
                <a:ea typeface="Aptos"/>
                <a:cs typeface="Aptos"/>
              </a:defRPr>
            </a:pPr>
            <a:r>
              <a:rPr sz="1875" b="1">
                <a:solidFill>
                  <a:srgbClr val="AEBED1"/>
                </a:solidFill>
                <a:latin typeface="Aptos"/>
                <a:ea typeface="Aptos"/>
                <a:cs typeface="Aptos"/>
              </a:rPr>
              <a:t>Signals and facts</a:t>
            </a:r>
          </a:p>
        </p:txBody>
      </p:sp>
      <p:sp>
        <p:nvSpPr>
          <p:cNvPr id="5" name="">
            <a:extLst xmlns:a="http://schemas.openxmlformats.org/drawingml/2006/main">
              <a:ext uri="{FF2B5EF4-FFF2-40B4-BE49-F238E27FC236}">
                <a16:creationId xmlns:a16="http://schemas.microsoft.com/office/drawing/2014/main" id="{A9AD78C3-ED4E-4D48-8919-97A902C8A3BB}"/>
              </a:ext>
            </a:extLst>
          </p:cNvPr>
          <p:cNvSpPr>
            <a:spLocks xmlns:a="http://schemas.openxmlformats.org/drawingml/2006/main" noGrp="1"/>
          </p:cNvSpPr>
          <p:nvPr/>
        </p:nvSpPr>
        <p:spPr>
          <a:xfrm xmlns:a="http://schemas.openxmlformats.org/drawingml/2006/main">
            <a:off x="666750" y="2143125"/>
            <a:ext cx="10001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F5F7FB"/>
                </a:solidFill>
                <a:latin typeface="Aptos"/>
                <a:ea typeface="Aptos"/>
                <a:cs typeface="Aptos"/>
              </a:defRPr>
            </a:pPr>
            <a:r>
              <a:rPr sz="2250" b="0">
                <a:solidFill>
                  <a:srgbClr val="F5F7FB"/>
                </a:solidFill>
                <a:latin typeface="Aptos"/>
                <a:ea typeface="Aptos"/>
                <a:cs typeface="Aptos"/>
              </a:rPr>
              <a:t>full bag   +   no potions   +   locked chest</a:t>
            </a:r>
          </a:p>
        </p:txBody>
      </p:sp>
      <p:sp>
        <p:nvSpPr>
          <p:cNvPr id="6" name="">
            <a:extLst xmlns:a="http://schemas.openxmlformats.org/drawingml/2006/main">
              <a:ext uri="{FF2B5EF4-FFF2-40B4-BE49-F238E27FC236}">
                <a16:creationId xmlns:a16="http://schemas.microsoft.com/office/drawing/2014/main" id="{24FFE14C-2418-461C-A271-D19341CD430D}"/>
              </a:ext>
            </a:extLst>
          </p:cNvPr>
          <p:cNvSpPr>
            <a:spLocks xmlns:a="http://schemas.openxmlformats.org/drawingml/2006/main" noGrp="1"/>
          </p:cNvSpPr>
          <p:nvPr/>
        </p:nvSpPr>
        <p:spPr>
          <a:xfrm xmlns:a="http://schemas.openxmlformats.org/drawingml/2006/main">
            <a:off x="752475" y="28860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72E0BC"/>
                </a:solidFill>
                <a:latin typeface="Aptos"/>
                <a:ea typeface="Aptos"/>
                <a:cs typeface="Aptos"/>
              </a:defRPr>
            </a:pPr>
            <a:r>
              <a:rPr sz="2700" b="1">
                <a:solidFill>
                  <a:srgbClr val="72E0BC"/>
                </a:solidFill>
                <a:latin typeface="Aptos"/>
                <a:ea typeface="Aptos"/>
                <a:cs typeface="Aptos"/>
              </a:rPr>
              <a:t>↓</a:t>
            </a:r>
          </a:p>
        </p:txBody>
      </p:sp>
      <p:sp>
        <p:nvSpPr>
          <p:cNvPr id="7" name="">
            <a:extLst xmlns:a="http://schemas.openxmlformats.org/drawingml/2006/main">
              <a:ext uri="{FF2B5EF4-FFF2-40B4-BE49-F238E27FC236}">
                <a16:creationId xmlns:a16="http://schemas.microsoft.com/office/drawing/2014/main" id="{2B0728FF-E5CD-40ED-A311-3AE6E5E4272E}"/>
              </a:ext>
            </a:extLst>
          </p:cNvPr>
          <p:cNvSpPr>
            <a:spLocks xmlns:a="http://schemas.openxmlformats.org/drawingml/2006/main" noGrp="1"/>
          </p:cNvSpPr>
          <p:nvPr/>
        </p:nvSpPr>
        <p:spPr>
          <a:xfrm xmlns:a="http://schemas.openxmlformats.org/drawingml/2006/main">
            <a:off x="1476375" y="2914650"/>
            <a:ext cx="9715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72E0BC"/>
                </a:solidFill>
                <a:latin typeface="Aptos"/>
                <a:ea typeface="Aptos"/>
                <a:cs typeface="Aptos"/>
              </a:defRPr>
            </a:pPr>
            <a:r>
              <a:rPr sz="2100" b="1">
                <a:solidFill>
                  <a:srgbClr val="72E0BC"/>
                </a:solidFill>
                <a:latin typeface="Aptos"/>
                <a:ea typeface="Aptos"/>
                <a:cs typeface="Aptos"/>
              </a:rPr>
              <a:t>Active goals merge shared tasks</a:t>
            </a:r>
          </a:p>
        </p:txBody>
      </p:sp>
      <p:sp>
        <p:nvSpPr>
          <p:cNvPr id="8" name="">
            <a:extLst xmlns:a="http://schemas.openxmlformats.org/drawingml/2006/main">
              <a:ext uri="{FF2B5EF4-FFF2-40B4-BE49-F238E27FC236}">
                <a16:creationId xmlns:a16="http://schemas.microsoft.com/office/drawing/2014/main" id="{07C94524-CFDD-4646-8833-FE1099C4C017}"/>
              </a:ext>
            </a:extLst>
          </p:cNvPr>
          <p:cNvSpPr>
            <a:spLocks xmlns:a="http://schemas.openxmlformats.org/drawingml/2006/main" noGrp="1"/>
          </p:cNvSpPr>
          <p:nvPr/>
        </p:nvSpPr>
        <p:spPr>
          <a:xfrm xmlns:a="http://schemas.openxmlformats.org/drawingml/2006/main">
            <a:off x="666750" y="3609975"/>
            <a:ext cx="10858500" cy="19050"/>
          </a:xfrm>
          <a:prstGeom xmlns:a="http://schemas.openxmlformats.org/drawingml/2006/main" prst="rect">
            <a:avLst/>
          </a:prstGeom>
          <a:solidFill xmlns:a="http://schemas.openxmlformats.org/drawingml/2006/main">
            <a:srgbClr val="3A4A6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5CB93E5-D26A-466E-BD90-700FE4960CEB}"/>
              </a:ext>
            </a:extLst>
          </p:cNvPr>
          <p:cNvSpPr>
            <a:spLocks xmlns:a="http://schemas.openxmlformats.org/drawingml/2006/main" noGrp="1"/>
          </p:cNvSpPr>
          <p:nvPr/>
        </p:nvSpPr>
        <p:spPr>
          <a:xfrm xmlns:a="http://schemas.openxmlformats.org/drawingml/2006/main">
            <a:off x="666750" y="4000500"/>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0">
                <a:solidFill>
                  <a:srgbClr val="F5F7FB"/>
                </a:solidFill>
                <a:latin typeface="Aptos"/>
                <a:ea typeface="Aptos"/>
                <a:cs typeface="Aptos"/>
              </a:defRPr>
            </a:pPr>
            <a:r>
              <a:rPr sz="2325" b="0">
                <a:solidFill>
                  <a:srgbClr val="F5F7FB"/>
                </a:solidFill>
                <a:latin typeface="Aptos"/>
                <a:ea typeface="Aptos"/>
                <a:cs typeface="Aptos"/>
              </a:rPr>
              <a:t>1  Go home</a:t>
            </a:r>
          </a:p>
        </p:txBody>
      </p:sp>
      <p:sp>
        <p:nvSpPr>
          <p:cNvPr id="10" name="">
            <a:extLst xmlns:a="http://schemas.openxmlformats.org/drawingml/2006/main">
              <a:ext uri="{FF2B5EF4-FFF2-40B4-BE49-F238E27FC236}">
                <a16:creationId xmlns:a16="http://schemas.microsoft.com/office/drawing/2014/main" id="{1655FA63-4A21-45E8-80FC-21763FF1DBDB}"/>
              </a:ext>
            </a:extLst>
          </p:cNvPr>
          <p:cNvSpPr>
            <a:spLocks xmlns:a="http://schemas.openxmlformats.org/drawingml/2006/main" noGrp="1"/>
          </p:cNvSpPr>
          <p:nvPr/>
        </p:nvSpPr>
        <p:spPr>
          <a:xfrm xmlns:a="http://schemas.openxmlformats.org/drawingml/2006/main">
            <a:off x="6191250" y="4000500"/>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0">
                <a:solidFill>
                  <a:srgbClr val="F5F7FB"/>
                </a:solidFill>
                <a:latin typeface="Aptos"/>
                <a:ea typeface="Aptos"/>
                <a:cs typeface="Aptos"/>
              </a:defRPr>
            </a:pPr>
            <a:r>
              <a:rPr sz="2325" b="0">
                <a:solidFill>
                  <a:srgbClr val="F5F7FB"/>
                </a:solidFill>
                <a:latin typeface="Aptos"/>
                <a:ea typeface="Aptos"/>
                <a:cs typeface="Aptos"/>
              </a:rPr>
              <a:t>2  Do town chores</a:t>
            </a:r>
          </a:p>
        </p:txBody>
      </p:sp>
      <p:sp>
        <p:nvSpPr>
          <p:cNvPr id="11" name="">
            <a:extLst xmlns:a="http://schemas.openxmlformats.org/drawingml/2006/main">
              <a:ext uri="{FF2B5EF4-FFF2-40B4-BE49-F238E27FC236}">
                <a16:creationId xmlns:a16="http://schemas.microsoft.com/office/drawing/2014/main" id="{E01B5F46-B188-4453-9A9D-C0DE8CEB4D6F}"/>
              </a:ext>
            </a:extLst>
          </p:cNvPr>
          <p:cNvSpPr>
            <a:spLocks xmlns:a="http://schemas.openxmlformats.org/drawingml/2006/main" noGrp="1"/>
          </p:cNvSpPr>
          <p:nvPr/>
        </p:nvSpPr>
        <p:spPr>
          <a:xfrm xmlns:a="http://schemas.openxmlformats.org/drawingml/2006/main">
            <a:off x="666750" y="4829175"/>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0">
                <a:solidFill>
                  <a:srgbClr val="F5F7FB"/>
                </a:solidFill>
                <a:latin typeface="Aptos"/>
                <a:ea typeface="Aptos"/>
                <a:cs typeface="Aptos"/>
              </a:defRPr>
            </a:pPr>
            <a:r>
              <a:rPr sz="2325" b="0">
                <a:solidFill>
                  <a:srgbClr val="F5F7FB"/>
                </a:solidFill>
                <a:latin typeface="Aptos"/>
                <a:ea typeface="Aptos"/>
                <a:cs typeface="Aptos"/>
              </a:rPr>
              <a:t>3  Buy key</a:t>
            </a:r>
          </a:p>
        </p:txBody>
      </p:sp>
      <p:sp>
        <p:nvSpPr>
          <p:cNvPr id="12" name="">
            <a:extLst xmlns:a="http://schemas.openxmlformats.org/drawingml/2006/main">
              <a:ext uri="{FF2B5EF4-FFF2-40B4-BE49-F238E27FC236}">
                <a16:creationId xmlns:a16="http://schemas.microsoft.com/office/drawing/2014/main" id="{E2DC29BF-8BC9-450C-AB68-4C8A425802AF}"/>
              </a:ext>
            </a:extLst>
          </p:cNvPr>
          <p:cNvSpPr>
            <a:spLocks xmlns:a="http://schemas.openxmlformats.org/drawingml/2006/main" noGrp="1"/>
          </p:cNvSpPr>
          <p:nvPr/>
        </p:nvSpPr>
        <p:spPr>
          <a:xfrm xmlns:a="http://schemas.openxmlformats.org/drawingml/2006/main">
            <a:off x="6191250" y="4829175"/>
            <a:ext cx="5238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0">
                <a:solidFill>
                  <a:srgbClr val="F5F7FB"/>
                </a:solidFill>
                <a:latin typeface="Aptos"/>
                <a:ea typeface="Aptos"/>
                <a:cs typeface="Aptos"/>
              </a:defRPr>
            </a:pPr>
            <a:r>
              <a:rPr sz="2325" b="0">
                <a:solidFill>
                  <a:srgbClr val="F5F7FB"/>
                </a:solidFill>
                <a:latin typeface="Aptos"/>
                <a:ea typeface="Aptos"/>
                <a:cs typeface="Aptos"/>
              </a:rPr>
              <a:t>4  Resume same dungeon depth</a:t>
            </a:r>
          </a:p>
        </p:txBody>
      </p:sp>
    </p:spTree>
    <p:extLst>
      <p:ext uri="{BB962C8B-B14F-4D97-AF65-F5344CB8AC3E}">
        <p14:creationId xmlns:p14="http://schemas.microsoft.com/office/powerpoint/2010/main" val="1858988172"/>
      </p:ext>
    </p:extLst>
  </p:cSld>
</p:sld>
</file>

<file path=ppt/slides/slide4.xml><?xml version="1.0" encoding="utf-8"?>
<p:sld xmlns:p="http://schemas.openxmlformats.org/presentationml/2006/main">
  <p:cSld>
    <p:bg>
      <p:bgPr>
        <a:solidFill xmlns:a="http://schemas.openxmlformats.org/drawingml/2006/main">
          <a:srgbClr val="10182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B60846D-C609-4110-91B6-0FC6EB6228C8}"/>
              </a:ext>
            </a:extLst>
          </p:cNvPr>
          <p:cNvSpPr>
            <a:spLocks xmlns:a="http://schemas.openxmlformats.org/drawingml/2006/main" noGrp="1"/>
          </p:cNvSpPr>
          <p:nvPr/>
        </p:nvSpPr>
        <p:spPr>
          <a:xfrm xmlns:a="http://schemas.openxmlformats.org/drawingml/2006/main">
            <a:off x="666750" y="40005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F5F7FB"/>
                </a:solidFill>
                <a:latin typeface="Aptos"/>
                <a:ea typeface="Aptos"/>
                <a:cs typeface="Aptos"/>
              </a:defRPr>
            </a:pPr>
            <a:r>
              <a:rPr sz="3225" b="1">
                <a:solidFill>
                  <a:srgbClr val="F5F7FB"/>
                </a:solidFill>
                <a:latin typeface="Aptos"/>
                <a:ea typeface="Aptos"/>
                <a:cs typeface="Aptos"/>
              </a:rPr>
              <a:t>Why include a decision model?</a:t>
            </a:r>
          </a:p>
        </p:txBody>
      </p:sp>
      <p:sp>
        <p:nvSpPr>
          <p:cNvPr id="2" name="">
            <a:extLst xmlns:a="http://schemas.openxmlformats.org/drawingml/2006/main">
              <a:ext uri="{FF2B5EF4-FFF2-40B4-BE49-F238E27FC236}">
                <a16:creationId xmlns:a16="http://schemas.microsoft.com/office/drawing/2014/main" id="{71D3F449-95F9-4F08-82D5-E8EB9F71A6B6}"/>
              </a:ext>
            </a:extLst>
          </p:cNvPr>
          <p:cNvSpPr>
            <a:spLocks xmlns:a="http://schemas.openxmlformats.org/drawingml/2006/main" noGrp="1"/>
          </p:cNvSpPr>
          <p:nvPr/>
        </p:nvSpPr>
        <p:spPr>
          <a:xfrm xmlns:a="http://schemas.openxmlformats.org/drawingml/2006/main">
            <a:off x="666750" y="1209675"/>
            <a:ext cx="10858500" cy="19050"/>
          </a:xfrm>
          <a:prstGeom xmlns:a="http://schemas.openxmlformats.org/drawingml/2006/main" prst="rect">
            <a:avLst/>
          </a:prstGeom>
          <a:solidFill xmlns:a="http://schemas.openxmlformats.org/drawingml/2006/main">
            <a:srgbClr val="3A4A6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16D2D9C-C03D-4097-AD05-95FBCE907E85}"/>
              </a:ext>
            </a:extLst>
          </p:cNvPr>
          <p:cNvSpPr>
            <a:spLocks xmlns:a="http://schemas.openxmlformats.org/drawingml/2006/main" noGrp="1"/>
          </p:cNvSpPr>
          <p:nvPr/>
        </p:nvSpPr>
        <p:spPr>
          <a:xfrm xmlns:a="http://schemas.openxmlformats.org/drawingml/2006/main">
            <a:off x="666750" y="6372225"/>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AEBED1"/>
                </a:solidFill>
                <a:latin typeface="Aptos"/>
                <a:ea typeface="Aptos"/>
                <a:cs typeface="Aptos"/>
              </a:defRPr>
            </a:pPr>
            <a:r>
              <a:rPr sz="1275" b="0">
                <a:solidFill>
                  <a:srgbClr val="AEBED1"/>
                </a:solidFill>
                <a:latin typeface="Aptos"/>
                <a:ea typeface="Aptos"/>
                <a:cs typeface="Aptos"/>
              </a:rPr>
              <a:t>LayA + RogueRNG  ·  4/6</a:t>
            </a:r>
          </a:p>
        </p:txBody>
      </p:sp>
      <p:sp>
        <p:nvSpPr>
          <p:cNvPr id="4" name="">
            <a:extLst xmlns:a="http://schemas.openxmlformats.org/drawingml/2006/main">
              <a:ext uri="{FF2B5EF4-FFF2-40B4-BE49-F238E27FC236}">
                <a16:creationId xmlns:a16="http://schemas.microsoft.com/office/drawing/2014/main" id="{2194304A-E079-4DC0-81C9-AECB52815FCB}"/>
              </a:ext>
            </a:extLst>
          </p:cNvPr>
          <p:cNvSpPr>
            <a:spLocks xmlns:a="http://schemas.openxmlformats.org/drawingml/2006/main" noGrp="1"/>
          </p:cNvSpPr>
          <p:nvPr/>
        </p:nvSpPr>
        <p:spPr>
          <a:xfrm xmlns:a="http://schemas.openxmlformats.org/drawingml/2006/main">
            <a:off x="666750" y="1647825"/>
            <a:ext cx="1009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72E0BC"/>
                </a:solidFill>
                <a:latin typeface="Aptos"/>
                <a:ea typeface="Aptos"/>
                <a:cs typeface="Aptos"/>
              </a:defRPr>
            </a:pPr>
            <a:r>
              <a:rPr sz="2100" b="1">
                <a:solidFill>
                  <a:srgbClr val="72E0BC"/>
                </a:solidFill>
                <a:latin typeface="Aptos"/>
                <a:ea typeface="Aptos"/>
                <a:cs typeface="Aptos"/>
              </a:rPr>
              <a:t>Repeated, bounded choices</a:t>
            </a:r>
          </a:p>
        </p:txBody>
      </p:sp>
      <p:sp>
        <p:nvSpPr>
          <p:cNvPr id="5" name="">
            <a:extLst xmlns:a="http://schemas.openxmlformats.org/drawingml/2006/main">
              <a:ext uri="{FF2B5EF4-FFF2-40B4-BE49-F238E27FC236}">
                <a16:creationId xmlns:a16="http://schemas.microsoft.com/office/drawing/2014/main" id="{85B4219B-D45C-4AF7-BD31-1D9E0F22235E}"/>
              </a:ext>
            </a:extLst>
          </p:cNvPr>
          <p:cNvSpPr>
            <a:spLocks xmlns:a="http://schemas.openxmlformats.org/drawingml/2006/main" noGrp="1"/>
          </p:cNvSpPr>
          <p:nvPr/>
        </p:nvSpPr>
        <p:spPr>
          <a:xfrm xmlns:a="http://schemas.openxmlformats.org/drawingml/2006/main">
            <a:off x="666750" y="2095500"/>
            <a:ext cx="1028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F5F7FB"/>
                </a:solidFill>
                <a:latin typeface="Aptos"/>
                <a:ea typeface="Aptos"/>
                <a:cs typeface="Aptos"/>
              </a:defRPr>
            </a:pPr>
            <a:r>
              <a:rPr sz="2250" b="0">
                <a:solidFill>
                  <a:srgbClr val="F5F7FB"/>
                </a:solidFill>
                <a:latin typeface="Aptos"/>
                <a:ea typeface="Aptos"/>
                <a:cs typeface="Aptos"/>
              </a:rPr>
              <a:t>One typed response can replace a text-generation step.</a:t>
            </a:r>
          </a:p>
        </p:txBody>
      </p:sp>
      <p:sp>
        <p:nvSpPr>
          <p:cNvPr id="6" name="">
            <a:extLst xmlns:a="http://schemas.openxmlformats.org/drawingml/2006/main">
              <a:ext uri="{FF2B5EF4-FFF2-40B4-BE49-F238E27FC236}">
                <a16:creationId xmlns:a16="http://schemas.microsoft.com/office/drawing/2014/main" id="{CC8EDDC8-C220-4D95-92E0-86E0AB5E9273}"/>
              </a:ext>
            </a:extLst>
          </p:cNvPr>
          <p:cNvSpPr>
            <a:spLocks xmlns:a="http://schemas.openxmlformats.org/drawingml/2006/main" noGrp="1"/>
          </p:cNvSpPr>
          <p:nvPr/>
        </p:nvSpPr>
        <p:spPr>
          <a:xfrm xmlns:a="http://schemas.openxmlformats.org/drawingml/2006/main">
            <a:off x="666750" y="2962275"/>
            <a:ext cx="10858500" cy="19050"/>
          </a:xfrm>
          <a:prstGeom xmlns:a="http://schemas.openxmlformats.org/drawingml/2006/main" prst="rect">
            <a:avLst/>
          </a:prstGeom>
          <a:solidFill xmlns:a="http://schemas.openxmlformats.org/drawingml/2006/main">
            <a:srgbClr val="3A4A6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905B373-B240-41DC-A084-29E977111257}"/>
              </a:ext>
            </a:extLst>
          </p:cNvPr>
          <p:cNvSpPr>
            <a:spLocks xmlns:a="http://schemas.openxmlformats.org/drawingml/2006/main" noGrp="1"/>
          </p:cNvSpPr>
          <p:nvPr/>
        </p:nvSpPr>
        <p:spPr>
          <a:xfrm xmlns:a="http://schemas.openxmlformats.org/drawingml/2006/main">
            <a:off x="666750" y="3276600"/>
            <a:ext cx="1009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83B7FF"/>
                </a:solidFill>
                <a:latin typeface="Aptos"/>
                <a:ea typeface="Aptos"/>
                <a:cs typeface="Aptos"/>
              </a:defRPr>
            </a:pPr>
            <a:r>
              <a:rPr sz="2100" b="1">
                <a:solidFill>
                  <a:srgbClr val="83B7FF"/>
                </a:solidFill>
                <a:latin typeface="Aptos"/>
                <a:ea typeface="Aptos"/>
                <a:cs typeface="Aptos"/>
              </a:rPr>
              <a:t>Control stays in the workflow</a:t>
            </a:r>
          </a:p>
        </p:txBody>
      </p:sp>
      <p:sp>
        <p:nvSpPr>
          <p:cNvPr id="8" name="">
            <a:extLst xmlns:a="http://schemas.openxmlformats.org/drawingml/2006/main">
              <a:ext uri="{FF2B5EF4-FFF2-40B4-BE49-F238E27FC236}">
                <a16:creationId xmlns:a16="http://schemas.microsoft.com/office/drawing/2014/main" id="{F69F4353-81EE-43CB-8AF3-049856CC114E}"/>
              </a:ext>
            </a:extLst>
          </p:cNvPr>
          <p:cNvSpPr>
            <a:spLocks xmlns:a="http://schemas.openxmlformats.org/drawingml/2006/main" noGrp="1"/>
          </p:cNvSpPr>
          <p:nvPr/>
        </p:nvSpPr>
        <p:spPr>
          <a:xfrm xmlns:a="http://schemas.openxmlformats.org/drawingml/2006/main">
            <a:off x="666750" y="3733800"/>
            <a:ext cx="10477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F5F7FB"/>
                </a:solidFill>
                <a:latin typeface="Aptos"/>
                <a:ea typeface="Aptos"/>
                <a:cs typeface="Aptos"/>
              </a:defRPr>
            </a:pPr>
            <a:r>
              <a:rPr sz="2250" b="0">
                <a:solidFill>
                  <a:srgbClr val="F5F7FB"/>
                </a:solidFill>
                <a:latin typeface="Aptos"/>
                <a:ea typeface="Aptos"/>
                <a:cs typeface="Aptos"/>
              </a:rPr>
              <a:t>Safety → current plan → validated model signal → fallback</a:t>
            </a:r>
          </a:p>
        </p:txBody>
      </p:sp>
      <p:sp>
        <p:nvSpPr>
          <p:cNvPr id="9" name="">
            <a:extLst xmlns:a="http://schemas.openxmlformats.org/drawingml/2006/main">
              <a:ext uri="{FF2B5EF4-FFF2-40B4-BE49-F238E27FC236}">
                <a16:creationId xmlns:a16="http://schemas.microsoft.com/office/drawing/2014/main" id="{80E4837D-E0B2-4B0E-A159-EC00DA297C30}"/>
              </a:ext>
            </a:extLst>
          </p:cNvPr>
          <p:cNvSpPr>
            <a:spLocks xmlns:a="http://schemas.openxmlformats.org/drawingml/2006/main" noGrp="1"/>
          </p:cNvSpPr>
          <p:nvPr/>
        </p:nvSpPr>
        <p:spPr>
          <a:xfrm xmlns:a="http://schemas.openxmlformats.org/drawingml/2006/main">
            <a:off x="666750" y="4600575"/>
            <a:ext cx="10858500" cy="19050"/>
          </a:xfrm>
          <a:prstGeom xmlns:a="http://schemas.openxmlformats.org/drawingml/2006/main" prst="rect">
            <a:avLst/>
          </a:prstGeom>
          <a:solidFill xmlns:a="http://schemas.openxmlformats.org/drawingml/2006/main">
            <a:srgbClr val="3A4A6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65C45C2-A9B6-4515-9E73-D415CBA1D0F6}"/>
              </a:ext>
            </a:extLst>
          </p:cNvPr>
          <p:cNvSpPr>
            <a:spLocks xmlns:a="http://schemas.openxmlformats.org/drawingml/2006/main" noGrp="1"/>
          </p:cNvSpPr>
          <p:nvPr/>
        </p:nvSpPr>
        <p:spPr>
          <a:xfrm xmlns:a="http://schemas.openxmlformats.org/drawingml/2006/main">
            <a:off x="666750" y="4914900"/>
            <a:ext cx="1009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FFC98C"/>
                </a:solidFill>
                <a:latin typeface="Aptos"/>
                <a:ea typeface="Aptos"/>
                <a:cs typeface="Aptos"/>
              </a:defRPr>
            </a:pPr>
            <a:r>
              <a:rPr sz="2100" b="1">
                <a:solidFill>
                  <a:srgbClr val="FFC98C"/>
                </a:solidFill>
                <a:latin typeface="Aptos"/>
                <a:ea typeface="Aptos"/>
                <a:cs typeface="Aptos"/>
              </a:rPr>
              <a:t>What we can measure</a:t>
            </a:r>
          </a:p>
        </p:txBody>
      </p:sp>
      <p:sp>
        <p:nvSpPr>
          <p:cNvPr id="11" name="">
            <a:extLst xmlns:a="http://schemas.openxmlformats.org/drawingml/2006/main">
              <a:ext uri="{FF2B5EF4-FFF2-40B4-BE49-F238E27FC236}">
                <a16:creationId xmlns:a16="http://schemas.microsoft.com/office/drawing/2014/main" id="{1B7C3043-B6B2-4EE5-A4C8-7CC49F5C0E44}"/>
              </a:ext>
            </a:extLst>
          </p:cNvPr>
          <p:cNvSpPr>
            <a:spLocks xmlns:a="http://schemas.openxmlformats.org/drawingml/2006/main" noGrp="1"/>
          </p:cNvSpPr>
          <p:nvPr/>
        </p:nvSpPr>
        <p:spPr>
          <a:xfrm xmlns:a="http://schemas.openxmlformats.org/drawingml/2006/main">
            <a:off x="666750" y="5353050"/>
            <a:ext cx="104775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F5F7FB"/>
                </a:solidFill>
                <a:latin typeface="Aptos"/>
                <a:ea typeface="Aptos"/>
                <a:cs typeface="Aptos"/>
              </a:defRPr>
            </a:pPr>
            <a:r>
              <a:rPr sz="2175" b="0">
                <a:solidFill>
                  <a:srgbClr val="F5F7FB"/>
                </a:solidFill>
                <a:latin typeface="Aptos"/>
                <a:ea typeface="Aptos"/>
                <a:cs typeface="Aptos"/>
              </a:rPr>
              <a:t>Latency, execution share, errors, and quality against a baseline</a:t>
            </a:r>
          </a:p>
        </p:txBody>
      </p:sp>
    </p:spTree>
    <p:extLst>
      <p:ext uri="{BB962C8B-B14F-4D97-AF65-F5344CB8AC3E}">
        <p14:creationId xmlns:p14="http://schemas.microsoft.com/office/powerpoint/2010/main" val="990131250"/>
      </p:ext>
    </p:extLst>
  </p:cSld>
</p:sld>
</file>

<file path=ppt/slides/slide5.xml><?xml version="1.0" encoding="utf-8"?>
<p:sld xmlns:p="http://schemas.openxmlformats.org/presentationml/2006/main">
  <p:cSld>
    <p:bg>
      <p:bgPr>
        <a:solidFill xmlns:a="http://schemas.openxmlformats.org/drawingml/2006/main">
          <a:srgbClr val="101827"/>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EABE3DC-66AD-4D39-9B0B-66FB57D94299}"/>
              </a:ext>
            </a:extLst>
          </p:cNvPr>
          <p:cNvSpPr>
            <a:spLocks xmlns:a="http://schemas.openxmlformats.org/drawingml/2006/main" noGrp="1"/>
          </p:cNvSpPr>
          <p:nvPr/>
        </p:nvSpPr>
        <p:spPr>
          <a:xfrm xmlns:a="http://schemas.openxmlformats.org/drawingml/2006/main">
            <a:off x="666750" y="40005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F5F7FB"/>
                </a:solidFill>
                <a:latin typeface="Aptos"/>
                <a:ea typeface="Aptos"/>
                <a:cs typeface="Aptos"/>
              </a:defRPr>
            </a:pPr>
            <a:r>
              <a:rPr sz="3225" b="1">
                <a:solidFill>
                  <a:srgbClr val="F5F7FB"/>
                </a:solidFill>
                <a:latin typeface="Aptos"/>
                <a:ea typeface="Aptos"/>
                <a:cs typeface="Aptos"/>
              </a:rPr>
              <a:t>Task-aware model routing</a:t>
            </a:r>
          </a:p>
        </p:txBody>
      </p:sp>
      <p:sp>
        <p:nvSpPr>
          <p:cNvPr id="2" name="">
            <a:extLst xmlns:a="http://schemas.openxmlformats.org/drawingml/2006/main">
              <a:ext uri="{FF2B5EF4-FFF2-40B4-BE49-F238E27FC236}">
                <a16:creationId xmlns:a16="http://schemas.microsoft.com/office/drawing/2014/main" id="{D9969C73-2B37-4B9F-BEA4-E608BEA26B04}"/>
              </a:ext>
            </a:extLst>
          </p:cNvPr>
          <p:cNvSpPr>
            <a:spLocks xmlns:a="http://schemas.openxmlformats.org/drawingml/2006/main" noGrp="1"/>
          </p:cNvSpPr>
          <p:nvPr/>
        </p:nvSpPr>
        <p:spPr>
          <a:xfrm xmlns:a="http://schemas.openxmlformats.org/drawingml/2006/main">
            <a:off x="666750" y="1209675"/>
            <a:ext cx="10858500" cy="19050"/>
          </a:xfrm>
          <a:prstGeom xmlns:a="http://schemas.openxmlformats.org/drawingml/2006/main" prst="rect">
            <a:avLst/>
          </a:prstGeom>
          <a:solidFill xmlns:a="http://schemas.openxmlformats.org/drawingml/2006/main">
            <a:srgbClr val="3A4A6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6320251-D837-4FFF-AE7B-79A9C56503F3}"/>
              </a:ext>
            </a:extLst>
          </p:cNvPr>
          <p:cNvSpPr>
            <a:spLocks xmlns:a="http://schemas.openxmlformats.org/drawingml/2006/main" noGrp="1"/>
          </p:cNvSpPr>
          <p:nvPr/>
        </p:nvSpPr>
        <p:spPr>
          <a:xfrm xmlns:a="http://schemas.openxmlformats.org/drawingml/2006/main">
            <a:off x="666750" y="6372225"/>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AEBED1"/>
                </a:solidFill>
                <a:latin typeface="Aptos"/>
                <a:ea typeface="Aptos"/>
                <a:cs typeface="Aptos"/>
              </a:defRPr>
            </a:pPr>
            <a:r>
              <a:rPr sz="1275" b="0">
                <a:solidFill>
                  <a:srgbClr val="AEBED1"/>
                </a:solidFill>
                <a:latin typeface="Aptos"/>
                <a:ea typeface="Aptos"/>
                <a:cs typeface="Aptos"/>
              </a:rPr>
              <a:t>LayA + RogueRNG  ·  5/6</a:t>
            </a:r>
          </a:p>
        </p:txBody>
      </p:sp>
      <p:sp>
        <p:nvSpPr>
          <p:cNvPr id="4" name="">
            <a:extLst xmlns:a="http://schemas.openxmlformats.org/drawingml/2006/main">
              <a:ext uri="{FF2B5EF4-FFF2-40B4-BE49-F238E27FC236}">
                <a16:creationId xmlns:a16="http://schemas.microsoft.com/office/drawing/2014/main" id="{A97C8DEE-1CD1-438A-911D-C3D91FD0DD6E}"/>
              </a:ext>
            </a:extLst>
          </p:cNvPr>
          <p:cNvSpPr>
            <a:spLocks xmlns:a="http://schemas.openxmlformats.org/drawingml/2006/main" noGrp="1"/>
          </p:cNvSpPr>
          <p:nvPr/>
        </p:nvSpPr>
        <p:spPr>
          <a:xfrm xmlns:a="http://schemas.openxmlformats.org/drawingml/2006/main">
            <a:off x="666750" y="1619250"/>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AEBED1"/>
                </a:solidFill>
                <a:latin typeface="Aptos"/>
                <a:ea typeface="Aptos"/>
                <a:cs typeface="Aptos"/>
              </a:defRPr>
            </a:pPr>
            <a:r>
              <a:rPr sz="2025" b="1">
                <a:solidFill>
                  <a:srgbClr val="AEBED1"/>
                </a:solidFill>
                <a:latin typeface="Aptos"/>
                <a:ea typeface="Aptos"/>
                <a:cs typeface="Aptos"/>
              </a:rPr>
              <a:t>Current planning input</a:t>
            </a:r>
          </a:p>
        </p:txBody>
      </p:sp>
      <p:sp>
        <p:nvSpPr>
          <p:cNvPr id="5" name="">
            <a:extLst xmlns:a="http://schemas.openxmlformats.org/drawingml/2006/main">
              <a:ext uri="{FF2B5EF4-FFF2-40B4-BE49-F238E27FC236}">
                <a16:creationId xmlns:a16="http://schemas.microsoft.com/office/drawing/2014/main" id="{599D5DFC-36B8-41C9-8FD5-A35852769BF5}"/>
              </a:ext>
            </a:extLst>
          </p:cNvPr>
          <p:cNvSpPr>
            <a:spLocks xmlns:a="http://schemas.openxmlformats.org/drawingml/2006/main" noGrp="1"/>
          </p:cNvSpPr>
          <p:nvPr/>
        </p:nvSpPr>
        <p:spPr>
          <a:xfrm xmlns:a="http://schemas.openxmlformats.org/drawingml/2006/main">
            <a:off x="666750" y="2114550"/>
            <a:ext cx="1009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0">
                <a:solidFill>
                  <a:srgbClr val="F5F7FB"/>
                </a:solidFill>
                <a:latin typeface="Aptos"/>
                <a:ea typeface="Aptos"/>
                <a:cs typeface="Aptos"/>
              </a:defRPr>
            </a:pPr>
            <a:r>
              <a:rPr sz="2400" b="0">
                <a:solidFill>
                  <a:srgbClr val="F5F7FB"/>
                </a:solidFill>
                <a:latin typeface="Aptos"/>
                <a:ea typeface="Aptos"/>
                <a:cs typeface="Aptos"/>
              </a:rPr>
              <a:t>small  /  medium  /  large  /  simple</a:t>
            </a:r>
          </a:p>
        </p:txBody>
      </p:sp>
      <p:sp>
        <p:nvSpPr>
          <p:cNvPr id="6" name="">
            <a:extLst xmlns:a="http://schemas.openxmlformats.org/drawingml/2006/main">
              <a:ext uri="{FF2B5EF4-FFF2-40B4-BE49-F238E27FC236}">
                <a16:creationId xmlns:a16="http://schemas.microsoft.com/office/drawing/2014/main" id="{D3625F06-3B68-4A76-BB60-4A1E4B7CDC9D}"/>
              </a:ext>
            </a:extLst>
          </p:cNvPr>
          <p:cNvSpPr>
            <a:spLocks xmlns:a="http://schemas.openxmlformats.org/drawingml/2006/main" noGrp="1"/>
          </p:cNvSpPr>
          <p:nvPr/>
        </p:nvSpPr>
        <p:spPr>
          <a:xfrm xmlns:a="http://schemas.openxmlformats.org/drawingml/2006/main">
            <a:off x="666750" y="3048000"/>
            <a:ext cx="10858500" cy="19050"/>
          </a:xfrm>
          <a:prstGeom xmlns:a="http://schemas.openxmlformats.org/drawingml/2006/main" prst="rect">
            <a:avLst/>
          </a:prstGeom>
          <a:solidFill xmlns:a="http://schemas.openxmlformats.org/drawingml/2006/main">
            <a:srgbClr val="3A4A6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D0BB5DD-0DDF-432E-8A6C-1D3D83B529BD}"/>
              </a:ext>
            </a:extLst>
          </p:cNvPr>
          <p:cNvSpPr>
            <a:spLocks xmlns:a="http://schemas.openxmlformats.org/drawingml/2006/main" noGrp="1"/>
          </p:cNvSpPr>
          <p:nvPr/>
        </p:nvSpPr>
        <p:spPr>
          <a:xfrm xmlns:a="http://schemas.openxmlformats.org/drawingml/2006/main">
            <a:off x="666750" y="3333750"/>
            <a:ext cx="1009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72E0BC"/>
                </a:solidFill>
                <a:latin typeface="Aptos"/>
                <a:ea typeface="Aptos"/>
                <a:cs typeface="Aptos"/>
              </a:defRPr>
            </a:pPr>
            <a:r>
              <a:rPr sz="2025" b="1">
                <a:solidFill>
                  <a:srgbClr val="72E0BC"/>
                </a:solidFill>
                <a:latin typeface="Aptos"/>
                <a:ea typeface="Aptos"/>
                <a:cs typeface="Aptos"/>
              </a:rPr>
              <a:t>Proposed routing input</a:t>
            </a:r>
          </a:p>
        </p:txBody>
      </p:sp>
      <p:sp>
        <p:nvSpPr>
          <p:cNvPr id="8" name="">
            <a:extLst xmlns:a="http://schemas.openxmlformats.org/drawingml/2006/main">
              <a:ext uri="{FF2B5EF4-FFF2-40B4-BE49-F238E27FC236}">
                <a16:creationId xmlns:a16="http://schemas.microsoft.com/office/drawing/2014/main" id="{CBF03FA3-8EC9-4616-88E0-540ABD9F68EE}"/>
              </a:ext>
            </a:extLst>
          </p:cNvPr>
          <p:cNvSpPr>
            <a:spLocks xmlns:a="http://schemas.openxmlformats.org/drawingml/2006/main" noGrp="1"/>
          </p:cNvSpPr>
          <p:nvPr/>
        </p:nvSpPr>
        <p:spPr>
          <a:xfrm xmlns:a="http://schemas.openxmlformats.org/drawingml/2006/main">
            <a:off x="666750" y="3819525"/>
            <a:ext cx="1066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F5F7FB"/>
                </a:solidFill>
                <a:latin typeface="Aptos"/>
                <a:ea typeface="Aptos"/>
                <a:cs typeface="Aptos"/>
              </a:defRPr>
            </a:pPr>
            <a:r>
              <a:rPr sz="2175" b="0">
                <a:solidFill>
                  <a:srgbClr val="F5F7FB"/>
                </a:solidFill>
                <a:latin typeface="Aptos"/>
                <a:ea typeface="Aptos"/>
                <a:cs typeface="Aptos"/>
              </a:rPr>
              <a:t>task type · context size · tools · quality bar · time and cost limits</a:t>
            </a:r>
          </a:p>
        </p:txBody>
      </p:sp>
      <p:sp>
        <p:nvSpPr>
          <p:cNvPr id="9" name="">
            <a:extLst xmlns:a="http://schemas.openxmlformats.org/drawingml/2006/main">
              <a:ext uri="{FF2B5EF4-FFF2-40B4-BE49-F238E27FC236}">
                <a16:creationId xmlns:a16="http://schemas.microsoft.com/office/drawing/2014/main" id="{4B209F4A-A4B8-4894-AC80-684ADAAEA7EB}"/>
              </a:ext>
            </a:extLst>
          </p:cNvPr>
          <p:cNvSpPr>
            <a:spLocks xmlns:a="http://schemas.openxmlformats.org/drawingml/2006/main" noGrp="1"/>
          </p:cNvSpPr>
          <p:nvPr/>
        </p:nvSpPr>
        <p:spPr>
          <a:xfrm xmlns:a="http://schemas.openxmlformats.org/drawingml/2006/main">
            <a:off x="666750" y="4943475"/>
            <a:ext cx="10858500" cy="19050"/>
          </a:xfrm>
          <a:prstGeom xmlns:a="http://schemas.openxmlformats.org/drawingml/2006/main" prst="rect">
            <a:avLst/>
          </a:prstGeom>
          <a:solidFill xmlns:a="http://schemas.openxmlformats.org/drawingml/2006/main">
            <a:srgbClr val="3A4A6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4F67582-BB5A-4E02-8C06-C2F0470EE77C}"/>
              </a:ext>
            </a:extLst>
          </p:cNvPr>
          <p:cNvSpPr>
            <a:spLocks xmlns:a="http://schemas.openxmlformats.org/drawingml/2006/main" noGrp="1"/>
          </p:cNvSpPr>
          <p:nvPr/>
        </p:nvSpPr>
        <p:spPr>
          <a:xfrm xmlns:a="http://schemas.openxmlformats.org/drawingml/2006/main">
            <a:off x="666750" y="5219700"/>
            <a:ext cx="1009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950" b="1">
                <a:solidFill>
                  <a:srgbClr val="FFC98C"/>
                </a:solidFill>
                <a:latin typeface="Aptos"/>
                <a:ea typeface="Aptos"/>
                <a:cs typeface="Aptos"/>
              </a:defRPr>
            </a:pPr>
            <a:r>
              <a:rPr sz="1950" b="1">
                <a:solidFill>
                  <a:srgbClr val="FFC98C"/>
                </a:solidFill>
                <a:latin typeface="Aptos"/>
                <a:ea typeface="Aptos"/>
                <a:cs typeface="Aptos"/>
              </a:rPr>
              <a:t>Decision</a:t>
            </a:r>
          </a:p>
        </p:txBody>
      </p:sp>
      <p:sp>
        <p:nvSpPr>
          <p:cNvPr id="11" name="">
            <a:extLst xmlns:a="http://schemas.openxmlformats.org/drawingml/2006/main">
              <a:ext uri="{FF2B5EF4-FFF2-40B4-BE49-F238E27FC236}">
                <a16:creationId xmlns:a16="http://schemas.microsoft.com/office/drawing/2014/main" id="{BEF68EBE-FAAC-4F1F-AF0E-CD27EABDDC87}"/>
              </a:ext>
            </a:extLst>
          </p:cNvPr>
          <p:cNvSpPr>
            <a:spLocks xmlns:a="http://schemas.openxmlformats.org/drawingml/2006/main" noGrp="1"/>
          </p:cNvSpPr>
          <p:nvPr/>
        </p:nvSpPr>
        <p:spPr>
          <a:xfrm xmlns:a="http://schemas.openxmlformats.org/drawingml/2006/main">
            <a:off x="666750" y="5610225"/>
            <a:ext cx="10477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0">
                <a:solidFill>
                  <a:srgbClr val="F5F7FB"/>
                </a:solidFill>
                <a:latin typeface="Aptos"/>
                <a:ea typeface="Aptos"/>
                <a:cs typeface="Aptos"/>
              </a:defRPr>
            </a:pPr>
            <a:r>
              <a:rPr sz="2100" b="0">
                <a:solidFill>
                  <a:srgbClr val="F5F7FB"/>
                </a:solidFill>
                <a:latin typeface="Aptos"/>
                <a:ea typeface="Aptos"/>
                <a:cs typeface="Aptos"/>
              </a:rPr>
              <a:t>Choose from measured model performance on tasks like this one.</a:t>
            </a:r>
          </a:p>
        </p:txBody>
      </p:sp>
    </p:spTree>
    <p:extLst>
      <p:ext uri="{BB962C8B-B14F-4D97-AF65-F5344CB8AC3E}">
        <p14:creationId xmlns:p14="http://schemas.microsoft.com/office/powerpoint/2010/main" val="1379300111"/>
      </p:ext>
    </p:extLst>
  </p:cSld>
</p:sld>
</file>

<file path=ppt/slides/slide6.xml><?xml version="1.0" encoding="utf-8"?>
<p:sld xmlns:p="http://schemas.openxmlformats.org/presentationml/2006/main">
  <p:cSld>
    <p:bg>
      <p:bgPr>
        <a:solidFill xmlns:a="http://schemas.openxmlformats.org/drawingml/2006/main">
          <a:srgbClr val="101827"/>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FBE7B0B-A147-4205-BAB0-D17E7187DC6F}"/>
              </a:ext>
            </a:extLst>
          </p:cNvPr>
          <p:cNvSpPr>
            <a:spLocks xmlns:a="http://schemas.openxmlformats.org/drawingml/2006/main" noGrp="1"/>
          </p:cNvSpPr>
          <p:nvPr/>
        </p:nvSpPr>
        <p:spPr>
          <a:xfrm xmlns:a="http://schemas.openxmlformats.org/drawingml/2006/main">
            <a:off x="666750" y="40005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1">
                <a:solidFill>
                  <a:srgbClr val="F5F7FB"/>
                </a:solidFill>
                <a:latin typeface="Aptos"/>
                <a:ea typeface="Aptos"/>
                <a:cs typeface="Aptos"/>
              </a:defRPr>
            </a:pPr>
            <a:r>
              <a:rPr sz="3225" b="1">
                <a:solidFill>
                  <a:srgbClr val="F5F7FB"/>
                </a:solidFill>
                <a:latin typeface="Aptos"/>
                <a:ea typeface="Aptos"/>
                <a:cs typeface="Aptos"/>
              </a:rPr>
              <a:t>What if the classifier learned our domain?</a:t>
            </a:r>
          </a:p>
        </p:txBody>
      </p:sp>
      <p:sp>
        <p:nvSpPr>
          <p:cNvPr id="2" name="">
            <a:extLst xmlns:a="http://schemas.openxmlformats.org/drawingml/2006/main">
              <a:ext uri="{FF2B5EF4-FFF2-40B4-BE49-F238E27FC236}">
                <a16:creationId xmlns:a16="http://schemas.microsoft.com/office/drawing/2014/main" id="{7941C252-8924-431F-BD1C-E27D8BDA7C73}"/>
              </a:ext>
            </a:extLst>
          </p:cNvPr>
          <p:cNvSpPr>
            <a:spLocks xmlns:a="http://schemas.openxmlformats.org/drawingml/2006/main" noGrp="1"/>
          </p:cNvSpPr>
          <p:nvPr/>
        </p:nvSpPr>
        <p:spPr>
          <a:xfrm xmlns:a="http://schemas.openxmlformats.org/drawingml/2006/main">
            <a:off x="666750" y="1209675"/>
            <a:ext cx="10858500" cy="19050"/>
          </a:xfrm>
          <a:prstGeom xmlns:a="http://schemas.openxmlformats.org/drawingml/2006/main" prst="rect">
            <a:avLst/>
          </a:prstGeom>
          <a:solidFill xmlns:a="http://schemas.openxmlformats.org/drawingml/2006/main">
            <a:srgbClr val="3A4A60"/>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8A3C281-7B40-4E0E-AB24-5769E1C22D28}"/>
              </a:ext>
            </a:extLst>
          </p:cNvPr>
          <p:cNvSpPr>
            <a:spLocks xmlns:a="http://schemas.openxmlformats.org/drawingml/2006/main" noGrp="1"/>
          </p:cNvSpPr>
          <p:nvPr/>
        </p:nvSpPr>
        <p:spPr>
          <a:xfrm xmlns:a="http://schemas.openxmlformats.org/drawingml/2006/main">
            <a:off x="666750" y="6372225"/>
            <a:ext cx="1066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AEBED1"/>
                </a:solidFill>
                <a:latin typeface="Aptos"/>
                <a:ea typeface="Aptos"/>
                <a:cs typeface="Aptos"/>
              </a:defRPr>
            </a:pPr>
            <a:r>
              <a:rPr sz="1275" b="0">
                <a:solidFill>
                  <a:srgbClr val="AEBED1"/>
                </a:solidFill>
                <a:latin typeface="Aptos"/>
                <a:ea typeface="Aptos"/>
                <a:cs typeface="Aptos"/>
              </a:rPr>
              <a:t>LayA + RogueRNG  ·  6/6</a:t>
            </a:r>
          </a:p>
        </p:txBody>
      </p:sp>
      <p:sp>
        <p:nvSpPr>
          <p:cNvPr id="4" name="">
            <a:extLst xmlns:a="http://schemas.openxmlformats.org/drawingml/2006/main">
              <a:ext uri="{FF2B5EF4-FFF2-40B4-BE49-F238E27FC236}">
                <a16:creationId xmlns:a16="http://schemas.microsoft.com/office/drawing/2014/main" id="{4FBC08AC-4A73-415A-9A66-E7C6865742C3}"/>
              </a:ext>
            </a:extLst>
          </p:cNvPr>
          <p:cNvSpPr>
            <a:spLocks xmlns:a="http://schemas.openxmlformats.org/drawingml/2006/main" noGrp="1"/>
          </p:cNvSpPr>
          <p:nvPr/>
        </p:nvSpPr>
        <p:spPr>
          <a:xfrm xmlns:a="http://schemas.openxmlformats.org/drawingml/2006/main">
            <a:off x="666750" y="160972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F5F7FB"/>
                </a:solidFill>
                <a:latin typeface="Aptos"/>
                <a:ea typeface="Aptos"/>
                <a:cs typeface="Aptos"/>
              </a:defRPr>
            </a:pPr>
            <a:r>
              <a:rPr sz="2250" b="0">
                <a:solidFill>
                  <a:srgbClr val="F5F7FB"/>
                </a:solidFill>
                <a:latin typeface="Aptos"/>
                <a:ea typeface="Aptos"/>
                <a:cs typeface="Aptos"/>
              </a:rPr>
              <a:t>A client or industry could label recurring decisions:</a:t>
            </a:r>
          </a:p>
        </p:txBody>
      </p:sp>
      <p:sp>
        <p:nvSpPr>
          <p:cNvPr id="5" name="">
            <a:extLst xmlns:a="http://schemas.openxmlformats.org/drawingml/2006/main">
              <a:ext uri="{FF2B5EF4-FFF2-40B4-BE49-F238E27FC236}">
                <a16:creationId xmlns:a16="http://schemas.microsoft.com/office/drawing/2014/main" id="{88A23C4F-5A55-471F-98C9-0CF182D1CCC7}"/>
              </a:ext>
            </a:extLst>
          </p:cNvPr>
          <p:cNvSpPr>
            <a:spLocks xmlns:a="http://schemas.openxmlformats.org/drawingml/2006/main" noGrp="1"/>
          </p:cNvSpPr>
          <p:nvPr/>
        </p:nvSpPr>
        <p:spPr>
          <a:xfrm xmlns:a="http://schemas.openxmlformats.org/drawingml/2006/main">
            <a:off x="666750" y="234315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72E0BC"/>
                </a:solidFill>
                <a:latin typeface="Aptos"/>
                <a:ea typeface="Aptos"/>
                <a:cs typeface="Aptos"/>
              </a:defRPr>
            </a:pPr>
            <a:r>
              <a:rPr sz="2325" b="1">
                <a:solidFill>
                  <a:srgbClr val="72E0BC"/>
                </a:solidFill>
                <a:latin typeface="Aptos"/>
                <a:ea typeface="Aptos"/>
                <a:cs typeface="Aptos"/>
              </a:rPr>
              <a:t>Which route worked?  Which action needed review?  When did we escalate?</a:t>
            </a:r>
          </a:p>
        </p:txBody>
      </p:sp>
      <p:sp>
        <p:nvSpPr>
          <p:cNvPr id="6" name="">
            <a:extLst xmlns:a="http://schemas.openxmlformats.org/drawingml/2006/main">
              <a:ext uri="{FF2B5EF4-FFF2-40B4-BE49-F238E27FC236}">
                <a16:creationId xmlns:a16="http://schemas.microsoft.com/office/drawing/2014/main" id="{82A9455F-CD9D-4ACB-850F-BA1BE26405F0}"/>
              </a:ext>
            </a:extLst>
          </p:cNvPr>
          <p:cNvSpPr>
            <a:spLocks xmlns:a="http://schemas.openxmlformats.org/drawingml/2006/main" noGrp="1"/>
          </p:cNvSpPr>
          <p:nvPr/>
        </p:nvSpPr>
        <p:spPr>
          <a:xfrm xmlns:a="http://schemas.openxmlformats.org/drawingml/2006/main">
            <a:off x="666750" y="3619500"/>
            <a:ext cx="10858500" cy="19050"/>
          </a:xfrm>
          <a:prstGeom xmlns:a="http://schemas.openxmlformats.org/drawingml/2006/main" prst="rect">
            <a:avLst/>
          </a:prstGeom>
          <a:solidFill xmlns:a="http://schemas.openxmlformats.org/drawingml/2006/main">
            <a:srgbClr val="3A4A6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FDF06A6-8CB5-454F-875E-A9B84B0CA18A}"/>
              </a:ext>
            </a:extLst>
          </p:cNvPr>
          <p:cNvSpPr>
            <a:spLocks xmlns:a="http://schemas.openxmlformats.org/drawingml/2006/main" noGrp="1"/>
          </p:cNvSpPr>
          <p:nvPr/>
        </p:nvSpPr>
        <p:spPr>
          <a:xfrm xmlns:a="http://schemas.openxmlformats.org/drawingml/2006/main">
            <a:off x="666750" y="3952875"/>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F5F7FB"/>
                </a:solidFill>
                <a:latin typeface="Aptos"/>
                <a:ea typeface="Aptos"/>
                <a:cs typeface="Aptos"/>
              </a:defRPr>
            </a:pPr>
            <a:r>
              <a:rPr sz="2250" b="0">
                <a:solidFill>
                  <a:srgbClr val="F5F7FB"/>
                </a:solidFill>
                <a:latin typeface="Aptos"/>
                <a:ea typeface="Aptos"/>
                <a:cs typeface="Aptos"/>
              </a:rPr>
              <a:t>Then test the tuned decision head on held-out cases:</a:t>
            </a:r>
          </a:p>
        </p:txBody>
      </p:sp>
      <p:sp>
        <p:nvSpPr>
          <p:cNvPr id="8" name="">
            <a:extLst xmlns:a="http://schemas.openxmlformats.org/drawingml/2006/main">
              <a:ext uri="{FF2B5EF4-FFF2-40B4-BE49-F238E27FC236}">
                <a16:creationId xmlns:a16="http://schemas.microsoft.com/office/drawing/2014/main" id="{E7575E27-4DCE-421B-9276-D7F23CDF4CDF}"/>
              </a:ext>
            </a:extLst>
          </p:cNvPr>
          <p:cNvSpPr>
            <a:spLocks xmlns:a="http://schemas.openxmlformats.org/drawingml/2006/main" noGrp="1"/>
          </p:cNvSpPr>
          <p:nvPr/>
        </p:nvSpPr>
        <p:spPr>
          <a:xfrm xmlns:a="http://schemas.openxmlformats.org/drawingml/2006/main">
            <a:off x="666750" y="4619625"/>
            <a:ext cx="10572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83B7FF"/>
                </a:solidFill>
                <a:latin typeface="Aptos"/>
                <a:ea typeface="Aptos"/>
                <a:cs typeface="Aptos"/>
              </a:defRPr>
            </a:pPr>
            <a:r>
              <a:rPr sz="2175" b="1">
                <a:solidFill>
                  <a:srgbClr val="83B7FF"/>
                </a:solidFill>
                <a:latin typeface="Aptos"/>
                <a:ea typeface="Aptos"/>
                <a:cs typeface="Aptos"/>
              </a:rPr>
              <a:t>quality · calibration · latency · cost · safe fallback rate</a:t>
            </a:r>
          </a:p>
        </p:txBody>
      </p:sp>
      <p:sp>
        <p:nvSpPr>
          <p:cNvPr id="9" name="">
            <a:extLst xmlns:a="http://schemas.openxmlformats.org/drawingml/2006/main">
              <a:ext uri="{FF2B5EF4-FFF2-40B4-BE49-F238E27FC236}">
                <a16:creationId xmlns:a16="http://schemas.microsoft.com/office/drawing/2014/main" id="{5B49F08E-7B43-4777-BCBE-CB90C128E5AD}"/>
              </a:ext>
            </a:extLst>
          </p:cNvPr>
          <p:cNvSpPr>
            <a:spLocks xmlns:a="http://schemas.openxmlformats.org/drawingml/2006/main" noGrp="1"/>
          </p:cNvSpPr>
          <p:nvPr/>
        </p:nvSpPr>
        <p:spPr>
          <a:xfrm xmlns:a="http://schemas.openxmlformats.org/drawingml/2006/main">
            <a:off x="666750" y="5734050"/>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F5F7FB"/>
                </a:solidFill>
                <a:latin typeface="Aptos"/>
                <a:ea typeface="Aptos"/>
                <a:cs typeface="Aptos"/>
              </a:defRPr>
            </a:pPr>
            <a:r>
              <a:rPr sz="2025" b="0">
                <a:solidFill>
                  <a:srgbClr val="F5F7FB"/>
                </a:solidFill>
                <a:latin typeface="Aptos"/>
                <a:ea typeface="Aptos"/>
                <a:cs typeface="Aptos"/>
              </a:rPr>
              <a:t>The question is where a fast specialist earns a place in the workflow.</a:t>
            </a:r>
          </a:p>
        </p:txBody>
      </p:sp>
    </p:spTree>
    <p:extLst>
      <p:ext uri="{BB962C8B-B14F-4D97-AF65-F5344CB8AC3E}">
        <p14:creationId xmlns:p14="http://schemas.microsoft.com/office/powerpoint/2010/main" val="3931567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2026-09-24T15:05:37.4680000Z</dcterms:created>
  <dcterms:modified xsi:type="dcterms:W3CDTF">2026-09-24T15:05:37.4680000Z</dcterms:modified>
</coreProperties>
</file>