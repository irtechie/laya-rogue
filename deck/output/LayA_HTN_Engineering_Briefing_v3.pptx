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a097a9dd5e461e" /><Relationship Type="http://schemas.openxmlformats.org/officeDocument/2006/relationships/extended-properties" Target="/docProps/app.xml" Id="R884c9386acca4712" /><Relationship Type="http://schemas.openxmlformats.org/officeDocument/2006/relationships/officeDocument" Target="/ppt/presentation.xml" Id="R29659c3b92ea4446" /></Relationships>
</file>

<file path=ppt/presentation.xml><?xml version="1.0" encoding="utf-8"?>
<p:presentation xmlns:p="http://schemas.openxmlformats.org/presentationml/2006/main">
  <p:sldMasterIdLst>
    <p:sldMasterId xmlns:r="http://schemas.openxmlformats.org/officeDocument/2006/relationships" id="2147483648" r:id="Re7af393d57834528"/>
  </p:sldMasterIdLst>
  <p:notesMasterIdLst>
    <p:notesMasterId xmlns:r="http://schemas.openxmlformats.org/officeDocument/2006/relationships" r:id="R109c2987b3084180"/>
  </p:notesMasterIdLst>
  <p:sldIdLst>
    <p:sldId xmlns:r="http://schemas.openxmlformats.org/officeDocument/2006/relationships" id="256" r:id="R63c44862ac9c48ad"/>
    <p:sldId xmlns:r="http://schemas.openxmlformats.org/officeDocument/2006/relationships" id="257" r:id="R5cf3333eddd547d7"/>
    <p:sldId xmlns:r="http://schemas.openxmlformats.org/officeDocument/2006/relationships" id="258" r:id="Re788c38eb4924804"/>
    <p:sldId xmlns:r="http://schemas.openxmlformats.org/officeDocument/2006/relationships" id="259" r:id="R62d50370a0ff4fd3"/>
    <p:sldId xmlns:r="http://schemas.openxmlformats.org/officeDocument/2006/relationships" id="260" r:id="R234eefc6086145b2"/>
    <p:sldId xmlns:r="http://schemas.openxmlformats.org/officeDocument/2006/relationships" id="261" r:id="Rf4d8fd32b2b14d1e"/>
    <p:sldId xmlns:r="http://schemas.openxmlformats.org/officeDocument/2006/relationships" id="262" r:id="R3ce7e4053e9745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d45ec919b9473a" /><Relationship Type="http://schemas.openxmlformats.org/officeDocument/2006/relationships/slideMaster" Target="/ppt/slideMasters/slideMaster1.xml" Id="Re7af393d57834528" /><Relationship Type="http://schemas.openxmlformats.org/officeDocument/2006/relationships/notesMaster" Target="/ppt/notesMasters/notesMaster1.xml" Id="R109c2987b3084180" /><Relationship Type="http://schemas.openxmlformats.org/officeDocument/2006/relationships/presProps" Target="/ppt/presProps.xml" Id="R211b5e7ce25c43d0" /><Relationship Type="http://schemas.openxmlformats.org/officeDocument/2006/relationships/tableStyles" Target="/ppt/tableStyles.xml" Id="Rca4d3c212f5f4c67" /><Relationship Type="http://schemas.openxmlformats.org/officeDocument/2006/relationships/slide" Target="/ppt/slides/slide1.xml" Id="R63c44862ac9c48ad" /><Relationship Type="http://schemas.openxmlformats.org/officeDocument/2006/relationships/slide" Target="/ppt/slides/slide2.xml" Id="R5cf3333eddd547d7" /><Relationship Type="http://schemas.openxmlformats.org/officeDocument/2006/relationships/slide" Target="/ppt/slides/slide3.xml" Id="Re788c38eb4924804" /><Relationship Type="http://schemas.openxmlformats.org/officeDocument/2006/relationships/slide" Target="/ppt/slides/slide4.xml" Id="R62d50370a0ff4fd3" /><Relationship Type="http://schemas.openxmlformats.org/officeDocument/2006/relationships/slide" Target="/ppt/slides/slide5.xml" Id="R234eefc6086145b2" /><Relationship Type="http://schemas.openxmlformats.org/officeDocument/2006/relationships/slide" Target="/ppt/slides/slide6.xml" Id="Rf4d8fd32b2b14d1e" /><Relationship Type="http://schemas.openxmlformats.org/officeDocument/2006/relationships/slide" Target="/ppt/slides/slide7.xml" Id="R3ce7e4053e9745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ac87d3fd8e47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9c6febc5524297" /><Relationship Type="http://schemas.openxmlformats.org/officeDocument/2006/relationships/notesMaster" Target="/ppt/notesMasters/notesMaster1.xml" Id="R0c1fb551bf274e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90ef0382804146" /><Relationship Type="http://schemas.openxmlformats.org/officeDocument/2006/relationships/notesMaster" Target="/ppt/notesMasters/notesMaster1.xml" Id="Rb04c092f08af4e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dae5290b3f48ff" /><Relationship Type="http://schemas.openxmlformats.org/officeDocument/2006/relationships/notesMaster" Target="/ppt/notesMasters/notesMaster1.xml" Id="R7f9e254148f545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09f1ffbfda47b4" /><Relationship Type="http://schemas.openxmlformats.org/officeDocument/2006/relationships/notesMaster" Target="/ppt/notesMasters/notesMaster1.xml" Id="R5502303d5dd84c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c4b484ef594d71" /><Relationship Type="http://schemas.openxmlformats.org/officeDocument/2006/relationships/notesMaster" Target="/ppt/notesMasters/notesMaster1.xml" Id="R44622ab7f15f4e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ee491c5b9244ae" /><Relationship Type="http://schemas.openxmlformats.org/officeDocument/2006/relationships/notesMaster" Target="/ppt/notesMasters/notesMaster1.xml" Id="Ra93f09becc354b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816a2b82d24e87" /><Relationship Type="http://schemas.openxmlformats.org/officeDocument/2006/relationships/notesMaster" Target="/ppt/notesMasters/notesMaster1.xml" Id="Rbde02d7c362c4f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Lead with the actual call order in game/src/laya.js. The bridge returns a typed decision; the planner may update persistent state; macroDecision chooses one action; commit invokes Core.act. The policy comment summarizes safety, plan, LayA and reflex, but the implementation has a model-derived overmatched flee branch before planStep and factual stair checks before the confidence-gated intent. The execution boundary is code, not the classifier. Sources: local game/src/laya.js, game/src/laya/policy.js, bridge/matrix.py.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Choice is a closed set of eleven intents. Score is the expected level under a four-level distribution. Each Noul returns P(true). In the local LayA agent, each question is tokenized with the state and its options, collated into seven batch rows, passed through the encoder once, then softmaxed per row. The normalized entropy confidence is not empirical accuracy; the eleven-option temperature bucket is clamped and should be treated as uncalibrated. One forward call does not mean seven questions cost the same as one; a one-versus-seven latency ablation is still needed. Source: local bridge/matrix.py and E:/layaplayground/laya/agent.py, 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The left sample is from the user-supplied pasted demo, not a fresh benchmark. The right code is simplified pseudocode matching the policy branches. A top intent of explore with confidence 0.26 is a vote, not evidence of correctness. The policy executes only what facts permit. A separate Noul probability can activate an HTN tending goal with bag or gold guards. Source: pasted demo, local game/src/laya/policy.js and 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This is an HTN-style authored method library. Each goal has a trigger, weight and method; each primitive task has a live done predicate and act function. LayA does not synthesize a task graph. Most triggers are factual; tending uses the model axis plus additional facts. An intent is enough for a one-turn choice. A goal is needed when the desired outcome spans town travel, errands and a return to the saved dungeon depth. Source: local game/src/laya/planner.js, GOALS and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This is a code-derived scenario, not an observed trace. Active goals are sorted by weight. mergePlans deduplicates home and chores by task key, includes buy:key once, and hoists resume to the end; descend suppresses resume. The plan is stored with current index. Each tick checks done against fresh facts; it is not continuously re-decomposed. The 400-tick fuse is an unverified skip, not success proof. Cooldown of 80 ticks prevents immediate re-arming. Source: local game/src/laya/planner.js.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These numbers come from parsing local runs/events.jsonl: 2,037 events over mixed historical sessions, 2,031 with latency, median 122.6 milliseconds and 95th percentile 206.4 milliseconds using the bridge/server.py percentile index rule. Final action via prefixes were macro 2,013, plan 14, reflex 6, safety 3, errand 1 and LayA 0. This file is not a controlled current benchmark, and its action-owner tags do not reveal whether a LayA axis indirectly armed a plan. Another earlier run snapshot reports some LayA action share, so avoid turning this mixed log into a global claim. The honest point is that telemetry separates model output from execution authority. Source: local runs/events.jsonl and bridge/server.py stats.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in about 55 seconds. The game demonstrates the control architecture, not model-routing quality. In the working-skills repository, current difficulty tiers are broad. The next experiment is a task-specific labeled set that measures whether the classifier can recommend the right eligible model compared with that baseline and an LLM router. For a client or industry, train or adapt the typed head on its recurring decisions and test held-out quality and calibration. Evaluate the cost of seven batched questions against one question rather than assuming equivalence. Preserve tool eligibility, fallback and verification. Source for current tier practice: presenter description; technical architecture: local bridge/matrix.py, game/src/laya/planner.js, and upstream LayA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f6160a285947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bbbd6036384567" /><Relationship Type="http://schemas.openxmlformats.org/officeDocument/2006/relationships/slideLayout" Target="/ppt/slideLayouts/slideLayout1.xml" Id="R0a80c54d3dd347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80c54d3dd347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8ba33156b1452b" /><Relationship Type="http://schemas.openxmlformats.org/officeDocument/2006/relationships/notesSlide" Target="/ppt/notesSlides/notesSlide1.xml" Id="Rd6b90896a3ee49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58bcefd3db40f3" /><Relationship Type="http://schemas.openxmlformats.org/officeDocument/2006/relationships/notesSlide" Target="/ppt/notesSlides/notesSlide2.xml" Id="R132374892b914e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c68e19dbb94d58" /><Relationship Type="http://schemas.openxmlformats.org/officeDocument/2006/relationships/notesSlide" Target="/ppt/notesSlides/notesSlide3.xml" Id="R64a4b81dba834d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4b38a2e66c4f35" /><Relationship Type="http://schemas.openxmlformats.org/officeDocument/2006/relationships/notesSlide" Target="/ppt/notesSlides/notesSlide4.xml" Id="R6aac7a2375a64d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0187aeaf4c4d54" /><Relationship Type="http://schemas.openxmlformats.org/officeDocument/2006/relationships/notesSlide" Target="/ppt/notesSlides/notesSlide5.xml" Id="R7531962a815a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026818735a4b4f" /><Relationship Type="http://schemas.openxmlformats.org/officeDocument/2006/relationships/notesSlide" Target="/ppt/notesSlides/notesSlide6.xml" Id="Reb9962cd649748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e00653f08c4372" /><Relationship Type="http://schemas.openxmlformats.org/officeDocument/2006/relationships/notesSlide" Target="/ppt/notesSlides/notesSlide7.xml" Id="Rd1e72f5afe8b4608" /></Relationships>
</file>

<file path=ppt/slides/slide1.xml><?xml version="1.0" encoding="utf-8"?>
<p:sld xmlns:p="http://schemas.openxmlformats.org/presentationml/2006/main">
  <p:cSld>
    <p:bg>
      <p:bgPr>
        <a:solidFill xmlns:a="http://schemas.openxmlformats.org/drawingml/2006/main">
          <a:srgbClr val="0C121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6260A59-7BCB-4D1D-9ED5-7C9D7B272B0C}"/>
              </a:ext>
            </a:extLst>
          </p:cNvPr>
          <p:cNvSpPr>
            <a:spLocks xmlns:a="http://schemas.openxmlformats.org/drawingml/2006/main" noGrp="1"/>
          </p:cNvSpPr>
          <p:nvPr/>
        </p:nvSpPr>
        <p:spPr>
          <a:xfrm xmlns:a="http://schemas.openxmlformats.org/drawingml/2006/main">
            <a:off x="542925" y="2571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86BDF4"/>
                </a:solidFill>
                <a:latin typeface="Aptos"/>
                <a:ea typeface="Aptos"/>
                <a:cs typeface="Aptos"/>
              </a:defRPr>
            </a:pPr>
            <a:r>
              <a:rPr sz="1275" b="1">
                <a:solidFill>
                  <a:srgbClr val="86BDF4"/>
                </a:solidFill>
                <a:latin typeface="Aptos"/>
                <a:ea typeface="Aptos"/>
                <a:cs typeface="Aptos"/>
              </a:rPr>
              <a:t>SYSTEM BOUNDARY</a:t>
            </a:r>
          </a:p>
        </p:txBody>
      </p:sp>
      <p:sp>
        <p:nvSpPr>
          <p:cNvPr id="2" name="">
            <a:extLst xmlns:a="http://schemas.openxmlformats.org/drawingml/2006/main">
              <a:ext uri="{FF2B5EF4-FFF2-40B4-BE49-F238E27FC236}">
                <a16:creationId xmlns:a16="http://schemas.microsoft.com/office/drawing/2014/main" id="{6E9589F3-1BB3-405C-B47A-230601E86FA1}"/>
              </a:ext>
            </a:extLst>
          </p:cNvPr>
          <p:cNvSpPr>
            <a:spLocks xmlns:a="http://schemas.openxmlformats.org/drawingml/2006/main" noGrp="1"/>
          </p:cNvSpPr>
          <p:nvPr/>
        </p:nvSpPr>
        <p:spPr>
          <a:xfrm xmlns:a="http://schemas.openxmlformats.org/drawingml/2006/main">
            <a:off x="533400" y="5429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2F6FA"/>
                </a:solidFill>
                <a:latin typeface="Aptos"/>
                <a:ea typeface="Aptos"/>
                <a:cs typeface="Aptos"/>
              </a:defRPr>
            </a:pPr>
            <a:r>
              <a:rPr sz="2775" b="1">
                <a:solidFill>
                  <a:srgbClr val="F2F6FA"/>
                </a:solidFill>
                <a:latin typeface="Aptos"/>
                <a:ea typeface="Aptos"/>
                <a:cs typeface="Aptos"/>
              </a:rPr>
              <a:t>One turn through the decision stack</a:t>
            </a:r>
          </a:p>
        </p:txBody>
      </p:sp>
      <p:sp>
        <p:nvSpPr>
          <p:cNvPr id="3" name="">
            <a:extLst xmlns:a="http://schemas.openxmlformats.org/drawingml/2006/main">
              <a:ext uri="{FF2B5EF4-FFF2-40B4-BE49-F238E27FC236}">
                <a16:creationId xmlns:a16="http://schemas.microsoft.com/office/drawing/2014/main" id="{ACE602C3-9F12-4A25-8D22-5619EE5C58E4}"/>
              </a:ext>
            </a:extLst>
          </p:cNvPr>
          <p:cNvSpPr>
            <a:spLocks xmlns:a="http://schemas.openxmlformats.org/drawingml/2006/main" noGrp="1"/>
          </p:cNvSpPr>
          <p:nvPr/>
        </p:nvSpPr>
        <p:spPr>
          <a:xfrm xmlns:a="http://schemas.openxmlformats.org/drawingml/2006/main">
            <a:off x="533400" y="12668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115DA2-C8AB-4562-B650-66E43DA4BB2A}"/>
              </a:ext>
            </a:extLst>
          </p:cNvPr>
          <p:cNvSpPr>
            <a:spLocks xmlns:a="http://schemas.openxmlformats.org/drawingml/2006/main" noGrp="1"/>
          </p:cNvSpPr>
          <p:nvPr/>
        </p:nvSpPr>
        <p:spPr>
          <a:xfrm xmlns:a="http://schemas.openxmlformats.org/drawingml/2006/main">
            <a:off x="533400" y="6438900"/>
            <a:ext cx="1110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1 / 7   ·   LayA + RogueRNG   ·   engineering briefing</a:t>
            </a:r>
          </a:p>
        </p:txBody>
      </p:sp>
      <p:sp>
        <p:nvSpPr>
          <p:cNvPr id="5" name="">
            <a:extLst xmlns:a="http://schemas.openxmlformats.org/drawingml/2006/main">
              <a:ext uri="{FF2B5EF4-FFF2-40B4-BE49-F238E27FC236}">
                <a16:creationId xmlns:a16="http://schemas.microsoft.com/office/drawing/2014/main" id="{C268A8B4-8C7E-4054-9DF2-7C267A2D5A3C}"/>
              </a:ext>
            </a:extLst>
          </p:cNvPr>
          <p:cNvSpPr>
            <a:spLocks xmlns:a="http://schemas.openxmlformats.org/drawingml/2006/main" noGrp="1"/>
          </p:cNvSpPr>
          <p:nvPr/>
        </p:nvSpPr>
        <p:spPr>
          <a:xfrm xmlns:a="http://schemas.openxmlformats.org/drawingml/2006/main">
            <a:off x="542925" y="1676400"/>
            <a:ext cx="1104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F2F6FA"/>
                </a:solidFill>
                <a:latin typeface="Consolas"/>
                <a:ea typeface="Consolas"/>
                <a:cs typeface="Consolas"/>
              </a:defRPr>
            </a:pPr>
            <a:r>
              <a:rPr sz="1950" b="0">
                <a:solidFill>
                  <a:srgbClr val="F2F6FA"/>
                </a:solidFill>
                <a:latin typeface="Consolas"/>
                <a:ea typeface="Consolas"/>
                <a:cs typeface="Consolas"/>
              </a:rPr>
              <a:t>facts()  →  buildState()  →  Agent.predict(state, GAME_QUESTIONS)</a:t>
            </a:r>
          </a:p>
        </p:txBody>
      </p:sp>
      <p:sp>
        <p:nvSpPr>
          <p:cNvPr id="6" name="">
            <a:extLst xmlns:a="http://schemas.openxmlformats.org/drawingml/2006/main">
              <a:ext uri="{FF2B5EF4-FFF2-40B4-BE49-F238E27FC236}">
                <a16:creationId xmlns:a16="http://schemas.microsoft.com/office/drawing/2014/main" id="{8024D88D-E729-4941-A207-C78A25607C50}"/>
              </a:ext>
            </a:extLst>
          </p:cNvPr>
          <p:cNvSpPr>
            <a:spLocks xmlns:a="http://schemas.openxmlformats.org/drawingml/2006/main" noGrp="1"/>
          </p:cNvSpPr>
          <p:nvPr/>
        </p:nvSpPr>
        <p:spPr>
          <a:xfrm xmlns:a="http://schemas.openxmlformats.org/drawingml/2006/main">
            <a:off x="533400" y="2419350"/>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E3973E6-D478-4137-9281-22C2D81775B0}"/>
              </a:ext>
            </a:extLst>
          </p:cNvPr>
          <p:cNvSpPr>
            <a:spLocks xmlns:a="http://schemas.openxmlformats.org/drawingml/2006/main" noGrp="1"/>
          </p:cNvSpPr>
          <p:nvPr/>
        </p:nvSpPr>
        <p:spPr>
          <a:xfrm xmlns:a="http://schemas.openxmlformats.org/drawingml/2006/main">
            <a:off x="542925" y="2657475"/>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79DBB4"/>
                </a:solidFill>
                <a:latin typeface="Aptos"/>
                <a:ea typeface="Aptos"/>
                <a:cs typeface="Aptos"/>
              </a:defRPr>
            </a:pPr>
            <a:r>
              <a:rPr sz="1800" b="1">
                <a:solidFill>
                  <a:srgbClr val="79DBB4"/>
                </a:solidFill>
                <a:latin typeface="Aptos"/>
                <a:ea typeface="Aptos"/>
                <a:cs typeface="Aptos"/>
              </a:rPr>
              <a:t>7 typed answers</a:t>
            </a:r>
          </a:p>
        </p:txBody>
      </p:sp>
      <p:sp>
        <p:nvSpPr>
          <p:cNvPr id="8" name="">
            <a:extLst xmlns:a="http://schemas.openxmlformats.org/drawingml/2006/main">
              <a:ext uri="{FF2B5EF4-FFF2-40B4-BE49-F238E27FC236}">
                <a16:creationId xmlns:a16="http://schemas.microsoft.com/office/drawing/2014/main" id="{15537772-CBB7-4A48-B724-0E9196289325}"/>
              </a:ext>
            </a:extLst>
          </p:cNvPr>
          <p:cNvSpPr>
            <a:spLocks xmlns:a="http://schemas.openxmlformats.org/drawingml/2006/main" noGrp="1"/>
          </p:cNvSpPr>
          <p:nvPr/>
        </p:nvSpPr>
        <p:spPr>
          <a:xfrm xmlns:a="http://schemas.openxmlformats.org/drawingml/2006/main">
            <a:off x="4400550" y="26574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86BDF4"/>
                </a:solidFill>
                <a:latin typeface="Consolas"/>
                <a:ea typeface="Consolas"/>
                <a:cs typeface="Consolas"/>
              </a:defRPr>
            </a:pPr>
            <a:r>
              <a:rPr sz="1800" b="1">
                <a:solidFill>
                  <a:srgbClr val="86BDF4"/>
                </a:solidFill>
                <a:latin typeface="Consolas"/>
                <a:ea typeface="Consolas"/>
                <a:cs typeface="Consolas"/>
              </a:rPr>
              <a:t>plannerTick(f,d)</a:t>
            </a:r>
          </a:p>
        </p:txBody>
      </p:sp>
      <p:sp>
        <p:nvSpPr>
          <p:cNvPr id="9" name="">
            <a:extLst xmlns:a="http://schemas.openxmlformats.org/drawingml/2006/main">
              <a:ext uri="{FF2B5EF4-FFF2-40B4-BE49-F238E27FC236}">
                <a16:creationId xmlns:a16="http://schemas.microsoft.com/office/drawing/2014/main" id="{A074D439-2926-410C-A043-040C0C1B7B1D}"/>
              </a:ext>
            </a:extLst>
          </p:cNvPr>
          <p:cNvSpPr>
            <a:spLocks xmlns:a="http://schemas.openxmlformats.org/drawingml/2006/main" noGrp="1"/>
          </p:cNvSpPr>
          <p:nvPr/>
        </p:nvSpPr>
        <p:spPr>
          <a:xfrm xmlns:a="http://schemas.openxmlformats.org/drawingml/2006/main">
            <a:off x="7953375" y="265747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F4CA7B"/>
                </a:solidFill>
                <a:latin typeface="Consolas"/>
                <a:ea typeface="Consolas"/>
                <a:cs typeface="Consolas"/>
              </a:defRPr>
            </a:pPr>
            <a:r>
              <a:rPr sz="1800" b="1">
                <a:solidFill>
                  <a:srgbClr val="F4CA7B"/>
                </a:solidFill>
                <a:latin typeface="Consolas"/>
                <a:ea typeface="Consolas"/>
                <a:cs typeface="Consolas"/>
              </a:rPr>
              <a:t>macroDecision(f,d)</a:t>
            </a:r>
          </a:p>
        </p:txBody>
      </p:sp>
      <p:sp>
        <p:nvSpPr>
          <p:cNvPr id="10" name="">
            <a:extLst xmlns:a="http://schemas.openxmlformats.org/drawingml/2006/main">
              <a:ext uri="{FF2B5EF4-FFF2-40B4-BE49-F238E27FC236}">
                <a16:creationId xmlns:a16="http://schemas.microsoft.com/office/drawing/2014/main" id="{6CADFFEE-B4DA-4B30-B924-747BC903A5C0}"/>
              </a:ext>
            </a:extLst>
          </p:cNvPr>
          <p:cNvSpPr>
            <a:spLocks xmlns:a="http://schemas.openxmlformats.org/drawingml/2006/main" noGrp="1"/>
          </p:cNvSpPr>
          <p:nvPr/>
        </p:nvSpPr>
        <p:spPr>
          <a:xfrm xmlns:a="http://schemas.openxmlformats.org/drawingml/2006/main">
            <a:off x="542925" y="317182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B2C1D1"/>
                </a:solidFill>
                <a:latin typeface="Aptos"/>
                <a:ea typeface="Aptos"/>
                <a:cs typeface="Aptos"/>
              </a:defRPr>
            </a:pPr>
            <a:r>
              <a:rPr sz="1725" b="0">
                <a:solidFill>
                  <a:srgbClr val="B2C1D1"/>
                </a:solidFill>
                <a:latin typeface="Aptos"/>
                <a:ea typeface="Aptos"/>
                <a:cs typeface="Aptos"/>
              </a:rPr>
              <a:t>choice distribution · threat expectation · five P(true) axes</a:t>
            </a:r>
          </a:p>
        </p:txBody>
      </p:sp>
      <p:sp>
        <p:nvSpPr>
          <p:cNvPr id="11" name="">
            <a:extLst xmlns:a="http://schemas.openxmlformats.org/drawingml/2006/main">
              <a:ext uri="{FF2B5EF4-FFF2-40B4-BE49-F238E27FC236}">
                <a16:creationId xmlns:a16="http://schemas.microsoft.com/office/drawing/2014/main" id="{83A60D88-B8DF-436F-9DD0-0580A4DAFD3A}"/>
              </a:ext>
            </a:extLst>
          </p:cNvPr>
          <p:cNvSpPr>
            <a:spLocks xmlns:a="http://schemas.openxmlformats.org/drawingml/2006/main" noGrp="1"/>
          </p:cNvSpPr>
          <p:nvPr/>
        </p:nvSpPr>
        <p:spPr>
          <a:xfrm xmlns:a="http://schemas.openxmlformats.org/drawingml/2006/main">
            <a:off x="533400" y="387667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78BD036-C3F7-4109-879D-8D4D5FDC7D73}"/>
              </a:ext>
            </a:extLst>
          </p:cNvPr>
          <p:cNvSpPr>
            <a:spLocks xmlns:a="http://schemas.openxmlformats.org/drawingml/2006/main" noGrp="1"/>
          </p:cNvSpPr>
          <p:nvPr/>
        </p:nvSpPr>
        <p:spPr>
          <a:xfrm xmlns:a="http://schemas.openxmlformats.org/drawingml/2006/main">
            <a:off x="542925" y="41243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86BDF4"/>
                </a:solidFill>
                <a:latin typeface="Aptos"/>
                <a:ea typeface="Aptos"/>
                <a:cs typeface="Aptos"/>
              </a:defRPr>
            </a:pPr>
            <a:r>
              <a:rPr sz="1800" b="1">
                <a:solidFill>
                  <a:srgbClr val="86BDF4"/>
                </a:solidFill>
                <a:latin typeface="Aptos"/>
                <a:ea typeface="Aptos"/>
                <a:cs typeface="Aptos"/>
              </a:rPr>
              <a:t>Authority boundary</a:t>
            </a:r>
          </a:p>
        </p:txBody>
      </p:sp>
      <p:sp>
        <p:nvSpPr>
          <p:cNvPr id="13" name="">
            <a:extLst xmlns:a="http://schemas.openxmlformats.org/drawingml/2006/main">
              <a:ext uri="{FF2B5EF4-FFF2-40B4-BE49-F238E27FC236}">
                <a16:creationId xmlns:a16="http://schemas.microsoft.com/office/drawing/2014/main" id="{4F53C076-47B0-499D-8010-D64777F815C5}"/>
              </a:ext>
            </a:extLst>
          </p:cNvPr>
          <p:cNvSpPr>
            <a:spLocks xmlns:a="http://schemas.openxmlformats.org/drawingml/2006/main" noGrp="1"/>
          </p:cNvSpPr>
          <p:nvPr/>
        </p:nvSpPr>
        <p:spPr>
          <a:xfrm xmlns:a="http://schemas.openxmlformats.org/drawingml/2006/main">
            <a:off x="542925" y="4600575"/>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F2F6FA"/>
                </a:solidFill>
                <a:latin typeface="Aptos"/>
                <a:ea typeface="Aptos"/>
                <a:cs typeface="Aptos"/>
              </a:defRPr>
            </a:pPr>
            <a:r>
              <a:rPr sz="1950" b="0">
                <a:solidFill>
                  <a:srgbClr val="F2F6FA"/>
                </a:solidFill>
                <a:latin typeface="Aptos"/>
                <a:ea typeface="Aptos"/>
                <a:cs typeface="Aptos"/>
              </a:rPr>
              <a:t>hard safety → model overmatch gate → active plan → factual macro checks → gated intent → fallback</a:t>
            </a:r>
          </a:p>
        </p:txBody>
      </p:sp>
      <p:sp>
        <p:nvSpPr>
          <p:cNvPr id="14" name="">
            <a:extLst xmlns:a="http://schemas.openxmlformats.org/drawingml/2006/main">
              <a:ext uri="{FF2B5EF4-FFF2-40B4-BE49-F238E27FC236}">
                <a16:creationId xmlns:a16="http://schemas.microsoft.com/office/drawing/2014/main" id="{C7930AE5-66DA-4CE8-B079-7350CF558A10}"/>
              </a:ext>
            </a:extLst>
          </p:cNvPr>
          <p:cNvSpPr>
            <a:spLocks xmlns:a="http://schemas.openxmlformats.org/drawingml/2006/main" noGrp="1"/>
          </p:cNvSpPr>
          <p:nvPr/>
        </p:nvSpPr>
        <p:spPr>
          <a:xfrm xmlns:a="http://schemas.openxmlformats.org/drawingml/2006/main">
            <a:off x="542925" y="57435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B2C1D1"/>
                </a:solidFill>
                <a:latin typeface="Aptos"/>
                <a:ea typeface="Aptos"/>
                <a:cs typeface="Aptos"/>
              </a:defRPr>
            </a:pPr>
            <a:r>
              <a:rPr sz="1500" b="0">
                <a:solidFill>
                  <a:srgbClr val="B2C1D1"/>
                </a:solidFill>
                <a:latin typeface="Aptos"/>
                <a:ea typeface="Aptos"/>
                <a:cs typeface="Aptos"/>
              </a:rPr>
              <a:t>The selected action reaches Core.act(); recovery may issue another. Telemetry records the model vote and execution owner.</a:t>
            </a:r>
          </a:p>
        </p:txBody>
      </p:sp>
    </p:spTree>
    <p:extLst>
      <p:ext uri="{BB962C8B-B14F-4D97-AF65-F5344CB8AC3E}">
        <p14:creationId xmlns:p14="http://schemas.microsoft.com/office/powerpoint/2010/main" val="263078525"/>
      </p:ext>
    </p:extLst>
  </p:cSld>
</p:sld>
</file>

<file path=ppt/slides/slide2.xml><?xml version="1.0" encoding="utf-8"?>
<p:sld xmlns:p="http://schemas.openxmlformats.org/presentationml/2006/main">
  <p:cSld>
    <p:bg>
      <p:bgPr>
        <a:solidFill xmlns:a="http://schemas.openxmlformats.org/drawingml/2006/main">
          <a:srgbClr val="0C121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6D583B3-6AD9-4AC9-A956-EB72C743705C}"/>
              </a:ext>
            </a:extLst>
          </p:cNvPr>
          <p:cNvSpPr>
            <a:spLocks xmlns:a="http://schemas.openxmlformats.org/drawingml/2006/main" noGrp="1"/>
          </p:cNvSpPr>
          <p:nvPr/>
        </p:nvSpPr>
        <p:spPr>
          <a:xfrm xmlns:a="http://schemas.openxmlformats.org/drawingml/2006/main">
            <a:off x="542925" y="2571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86BDF4"/>
                </a:solidFill>
                <a:latin typeface="Aptos"/>
                <a:ea typeface="Aptos"/>
                <a:cs typeface="Aptos"/>
              </a:defRPr>
            </a:pPr>
            <a:r>
              <a:rPr sz="1275" b="1">
                <a:solidFill>
                  <a:srgbClr val="86BDF4"/>
                </a:solidFill>
                <a:latin typeface="Aptos"/>
                <a:ea typeface="Aptos"/>
                <a:cs typeface="Aptos"/>
              </a:rPr>
              <a:t>TYPED INFERENCE</a:t>
            </a:r>
          </a:p>
        </p:txBody>
      </p:sp>
      <p:sp>
        <p:nvSpPr>
          <p:cNvPr id="2" name="">
            <a:extLst xmlns:a="http://schemas.openxmlformats.org/drawingml/2006/main">
              <a:ext uri="{FF2B5EF4-FFF2-40B4-BE49-F238E27FC236}">
                <a16:creationId xmlns:a16="http://schemas.microsoft.com/office/drawing/2014/main" id="{8D54DEC7-2B6A-44EA-80D3-E86DA1A674E4}"/>
              </a:ext>
            </a:extLst>
          </p:cNvPr>
          <p:cNvSpPr>
            <a:spLocks xmlns:a="http://schemas.openxmlformats.org/drawingml/2006/main" noGrp="1"/>
          </p:cNvSpPr>
          <p:nvPr/>
        </p:nvSpPr>
        <p:spPr>
          <a:xfrm xmlns:a="http://schemas.openxmlformats.org/drawingml/2006/main">
            <a:off x="533400" y="5429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2F6FA"/>
                </a:solidFill>
                <a:latin typeface="Aptos"/>
                <a:ea typeface="Aptos"/>
                <a:cs typeface="Aptos"/>
              </a:defRPr>
            </a:pPr>
            <a:r>
              <a:rPr sz="2775" b="1">
                <a:solidFill>
                  <a:srgbClr val="F2F6FA"/>
                </a:solidFill>
                <a:latin typeface="Aptos"/>
                <a:ea typeface="Aptos"/>
                <a:cs typeface="Aptos"/>
              </a:rPr>
              <a:t>Seven rows in one model call</a:t>
            </a:r>
          </a:p>
        </p:txBody>
      </p:sp>
      <p:sp>
        <p:nvSpPr>
          <p:cNvPr id="3" name="">
            <a:extLst xmlns:a="http://schemas.openxmlformats.org/drawingml/2006/main">
              <a:ext uri="{FF2B5EF4-FFF2-40B4-BE49-F238E27FC236}">
                <a16:creationId xmlns:a16="http://schemas.microsoft.com/office/drawing/2014/main" id="{9E2155CE-0C3A-46CE-BFC9-735C77C0FB39}"/>
              </a:ext>
            </a:extLst>
          </p:cNvPr>
          <p:cNvSpPr>
            <a:spLocks xmlns:a="http://schemas.openxmlformats.org/drawingml/2006/main" noGrp="1"/>
          </p:cNvSpPr>
          <p:nvPr/>
        </p:nvSpPr>
        <p:spPr>
          <a:xfrm xmlns:a="http://schemas.openxmlformats.org/drawingml/2006/main">
            <a:off x="533400" y="12668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2DD8FA-6E37-4E96-BA9B-01FDF18A1CAD}"/>
              </a:ext>
            </a:extLst>
          </p:cNvPr>
          <p:cNvSpPr>
            <a:spLocks xmlns:a="http://schemas.openxmlformats.org/drawingml/2006/main" noGrp="1"/>
          </p:cNvSpPr>
          <p:nvPr/>
        </p:nvSpPr>
        <p:spPr>
          <a:xfrm xmlns:a="http://schemas.openxmlformats.org/drawingml/2006/main">
            <a:off x="533400" y="6438900"/>
            <a:ext cx="1110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2 / 7   ·   LayA + RogueRNG   ·   engineering briefing</a:t>
            </a:r>
          </a:p>
        </p:txBody>
      </p:sp>
      <p:sp>
        <p:nvSpPr>
          <p:cNvPr id="5" name="">
            <a:extLst xmlns:a="http://schemas.openxmlformats.org/drawingml/2006/main">
              <a:ext uri="{FF2B5EF4-FFF2-40B4-BE49-F238E27FC236}">
                <a16:creationId xmlns:a16="http://schemas.microsoft.com/office/drawing/2014/main" id="{96FD5B10-846A-4914-84F9-6E68C8982977}"/>
              </a:ext>
            </a:extLst>
          </p:cNvPr>
          <p:cNvSpPr>
            <a:spLocks xmlns:a="http://schemas.openxmlformats.org/drawingml/2006/main" noGrp="1"/>
          </p:cNvSpPr>
          <p:nvPr/>
        </p:nvSpPr>
        <p:spPr>
          <a:xfrm xmlns:a="http://schemas.openxmlformats.org/drawingml/2006/main">
            <a:off x="542925" y="15621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86BDF4"/>
                </a:solidFill>
                <a:latin typeface="Aptos"/>
                <a:ea typeface="Aptos"/>
                <a:cs typeface="Aptos"/>
              </a:defRPr>
            </a:pPr>
            <a:r>
              <a:rPr sz="1725" b="1">
                <a:solidFill>
                  <a:srgbClr val="86BDF4"/>
                </a:solidFill>
                <a:latin typeface="Aptos"/>
                <a:ea typeface="Aptos"/>
                <a:cs typeface="Aptos"/>
              </a:rPr>
              <a:t>matrix.py schema</a:t>
            </a:r>
          </a:p>
        </p:txBody>
      </p:sp>
      <p:sp>
        <p:nvSpPr>
          <p:cNvPr id="6" name="">
            <a:extLst xmlns:a="http://schemas.openxmlformats.org/drawingml/2006/main">
              <a:ext uri="{FF2B5EF4-FFF2-40B4-BE49-F238E27FC236}">
                <a16:creationId xmlns:a16="http://schemas.microsoft.com/office/drawing/2014/main" id="{474A0967-A158-4DDE-8F45-D53654FB7801}"/>
              </a:ext>
            </a:extLst>
          </p:cNvPr>
          <p:cNvSpPr>
            <a:spLocks xmlns:a="http://schemas.openxmlformats.org/drawingml/2006/main" noGrp="1"/>
          </p:cNvSpPr>
          <p:nvPr/>
        </p:nvSpPr>
        <p:spPr>
          <a:xfrm xmlns:a="http://schemas.openxmlformats.org/drawingml/2006/main">
            <a:off x="542925" y="2038350"/>
            <a:ext cx="6191250" cy="2495550"/>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CFC424-9676-4410-A539-3D9904C5D50E}"/>
              </a:ext>
            </a:extLst>
          </p:cNvPr>
          <p:cNvSpPr>
            <a:spLocks xmlns:a="http://schemas.openxmlformats.org/drawingml/2006/main" noGrp="1"/>
          </p:cNvSpPr>
          <p:nvPr/>
        </p:nvSpPr>
        <p:spPr>
          <a:xfrm xmlns:a="http://schemas.openxmlformats.org/drawingml/2006/main">
            <a:off x="714375" y="2162175"/>
            <a:ext cx="58483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Choice: intent ∈ 11 classes</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Score:  threat ∈ {0,1,2,3}</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Noul:   hpCritical, canKill,</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        objectiveReachable, overmatched,</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        packNeedsTending</a:t>
            </a:r>
          </a:p>
        </p:txBody>
      </p:sp>
      <p:sp>
        <p:nvSpPr>
          <p:cNvPr id="8" name="">
            <a:extLst xmlns:a="http://schemas.openxmlformats.org/drawingml/2006/main">
              <a:ext uri="{FF2B5EF4-FFF2-40B4-BE49-F238E27FC236}">
                <a16:creationId xmlns:a16="http://schemas.microsoft.com/office/drawing/2014/main" id="{B00A9C1D-F7E3-4942-A316-BDBDCA76AD1A}"/>
              </a:ext>
            </a:extLst>
          </p:cNvPr>
          <p:cNvSpPr>
            <a:spLocks xmlns:a="http://schemas.openxmlformats.org/drawingml/2006/main" noGrp="1"/>
          </p:cNvSpPr>
          <p:nvPr/>
        </p:nvSpPr>
        <p:spPr>
          <a:xfrm xmlns:a="http://schemas.openxmlformats.org/drawingml/2006/main">
            <a:off x="7105650" y="15621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79DBB4"/>
                </a:solidFill>
                <a:latin typeface="Aptos"/>
                <a:ea typeface="Aptos"/>
                <a:cs typeface="Aptos"/>
              </a:defRPr>
            </a:pPr>
            <a:r>
              <a:rPr sz="1725" b="1">
                <a:solidFill>
                  <a:srgbClr val="79DBB4"/>
                </a:solidFill>
                <a:latin typeface="Aptos"/>
                <a:ea typeface="Aptos"/>
                <a:cs typeface="Aptos"/>
              </a:rPr>
              <a:t>Output semantics</a:t>
            </a:r>
          </a:p>
        </p:txBody>
      </p:sp>
      <p:sp>
        <p:nvSpPr>
          <p:cNvPr id="9" name="">
            <a:extLst xmlns:a="http://schemas.openxmlformats.org/drawingml/2006/main">
              <a:ext uri="{FF2B5EF4-FFF2-40B4-BE49-F238E27FC236}">
                <a16:creationId xmlns:a16="http://schemas.microsoft.com/office/drawing/2014/main" id="{90709B04-DD39-42DE-A1E9-65FF48A9C8F5}"/>
              </a:ext>
            </a:extLst>
          </p:cNvPr>
          <p:cNvSpPr>
            <a:spLocks xmlns:a="http://schemas.openxmlformats.org/drawingml/2006/main" noGrp="1"/>
          </p:cNvSpPr>
          <p:nvPr/>
        </p:nvSpPr>
        <p:spPr>
          <a:xfrm xmlns:a="http://schemas.openxmlformats.org/drawingml/2006/main">
            <a:off x="6972300" y="2038350"/>
            <a:ext cx="4667250" cy="2495550"/>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F2BE6A-F325-45F8-9530-AC276CD15FB4}"/>
              </a:ext>
            </a:extLst>
          </p:cNvPr>
          <p:cNvSpPr>
            <a:spLocks xmlns:a="http://schemas.openxmlformats.org/drawingml/2006/main" noGrp="1"/>
          </p:cNvSpPr>
          <p:nvPr/>
        </p:nvSpPr>
        <p:spPr>
          <a:xfrm xmlns:a="http://schemas.openxmlformats.org/drawingml/2006/main">
            <a:off x="7143750" y="2162175"/>
            <a:ext cx="43243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pₖ = softmax(zₖ / T)</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intent = argmaxₖ pₖ</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threat = Σₖ k · pₖ</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noul = P(true)</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conf = 1 − H(p)/ln K</a:t>
            </a:r>
          </a:p>
        </p:txBody>
      </p:sp>
      <p:sp>
        <p:nvSpPr>
          <p:cNvPr id="11" name="">
            <a:extLst xmlns:a="http://schemas.openxmlformats.org/drawingml/2006/main">
              <a:ext uri="{FF2B5EF4-FFF2-40B4-BE49-F238E27FC236}">
                <a16:creationId xmlns:a16="http://schemas.microsoft.com/office/drawing/2014/main" id="{4CD9D474-111E-4826-A1A5-F4AB02C144D7}"/>
              </a:ext>
            </a:extLst>
          </p:cNvPr>
          <p:cNvSpPr>
            <a:spLocks xmlns:a="http://schemas.openxmlformats.org/drawingml/2006/main" noGrp="1"/>
          </p:cNvSpPr>
          <p:nvPr/>
        </p:nvSpPr>
        <p:spPr>
          <a:xfrm xmlns:a="http://schemas.openxmlformats.org/drawingml/2006/main">
            <a:off x="6981825" y="45720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Confidence formula: Choice/Score; Noul uses max(p, 1−p).</a:t>
            </a:r>
          </a:p>
        </p:txBody>
      </p:sp>
      <p:sp>
        <p:nvSpPr>
          <p:cNvPr id="12" name="">
            <a:extLst xmlns:a="http://schemas.openxmlformats.org/drawingml/2006/main">
              <a:ext uri="{FF2B5EF4-FFF2-40B4-BE49-F238E27FC236}">
                <a16:creationId xmlns:a16="http://schemas.microsoft.com/office/drawing/2014/main" id="{301FF1DD-7FD2-4004-BADE-833E12395210}"/>
              </a:ext>
            </a:extLst>
          </p:cNvPr>
          <p:cNvSpPr>
            <a:spLocks xmlns:a="http://schemas.openxmlformats.org/drawingml/2006/main" noGrp="1"/>
          </p:cNvSpPr>
          <p:nvPr/>
        </p:nvSpPr>
        <p:spPr>
          <a:xfrm xmlns:a="http://schemas.openxmlformats.org/drawingml/2006/main">
            <a:off x="533400" y="4838700"/>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8B4C71-8E31-4D2F-B7B6-F2018BAD750A}"/>
              </a:ext>
            </a:extLst>
          </p:cNvPr>
          <p:cNvSpPr>
            <a:spLocks xmlns:a="http://schemas.openxmlformats.org/drawingml/2006/main" noGrp="1"/>
          </p:cNvSpPr>
          <p:nvPr/>
        </p:nvSpPr>
        <p:spPr>
          <a:xfrm xmlns:a="http://schemas.openxmlformats.org/drawingml/2006/main">
            <a:off x="542925" y="50673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F4CA7B"/>
                </a:solidFill>
                <a:latin typeface="Aptos"/>
                <a:ea typeface="Aptos"/>
                <a:cs typeface="Aptos"/>
              </a:defRPr>
            </a:pPr>
            <a:r>
              <a:rPr sz="1650" b="1">
                <a:solidFill>
                  <a:srgbClr val="F4CA7B"/>
                </a:solidFill>
                <a:latin typeface="Aptos"/>
                <a:ea typeface="Aptos"/>
                <a:cs typeface="Aptos"/>
              </a:rPr>
              <a:t>Implementation detail</a:t>
            </a:r>
          </a:p>
        </p:txBody>
      </p:sp>
      <p:sp>
        <p:nvSpPr>
          <p:cNvPr id="14" name="">
            <a:extLst xmlns:a="http://schemas.openxmlformats.org/drawingml/2006/main">
              <a:ext uri="{FF2B5EF4-FFF2-40B4-BE49-F238E27FC236}">
                <a16:creationId xmlns:a16="http://schemas.microsoft.com/office/drawing/2014/main" id="{57713A65-F921-4536-A285-1A19670F0EF3}"/>
              </a:ext>
            </a:extLst>
          </p:cNvPr>
          <p:cNvSpPr>
            <a:spLocks xmlns:a="http://schemas.openxmlformats.org/drawingml/2006/main" noGrp="1"/>
          </p:cNvSpPr>
          <p:nvPr/>
        </p:nvSpPr>
        <p:spPr>
          <a:xfrm xmlns:a="http://schemas.openxmlformats.org/drawingml/2006/main">
            <a:off x="542925" y="5467350"/>
            <a:ext cx="11029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2F6FA"/>
                </a:solidFill>
                <a:latin typeface="Aptos"/>
                <a:ea typeface="Aptos"/>
                <a:cs typeface="Aptos"/>
              </a:defRPr>
            </a:pPr>
            <a:r>
              <a:rPr sz="1725" b="0">
                <a:solidFill>
                  <a:srgbClr val="F2F6FA"/>
                </a:solidFill>
                <a:latin typeface="Aptos"/>
                <a:ea typeface="Aptos"/>
                <a:cs typeface="Aptos"/>
              </a:rPr>
              <a:t>One sequence per question → batch shape [7, L] → one encoder forward call. Input tokens exist; generated output tokens = 0.</a:t>
            </a:r>
          </a:p>
        </p:txBody>
      </p:sp>
    </p:spTree>
    <p:extLst>
      <p:ext uri="{BB962C8B-B14F-4D97-AF65-F5344CB8AC3E}">
        <p14:creationId xmlns:p14="http://schemas.microsoft.com/office/powerpoint/2010/main" val="2057104741"/>
      </p:ext>
    </p:extLst>
  </p:cSld>
</p:sld>
</file>

<file path=ppt/slides/slide3.xml><?xml version="1.0" encoding="utf-8"?>
<p:sld xmlns:p="http://schemas.openxmlformats.org/presentationml/2006/main">
  <p:cSld>
    <p:bg>
      <p:bgPr>
        <a:solidFill xmlns:a="http://schemas.openxmlformats.org/drawingml/2006/main">
          <a:srgbClr val="0C121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0F7137-6774-49F5-BA12-404025368939}"/>
              </a:ext>
            </a:extLst>
          </p:cNvPr>
          <p:cNvSpPr>
            <a:spLocks xmlns:a="http://schemas.openxmlformats.org/drawingml/2006/main" noGrp="1"/>
          </p:cNvSpPr>
          <p:nvPr/>
        </p:nvSpPr>
        <p:spPr>
          <a:xfrm xmlns:a="http://schemas.openxmlformats.org/drawingml/2006/main">
            <a:off x="542925" y="2571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86BDF4"/>
                </a:solidFill>
                <a:latin typeface="Aptos"/>
                <a:ea typeface="Aptos"/>
                <a:cs typeface="Aptos"/>
              </a:defRPr>
            </a:pPr>
            <a:r>
              <a:rPr sz="1275" b="1">
                <a:solidFill>
                  <a:srgbClr val="86BDF4"/>
                </a:solidFill>
                <a:latin typeface="Aptos"/>
                <a:ea typeface="Aptos"/>
                <a:cs typeface="Aptos"/>
              </a:rPr>
              <a:t>PER-TURN CONTROL</a:t>
            </a:r>
          </a:p>
        </p:txBody>
      </p:sp>
      <p:sp>
        <p:nvSpPr>
          <p:cNvPr id="2" name="">
            <a:extLst xmlns:a="http://schemas.openxmlformats.org/drawingml/2006/main">
              <a:ext uri="{FF2B5EF4-FFF2-40B4-BE49-F238E27FC236}">
                <a16:creationId xmlns:a16="http://schemas.microsoft.com/office/drawing/2014/main" id="{2A2C20D4-8908-4DF7-B6BC-7F22B1EDDF02}"/>
              </a:ext>
            </a:extLst>
          </p:cNvPr>
          <p:cNvSpPr>
            <a:spLocks xmlns:a="http://schemas.openxmlformats.org/drawingml/2006/main" noGrp="1"/>
          </p:cNvSpPr>
          <p:nvPr/>
        </p:nvSpPr>
        <p:spPr>
          <a:xfrm xmlns:a="http://schemas.openxmlformats.org/drawingml/2006/main">
            <a:off x="533400" y="5429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2F6FA"/>
                </a:solidFill>
                <a:latin typeface="Aptos"/>
                <a:ea typeface="Aptos"/>
                <a:cs typeface="Aptos"/>
              </a:defRPr>
            </a:pPr>
            <a:r>
              <a:rPr sz="2775" b="1">
                <a:solidFill>
                  <a:srgbClr val="F2F6FA"/>
                </a:solidFill>
                <a:latin typeface="Aptos"/>
                <a:ea typeface="Aptos"/>
                <a:cs typeface="Aptos"/>
              </a:rPr>
              <a:t>A model score becomes a policy input</a:t>
            </a:r>
          </a:p>
        </p:txBody>
      </p:sp>
      <p:sp>
        <p:nvSpPr>
          <p:cNvPr id="3" name="">
            <a:extLst xmlns:a="http://schemas.openxmlformats.org/drawingml/2006/main">
              <a:ext uri="{FF2B5EF4-FFF2-40B4-BE49-F238E27FC236}">
                <a16:creationId xmlns:a16="http://schemas.microsoft.com/office/drawing/2014/main" id="{7B198D35-0F46-40E4-A00F-3771D69E0E28}"/>
              </a:ext>
            </a:extLst>
          </p:cNvPr>
          <p:cNvSpPr>
            <a:spLocks xmlns:a="http://schemas.openxmlformats.org/drawingml/2006/main" noGrp="1"/>
          </p:cNvSpPr>
          <p:nvPr/>
        </p:nvSpPr>
        <p:spPr>
          <a:xfrm xmlns:a="http://schemas.openxmlformats.org/drawingml/2006/main">
            <a:off x="533400" y="12668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38733B-DA85-4805-9F0A-F15B912ABC48}"/>
              </a:ext>
            </a:extLst>
          </p:cNvPr>
          <p:cNvSpPr>
            <a:spLocks xmlns:a="http://schemas.openxmlformats.org/drawingml/2006/main" noGrp="1"/>
          </p:cNvSpPr>
          <p:nvPr/>
        </p:nvSpPr>
        <p:spPr>
          <a:xfrm xmlns:a="http://schemas.openxmlformats.org/drawingml/2006/main">
            <a:off x="533400" y="6438900"/>
            <a:ext cx="1110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3 / 7   ·   LayA + RogueRNG   ·   engineering briefing</a:t>
            </a:r>
          </a:p>
        </p:txBody>
      </p:sp>
      <p:sp>
        <p:nvSpPr>
          <p:cNvPr id="5" name="">
            <a:extLst xmlns:a="http://schemas.openxmlformats.org/drawingml/2006/main">
              <a:ext uri="{FF2B5EF4-FFF2-40B4-BE49-F238E27FC236}">
                <a16:creationId xmlns:a16="http://schemas.microsoft.com/office/drawing/2014/main" id="{0F267EC9-B241-4547-A5FE-FE4AE26FD30D}"/>
              </a:ext>
            </a:extLst>
          </p:cNvPr>
          <p:cNvSpPr>
            <a:spLocks xmlns:a="http://schemas.openxmlformats.org/drawingml/2006/main" noGrp="1"/>
          </p:cNvSpPr>
          <p:nvPr/>
        </p:nvSpPr>
        <p:spPr>
          <a:xfrm xmlns:a="http://schemas.openxmlformats.org/drawingml/2006/main">
            <a:off x="542925" y="15430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B2C1D1"/>
                </a:solidFill>
                <a:latin typeface="Aptos"/>
                <a:ea typeface="Aptos"/>
                <a:cs typeface="Aptos"/>
              </a:defRPr>
            </a:pPr>
            <a:r>
              <a:rPr sz="1650" b="1">
                <a:solidFill>
                  <a:srgbClr val="B2C1D1"/>
                </a:solidFill>
                <a:latin typeface="Aptos"/>
                <a:ea typeface="Aptos"/>
                <a:cs typeface="Aptos"/>
              </a:rPr>
              <a:t>Representative typed response from the pasted demo</a:t>
            </a:r>
          </a:p>
        </p:txBody>
      </p:sp>
      <p:sp>
        <p:nvSpPr>
          <p:cNvPr id="6" name="">
            <a:extLst xmlns:a="http://schemas.openxmlformats.org/drawingml/2006/main">
              <a:ext uri="{FF2B5EF4-FFF2-40B4-BE49-F238E27FC236}">
                <a16:creationId xmlns:a16="http://schemas.microsoft.com/office/drawing/2014/main" id="{8BA74071-8CCB-4BF1-AFE4-45AB06870B49}"/>
              </a:ext>
            </a:extLst>
          </p:cNvPr>
          <p:cNvSpPr>
            <a:spLocks xmlns:a="http://schemas.openxmlformats.org/drawingml/2006/main" noGrp="1"/>
          </p:cNvSpPr>
          <p:nvPr/>
        </p:nvSpPr>
        <p:spPr>
          <a:xfrm xmlns:a="http://schemas.openxmlformats.org/drawingml/2006/main">
            <a:off x="542925" y="2038350"/>
            <a:ext cx="5391150" cy="2286000"/>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85884F5-0813-46FC-BB10-357AAD5ACFC8}"/>
              </a:ext>
            </a:extLst>
          </p:cNvPr>
          <p:cNvSpPr>
            <a:spLocks xmlns:a="http://schemas.openxmlformats.org/drawingml/2006/main" noGrp="1"/>
          </p:cNvSpPr>
          <p:nvPr/>
        </p:nvSpPr>
        <p:spPr>
          <a:xfrm xmlns:a="http://schemas.openxmlformats.org/drawingml/2006/main">
            <a:off x="714375" y="2162175"/>
            <a:ext cx="50482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intent = explore  (confidence 0.26)</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threat = 1.79 / 3</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overmatched = 0.23</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packNeedsTending = 0.25</a:t>
            </a:r>
          </a:p>
        </p:txBody>
      </p:sp>
      <p:sp>
        <p:nvSpPr>
          <p:cNvPr id="8" name="">
            <a:extLst xmlns:a="http://schemas.openxmlformats.org/drawingml/2006/main">
              <a:ext uri="{FF2B5EF4-FFF2-40B4-BE49-F238E27FC236}">
                <a16:creationId xmlns:a16="http://schemas.microsoft.com/office/drawing/2014/main" id="{2C1BF82C-0A90-4A51-8163-C3FC393E0F42}"/>
              </a:ext>
            </a:extLst>
          </p:cNvPr>
          <p:cNvSpPr>
            <a:spLocks xmlns:a="http://schemas.openxmlformats.org/drawingml/2006/main" noGrp="1"/>
          </p:cNvSpPr>
          <p:nvPr/>
        </p:nvSpPr>
        <p:spPr>
          <a:xfrm xmlns:a="http://schemas.openxmlformats.org/drawingml/2006/main">
            <a:off x="6200775" y="2038350"/>
            <a:ext cx="5429250" cy="2286000"/>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5FA404-CC0D-4E61-95DD-9F743FC12CCA}"/>
              </a:ext>
            </a:extLst>
          </p:cNvPr>
          <p:cNvSpPr>
            <a:spLocks xmlns:a="http://schemas.openxmlformats.org/drawingml/2006/main" noGrp="1"/>
          </p:cNvSpPr>
          <p:nvPr/>
        </p:nvSpPr>
        <p:spPr>
          <a:xfrm xmlns:a="http://schemas.openxmlformats.org/drawingml/2006/main">
            <a:off x="6372225" y="2162175"/>
            <a:ext cx="50863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if (hpRatio &lt; .35) healOrFlee();</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if (overmatched &gt; .7 &amp;&amp; hpRatio &lt; .6</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    &amp;&amp; noAdjacentMonster) flee();</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if (planStep(f)) usePlanAction();</a:t>
            </a:r>
          </a:p>
        </p:txBody>
      </p:sp>
      <p:sp>
        <p:nvSpPr>
          <p:cNvPr id="10" name="">
            <a:extLst xmlns:a="http://schemas.openxmlformats.org/drawingml/2006/main">
              <a:ext uri="{FF2B5EF4-FFF2-40B4-BE49-F238E27FC236}">
                <a16:creationId xmlns:a16="http://schemas.microsoft.com/office/drawing/2014/main" id="{0A8DB002-C8B3-471A-9BE2-1EBF6D390823}"/>
              </a:ext>
            </a:extLst>
          </p:cNvPr>
          <p:cNvSpPr>
            <a:spLocks xmlns:a="http://schemas.openxmlformats.org/drawingml/2006/main" noGrp="1"/>
          </p:cNvSpPr>
          <p:nvPr/>
        </p:nvSpPr>
        <p:spPr>
          <a:xfrm xmlns:a="http://schemas.openxmlformats.org/drawingml/2006/main">
            <a:off x="6200775" y="1743075"/>
            <a:ext cx="542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B2C1D1"/>
                </a:solidFill>
                <a:latin typeface="Aptos"/>
                <a:ea typeface="Aptos"/>
                <a:cs typeface="Aptos"/>
              </a:defRPr>
            </a:pPr>
            <a:r>
              <a:rPr sz="1275" b="0">
                <a:solidFill>
                  <a:srgbClr val="B2C1D1"/>
                </a:solidFill>
                <a:latin typeface="Aptos"/>
                <a:ea typeface="Aptos"/>
                <a:cs typeface="Aptos"/>
              </a:rPr>
              <a:t>Simplified policy excerpt</a:t>
            </a:r>
          </a:p>
        </p:txBody>
      </p:sp>
      <p:sp>
        <p:nvSpPr>
          <p:cNvPr id="11" name="">
            <a:extLst xmlns:a="http://schemas.openxmlformats.org/drawingml/2006/main">
              <a:ext uri="{FF2B5EF4-FFF2-40B4-BE49-F238E27FC236}">
                <a16:creationId xmlns:a16="http://schemas.microsoft.com/office/drawing/2014/main" id="{2201500D-34D7-423D-9B62-0A156734F7BB}"/>
              </a:ext>
            </a:extLst>
          </p:cNvPr>
          <p:cNvSpPr>
            <a:spLocks xmlns:a="http://schemas.openxmlformats.org/drawingml/2006/main" noGrp="1"/>
          </p:cNvSpPr>
          <p:nvPr/>
        </p:nvSpPr>
        <p:spPr>
          <a:xfrm xmlns:a="http://schemas.openxmlformats.org/drawingml/2006/main">
            <a:off x="533400" y="46577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BB02FC4-BDE7-4DED-9D4C-D071C2493001}"/>
              </a:ext>
            </a:extLst>
          </p:cNvPr>
          <p:cNvSpPr>
            <a:spLocks xmlns:a="http://schemas.openxmlformats.org/drawingml/2006/main" noGrp="1"/>
          </p:cNvSpPr>
          <p:nvPr/>
        </p:nvSpPr>
        <p:spPr>
          <a:xfrm xmlns:a="http://schemas.openxmlformats.org/drawingml/2006/main">
            <a:off x="542925" y="4895850"/>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79DBB4"/>
                </a:solidFill>
                <a:latin typeface="Aptos"/>
                <a:ea typeface="Aptos"/>
                <a:cs typeface="Aptos"/>
              </a:defRPr>
            </a:pPr>
            <a:r>
              <a:rPr sz="1650" b="1">
                <a:solidFill>
                  <a:srgbClr val="79DBB4"/>
                </a:solidFill>
                <a:latin typeface="Aptos"/>
                <a:ea typeface="Aptos"/>
                <a:cs typeface="Aptos"/>
              </a:rPr>
              <a:t>What the model did</a:t>
            </a:r>
          </a:p>
        </p:txBody>
      </p:sp>
      <p:sp>
        <p:nvSpPr>
          <p:cNvPr id="13" name="">
            <a:extLst xmlns:a="http://schemas.openxmlformats.org/drawingml/2006/main">
              <a:ext uri="{FF2B5EF4-FFF2-40B4-BE49-F238E27FC236}">
                <a16:creationId xmlns:a16="http://schemas.microsoft.com/office/drawing/2014/main" id="{F62A13E6-6B78-4DB6-B555-C250C36A7424}"/>
              </a:ext>
            </a:extLst>
          </p:cNvPr>
          <p:cNvSpPr>
            <a:spLocks xmlns:a="http://schemas.openxmlformats.org/drawingml/2006/main" noGrp="1"/>
          </p:cNvSpPr>
          <p:nvPr/>
        </p:nvSpPr>
        <p:spPr>
          <a:xfrm xmlns:a="http://schemas.openxmlformats.org/drawingml/2006/main">
            <a:off x="542925" y="5286375"/>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2F6FA"/>
                </a:solidFill>
                <a:latin typeface="Aptos"/>
                <a:ea typeface="Aptos"/>
                <a:cs typeface="Aptos"/>
              </a:defRPr>
            </a:pPr>
            <a:r>
              <a:rPr sz="1725" b="0">
                <a:solidFill>
                  <a:srgbClr val="F2F6FA"/>
                </a:solidFill>
                <a:latin typeface="Aptos"/>
                <a:ea typeface="Aptos"/>
                <a:cs typeface="Aptos"/>
              </a:rPr>
              <a:t>Produced numerical judgments for this state.</a:t>
            </a:r>
          </a:p>
        </p:txBody>
      </p:sp>
      <p:sp>
        <p:nvSpPr>
          <p:cNvPr id="14" name="">
            <a:extLst xmlns:a="http://schemas.openxmlformats.org/drawingml/2006/main">
              <a:ext uri="{FF2B5EF4-FFF2-40B4-BE49-F238E27FC236}">
                <a16:creationId xmlns:a16="http://schemas.microsoft.com/office/drawing/2014/main" id="{32197871-8A42-4A4B-87F9-2379F5BCF689}"/>
              </a:ext>
            </a:extLst>
          </p:cNvPr>
          <p:cNvSpPr>
            <a:spLocks xmlns:a="http://schemas.openxmlformats.org/drawingml/2006/main" noGrp="1"/>
          </p:cNvSpPr>
          <p:nvPr/>
        </p:nvSpPr>
        <p:spPr>
          <a:xfrm xmlns:a="http://schemas.openxmlformats.org/drawingml/2006/main">
            <a:off x="6200775" y="48958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F4CA7B"/>
                </a:solidFill>
                <a:latin typeface="Aptos"/>
                <a:ea typeface="Aptos"/>
                <a:cs typeface="Aptos"/>
              </a:defRPr>
            </a:pPr>
            <a:r>
              <a:rPr sz="1650" b="1">
                <a:solidFill>
                  <a:srgbClr val="F4CA7B"/>
                </a:solidFill>
                <a:latin typeface="Aptos"/>
                <a:ea typeface="Aptos"/>
                <a:cs typeface="Aptos"/>
              </a:rPr>
              <a:t>What execution requires</a:t>
            </a:r>
          </a:p>
        </p:txBody>
      </p:sp>
      <p:sp>
        <p:nvSpPr>
          <p:cNvPr id="15" name="">
            <a:extLst xmlns:a="http://schemas.openxmlformats.org/drawingml/2006/main">
              <a:ext uri="{FF2B5EF4-FFF2-40B4-BE49-F238E27FC236}">
                <a16:creationId xmlns:a16="http://schemas.microsoft.com/office/drawing/2014/main" id="{2734A579-A0E7-4B8C-BDF7-64A507AA2409}"/>
              </a:ext>
            </a:extLst>
          </p:cNvPr>
          <p:cNvSpPr>
            <a:spLocks xmlns:a="http://schemas.openxmlformats.org/drawingml/2006/main" noGrp="1"/>
          </p:cNvSpPr>
          <p:nvPr/>
        </p:nvSpPr>
        <p:spPr>
          <a:xfrm xmlns:a="http://schemas.openxmlformats.org/drawingml/2006/main">
            <a:off x="6200775" y="5286375"/>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2F6FA"/>
                </a:solidFill>
                <a:latin typeface="Aptos"/>
                <a:ea typeface="Aptos"/>
                <a:cs typeface="Aptos"/>
              </a:defRPr>
            </a:pPr>
            <a:r>
              <a:rPr sz="1725" b="0">
                <a:solidFill>
                  <a:srgbClr val="F2F6FA"/>
                </a:solidFill>
                <a:latin typeface="Aptos"/>
                <a:ea typeface="Aptos"/>
                <a:cs typeface="Aptos"/>
              </a:rPr>
              <a:t>Factual preconditions, policy priority, and an actual Core.act call.</a:t>
            </a:r>
          </a:p>
        </p:txBody>
      </p:sp>
    </p:spTree>
    <p:extLst>
      <p:ext uri="{BB962C8B-B14F-4D97-AF65-F5344CB8AC3E}">
        <p14:creationId xmlns:p14="http://schemas.microsoft.com/office/powerpoint/2010/main" val="1568418127"/>
      </p:ext>
    </p:extLst>
  </p:cSld>
</p:sld>
</file>

<file path=ppt/slides/slide4.xml><?xml version="1.0" encoding="utf-8"?>
<p:sld xmlns:p="http://schemas.openxmlformats.org/presentationml/2006/main">
  <p:cSld>
    <p:bg>
      <p:bgPr>
        <a:solidFill xmlns:a="http://schemas.openxmlformats.org/drawingml/2006/main">
          <a:srgbClr val="0C121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EA09B8-9B09-4711-A1A1-DF8BCCAB0099}"/>
              </a:ext>
            </a:extLst>
          </p:cNvPr>
          <p:cNvSpPr>
            <a:spLocks xmlns:a="http://schemas.openxmlformats.org/drawingml/2006/main" noGrp="1"/>
          </p:cNvSpPr>
          <p:nvPr/>
        </p:nvSpPr>
        <p:spPr>
          <a:xfrm xmlns:a="http://schemas.openxmlformats.org/drawingml/2006/main">
            <a:off x="542925" y="2571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86BDF4"/>
                </a:solidFill>
                <a:latin typeface="Aptos"/>
                <a:ea typeface="Aptos"/>
                <a:cs typeface="Aptos"/>
              </a:defRPr>
            </a:pPr>
            <a:r>
              <a:rPr sz="1275" b="1">
                <a:solidFill>
                  <a:srgbClr val="86BDF4"/>
                </a:solidFill>
                <a:latin typeface="Aptos"/>
                <a:ea typeface="Aptos"/>
                <a:cs typeface="Aptos"/>
              </a:rPr>
              <a:t>LONG-HORIZON CONTROL</a:t>
            </a:r>
          </a:p>
        </p:txBody>
      </p:sp>
      <p:sp>
        <p:nvSpPr>
          <p:cNvPr id="2" name="">
            <a:extLst xmlns:a="http://schemas.openxmlformats.org/drawingml/2006/main">
              <a:ext uri="{FF2B5EF4-FFF2-40B4-BE49-F238E27FC236}">
                <a16:creationId xmlns:a16="http://schemas.microsoft.com/office/drawing/2014/main" id="{602B7342-5A6D-49F5-9EA3-33CBDE93E8C6}"/>
              </a:ext>
            </a:extLst>
          </p:cNvPr>
          <p:cNvSpPr>
            <a:spLocks xmlns:a="http://schemas.openxmlformats.org/drawingml/2006/main" noGrp="1"/>
          </p:cNvSpPr>
          <p:nvPr/>
        </p:nvSpPr>
        <p:spPr>
          <a:xfrm xmlns:a="http://schemas.openxmlformats.org/drawingml/2006/main">
            <a:off x="533400" y="5429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2F6FA"/>
                </a:solidFill>
                <a:latin typeface="Aptos"/>
                <a:ea typeface="Aptos"/>
                <a:cs typeface="Aptos"/>
              </a:defRPr>
            </a:pPr>
            <a:r>
              <a:rPr sz="2775" b="1">
                <a:solidFill>
                  <a:srgbClr val="F2F6FA"/>
                </a:solidFill>
                <a:latin typeface="Aptos"/>
                <a:ea typeface="Aptos"/>
                <a:cs typeface="Aptos"/>
              </a:rPr>
              <a:t>HTN contract: trigger, method, task</a:t>
            </a:r>
          </a:p>
        </p:txBody>
      </p:sp>
      <p:sp>
        <p:nvSpPr>
          <p:cNvPr id="3" name="">
            <a:extLst xmlns:a="http://schemas.openxmlformats.org/drawingml/2006/main">
              <a:ext uri="{FF2B5EF4-FFF2-40B4-BE49-F238E27FC236}">
                <a16:creationId xmlns:a16="http://schemas.microsoft.com/office/drawing/2014/main" id="{76AFDDA6-742C-46FB-B558-DC6B1278FEF3}"/>
              </a:ext>
            </a:extLst>
          </p:cNvPr>
          <p:cNvSpPr>
            <a:spLocks xmlns:a="http://schemas.openxmlformats.org/drawingml/2006/main" noGrp="1"/>
          </p:cNvSpPr>
          <p:nvPr/>
        </p:nvSpPr>
        <p:spPr>
          <a:xfrm xmlns:a="http://schemas.openxmlformats.org/drawingml/2006/main">
            <a:off x="533400" y="12668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A4A7E7-388A-40A2-986D-450D9BF6078C}"/>
              </a:ext>
            </a:extLst>
          </p:cNvPr>
          <p:cNvSpPr>
            <a:spLocks xmlns:a="http://schemas.openxmlformats.org/drawingml/2006/main" noGrp="1"/>
          </p:cNvSpPr>
          <p:nvPr/>
        </p:nvSpPr>
        <p:spPr>
          <a:xfrm xmlns:a="http://schemas.openxmlformats.org/drawingml/2006/main">
            <a:off x="533400" y="6438900"/>
            <a:ext cx="1110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4 / 7   ·   LayA + RogueRNG   ·   engineering briefing</a:t>
            </a:r>
          </a:p>
        </p:txBody>
      </p:sp>
      <p:sp>
        <p:nvSpPr>
          <p:cNvPr id="5" name="">
            <a:extLst xmlns:a="http://schemas.openxmlformats.org/drawingml/2006/main">
              <a:ext uri="{FF2B5EF4-FFF2-40B4-BE49-F238E27FC236}">
                <a16:creationId xmlns:a16="http://schemas.microsoft.com/office/drawing/2014/main" id="{05062CE2-8130-43E0-BD39-91EB2E748E7A}"/>
              </a:ext>
            </a:extLst>
          </p:cNvPr>
          <p:cNvSpPr>
            <a:spLocks xmlns:a="http://schemas.openxmlformats.org/drawingml/2006/main" noGrp="1"/>
          </p:cNvSpPr>
          <p:nvPr/>
        </p:nvSpPr>
        <p:spPr>
          <a:xfrm xmlns:a="http://schemas.openxmlformats.org/drawingml/2006/main">
            <a:off x="542925" y="1571625"/>
            <a:ext cx="11106150" cy="1162050"/>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3804E6-291A-4427-ACD9-4FC7E8643858}"/>
              </a:ext>
            </a:extLst>
          </p:cNvPr>
          <p:cNvSpPr>
            <a:spLocks xmlns:a="http://schemas.openxmlformats.org/drawingml/2006/main" noGrp="1"/>
          </p:cNvSpPr>
          <p:nvPr/>
        </p:nvSpPr>
        <p:spPr>
          <a:xfrm xmlns:a="http://schemas.openxmlformats.org/drawingml/2006/main">
            <a:off x="714375" y="16954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F2F6FA"/>
                </a:solidFill>
                <a:latin typeface="Consolas"/>
                <a:ea typeface="Consolas"/>
                <a:cs typeface="Consolas"/>
              </a:defRPr>
            </a:pPr>
            <a:r>
              <a:rPr sz="1875" b="0">
                <a:solidFill>
                  <a:srgbClr val="F2F6FA"/>
                </a:solidFill>
                <a:latin typeface="Consolas"/>
                <a:ea typeface="Consolas"/>
                <a:cs typeface="Consolas"/>
              </a:rPr>
              <a:t>GOAL = { id, weight, trig(f,d), tasks(f) }</a:t>
            </a:r>
          </a:p>
          <a:p xmlns:a="http://schemas.openxmlformats.org/drawingml/2006/main">
            <a:pPr>
              <a:defRPr sz="1875" b="0">
                <a:solidFill>
                  <a:srgbClr val="F2F6FA"/>
                </a:solidFill>
                <a:latin typeface="Consolas"/>
                <a:ea typeface="Consolas"/>
                <a:cs typeface="Consolas"/>
              </a:defRPr>
            </a:pPr>
            <a:r>
              <a:rPr sz="1875" b="0">
                <a:solidFill>
                  <a:srgbClr val="F2F6FA"/>
                </a:solidFill>
                <a:latin typeface="Consolas"/>
                <a:ea typeface="Consolas"/>
                <a:cs typeface="Consolas"/>
              </a:rPr>
              <a:t>TASK = { id, done(f,st), act(f,st) }</a:t>
            </a:r>
          </a:p>
        </p:txBody>
      </p:sp>
      <p:sp>
        <p:nvSpPr>
          <p:cNvPr id="7" name="">
            <a:extLst xmlns:a="http://schemas.openxmlformats.org/drawingml/2006/main">
              <a:ext uri="{FF2B5EF4-FFF2-40B4-BE49-F238E27FC236}">
                <a16:creationId xmlns:a16="http://schemas.microsoft.com/office/drawing/2014/main" id="{11B86FFE-7BF9-4CCD-9A7B-FE7683847A2B}"/>
              </a:ext>
            </a:extLst>
          </p:cNvPr>
          <p:cNvSpPr>
            <a:spLocks xmlns:a="http://schemas.openxmlformats.org/drawingml/2006/main" noGrp="1"/>
          </p:cNvSpPr>
          <p:nvPr/>
        </p:nvSpPr>
        <p:spPr>
          <a:xfrm xmlns:a="http://schemas.openxmlformats.org/drawingml/2006/main">
            <a:off x="542925" y="30765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86BDF4"/>
                </a:solidFill>
                <a:latin typeface="Aptos"/>
                <a:ea typeface="Aptos"/>
                <a:cs typeface="Aptos"/>
              </a:defRPr>
            </a:pPr>
            <a:r>
              <a:rPr sz="1650" b="1">
                <a:solidFill>
                  <a:srgbClr val="86BDF4"/>
                </a:solidFill>
                <a:latin typeface="Aptos"/>
                <a:ea typeface="Aptos"/>
                <a:cs typeface="Aptos"/>
              </a:rPr>
              <a:t>Authored decomposition</a:t>
            </a:r>
          </a:p>
        </p:txBody>
      </p:sp>
      <p:sp>
        <p:nvSpPr>
          <p:cNvPr id="8" name="">
            <a:extLst xmlns:a="http://schemas.openxmlformats.org/drawingml/2006/main">
              <a:ext uri="{FF2B5EF4-FFF2-40B4-BE49-F238E27FC236}">
                <a16:creationId xmlns:a16="http://schemas.microsoft.com/office/drawing/2014/main" id="{02A4DC0A-27DB-4E6C-9377-FE4F2EE8ECBD}"/>
              </a:ext>
            </a:extLst>
          </p:cNvPr>
          <p:cNvSpPr>
            <a:spLocks xmlns:a="http://schemas.openxmlformats.org/drawingml/2006/main" noGrp="1"/>
          </p:cNvSpPr>
          <p:nvPr/>
        </p:nvSpPr>
        <p:spPr>
          <a:xfrm xmlns:a="http://schemas.openxmlformats.org/drawingml/2006/main">
            <a:off x="542925" y="3533775"/>
            <a:ext cx="11106150" cy="1971675"/>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1547133-CEE4-48EE-A6BD-403F9F630223}"/>
              </a:ext>
            </a:extLst>
          </p:cNvPr>
          <p:cNvSpPr>
            <a:spLocks xmlns:a="http://schemas.openxmlformats.org/drawingml/2006/main" noGrp="1"/>
          </p:cNvSpPr>
          <p:nvPr/>
        </p:nvSpPr>
        <p:spPr>
          <a:xfrm xmlns:a="http://schemas.openxmlformats.org/drawingml/2006/main">
            <a:off x="714375" y="3657600"/>
            <a:ext cx="107632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unpack:   bag.length ≥ 18</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          → gohome → chores → resume</a:t>
            </a:r>
          </a:p>
          <a:p xmlns:a="http://schemas.openxmlformats.org/drawingml/2006/main">
            <a:r>
              <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haveKey:  locked chest ∧ no key ∧ gold ≥ 55</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          → gohome → buy:key → resume</a:t>
            </a:r>
          </a:p>
        </p:txBody>
      </p:sp>
      <p:sp>
        <p:nvSpPr>
          <p:cNvPr id="10" name="">
            <a:extLst xmlns:a="http://schemas.openxmlformats.org/drawingml/2006/main">
              <a:ext uri="{FF2B5EF4-FFF2-40B4-BE49-F238E27FC236}">
                <a16:creationId xmlns:a16="http://schemas.microsoft.com/office/drawing/2014/main" id="{EEF4F044-187A-41DC-8F60-5A3A98D28C5D}"/>
              </a:ext>
            </a:extLst>
          </p:cNvPr>
          <p:cNvSpPr>
            <a:spLocks xmlns:a="http://schemas.openxmlformats.org/drawingml/2006/main" noGrp="1"/>
          </p:cNvSpPr>
          <p:nvPr/>
        </p:nvSpPr>
        <p:spPr>
          <a:xfrm xmlns:a="http://schemas.openxmlformats.org/drawingml/2006/main">
            <a:off x="533400" y="574357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511A84F-D8A7-42D9-92BA-BA7AF7F0D569}"/>
              </a:ext>
            </a:extLst>
          </p:cNvPr>
          <p:cNvSpPr>
            <a:spLocks xmlns:a="http://schemas.openxmlformats.org/drawingml/2006/main" noGrp="1"/>
          </p:cNvSpPr>
          <p:nvPr/>
        </p:nvSpPr>
        <p:spPr>
          <a:xfrm xmlns:a="http://schemas.openxmlformats.org/drawingml/2006/main">
            <a:off x="542925" y="5876925"/>
            <a:ext cx="11106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9DBB4"/>
                </a:solidFill>
                <a:latin typeface="Aptos"/>
                <a:ea typeface="Aptos"/>
                <a:cs typeface="Aptos"/>
              </a:defRPr>
            </a:pPr>
            <a:r>
              <a:rPr sz="1425" b="0">
                <a:solidFill>
                  <a:srgbClr val="79DBB4"/>
                </a:solidFill>
                <a:latin typeface="Aptos"/>
                <a:ea typeface="Aptos"/>
                <a:cs typeface="Aptos"/>
              </a:rPr>
              <a:t>In this planner, LayA supplies one guarded trigger:  P(packNeedsTending) &gt; .75  ∧  dungeon  ∧  (bag ≥ 10 ∨ gold ≥ 90).</a:t>
            </a:r>
          </a:p>
        </p:txBody>
      </p:sp>
    </p:spTree>
    <p:extLst>
      <p:ext uri="{BB962C8B-B14F-4D97-AF65-F5344CB8AC3E}">
        <p14:creationId xmlns:p14="http://schemas.microsoft.com/office/powerpoint/2010/main" val="2051398330"/>
      </p:ext>
    </p:extLst>
  </p:cSld>
</p:sld>
</file>

<file path=ppt/slides/slide5.xml><?xml version="1.0" encoding="utf-8"?>
<p:sld xmlns:p="http://schemas.openxmlformats.org/presentationml/2006/main">
  <p:cSld>
    <p:bg>
      <p:bgPr>
        <a:solidFill xmlns:a="http://schemas.openxmlformats.org/drawingml/2006/main">
          <a:srgbClr val="0C121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C796B3-199A-4BB3-8285-DADF9EEE10E3}"/>
              </a:ext>
            </a:extLst>
          </p:cNvPr>
          <p:cNvSpPr>
            <a:spLocks xmlns:a="http://schemas.openxmlformats.org/drawingml/2006/main" noGrp="1"/>
          </p:cNvSpPr>
          <p:nvPr/>
        </p:nvSpPr>
        <p:spPr>
          <a:xfrm xmlns:a="http://schemas.openxmlformats.org/drawingml/2006/main">
            <a:off x="542925" y="2571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86BDF4"/>
                </a:solidFill>
                <a:latin typeface="Aptos"/>
                <a:ea typeface="Aptos"/>
                <a:cs typeface="Aptos"/>
              </a:defRPr>
            </a:pPr>
            <a:r>
              <a:rPr sz="1275" b="1">
                <a:solidFill>
                  <a:srgbClr val="86BDF4"/>
                </a:solidFill>
                <a:latin typeface="Aptos"/>
                <a:ea typeface="Aptos"/>
                <a:cs typeface="Aptos"/>
              </a:rPr>
              <a:t>PLANNER ALGORITHM</a:t>
            </a:r>
          </a:p>
        </p:txBody>
      </p:sp>
      <p:sp>
        <p:nvSpPr>
          <p:cNvPr id="2" name="">
            <a:extLst xmlns:a="http://schemas.openxmlformats.org/drawingml/2006/main">
              <a:ext uri="{FF2B5EF4-FFF2-40B4-BE49-F238E27FC236}">
                <a16:creationId xmlns:a16="http://schemas.microsoft.com/office/drawing/2014/main" id="{BDE52896-F8C8-4388-B6DC-B843019A0558}"/>
              </a:ext>
            </a:extLst>
          </p:cNvPr>
          <p:cNvSpPr>
            <a:spLocks xmlns:a="http://schemas.openxmlformats.org/drawingml/2006/main" noGrp="1"/>
          </p:cNvSpPr>
          <p:nvPr/>
        </p:nvSpPr>
        <p:spPr>
          <a:xfrm xmlns:a="http://schemas.openxmlformats.org/drawingml/2006/main">
            <a:off x="533400" y="5429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2F6FA"/>
                </a:solidFill>
                <a:latin typeface="Aptos"/>
                <a:ea typeface="Aptos"/>
                <a:cs typeface="Aptos"/>
              </a:defRPr>
            </a:pPr>
            <a:r>
              <a:rPr sz="2775" b="1">
                <a:solidFill>
                  <a:srgbClr val="F2F6FA"/>
                </a:solidFill>
                <a:latin typeface="Aptos"/>
                <a:ea typeface="Aptos"/>
                <a:cs typeface="Aptos"/>
              </a:rPr>
              <a:t>Merge once; advance on live completion</a:t>
            </a:r>
          </a:p>
        </p:txBody>
      </p:sp>
      <p:sp>
        <p:nvSpPr>
          <p:cNvPr id="3" name="">
            <a:extLst xmlns:a="http://schemas.openxmlformats.org/drawingml/2006/main">
              <a:ext uri="{FF2B5EF4-FFF2-40B4-BE49-F238E27FC236}">
                <a16:creationId xmlns:a16="http://schemas.microsoft.com/office/drawing/2014/main" id="{07149E2B-BF19-4742-AA8E-07A3D730A2AC}"/>
              </a:ext>
            </a:extLst>
          </p:cNvPr>
          <p:cNvSpPr>
            <a:spLocks xmlns:a="http://schemas.openxmlformats.org/drawingml/2006/main" noGrp="1"/>
          </p:cNvSpPr>
          <p:nvPr/>
        </p:nvSpPr>
        <p:spPr>
          <a:xfrm xmlns:a="http://schemas.openxmlformats.org/drawingml/2006/main">
            <a:off x="533400" y="12668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575016-4269-4F5C-A5A9-87EE4F356E82}"/>
              </a:ext>
            </a:extLst>
          </p:cNvPr>
          <p:cNvSpPr>
            <a:spLocks xmlns:a="http://schemas.openxmlformats.org/drawingml/2006/main" noGrp="1"/>
          </p:cNvSpPr>
          <p:nvPr/>
        </p:nvSpPr>
        <p:spPr>
          <a:xfrm xmlns:a="http://schemas.openxmlformats.org/drawingml/2006/main">
            <a:off x="533400" y="6438900"/>
            <a:ext cx="1110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5 / 7   ·   LayA + RogueRNG   ·   engineering briefing</a:t>
            </a:r>
          </a:p>
        </p:txBody>
      </p:sp>
      <p:sp>
        <p:nvSpPr>
          <p:cNvPr id="5" name="">
            <a:extLst xmlns:a="http://schemas.openxmlformats.org/drawingml/2006/main">
              <a:ext uri="{FF2B5EF4-FFF2-40B4-BE49-F238E27FC236}">
                <a16:creationId xmlns:a16="http://schemas.microsoft.com/office/drawing/2014/main" id="{CD5D8274-5147-447D-9D1A-4A61CD4A9074}"/>
              </a:ext>
            </a:extLst>
          </p:cNvPr>
          <p:cNvSpPr>
            <a:spLocks xmlns:a="http://schemas.openxmlformats.org/drawingml/2006/main" noGrp="1"/>
          </p:cNvSpPr>
          <p:nvPr/>
        </p:nvSpPr>
        <p:spPr>
          <a:xfrm xmlns:a="http://schemas.openxmlformats.org/drawingml/2006/main">
            <a:off x="542925" y="156210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86BDF4"/>
                </a:solidFill>
                <a:latin typeface="Aptos"/>
                <a:ea typeface="Aptos"/>
                <a:cs typeface="Aptos"/>
              </a:defRPr>
            </a:pPr>
            <a:r>
              <a:rPr sz="1650" b="1">
                <a:solidFill>
                  <a:srgbClr val="86BDF4"/>
                </a:solidFill>
                <a:latin typeface="Aptos"/>
                <a:ea typeface="Aptos"/>
                <a:cs typeface="Aptos"/>
              </a:rPr>
              <a:t>Active goals by weight</a:t>
            </a:r>
          </a:p>
        </p:txBody>
      </p:sp>
      <p:sp>
        <p:nvSpPr>
          <p:cNvPr id="6" name="">
            <a:extLst xmlns:a="http://schemas.openxmlformats.org/drawingml/2006/main">
              <a:ext uri="{FF2B5EF4-FFF2-40B4-BE49-F238E27FC236}">
                <a16:creationId xmlns:a16="http://schemas.microsoft.com/office/drawing/2014/main" id="{8A51DC15-6328-43E4-ADDA-107423843721}"/>
              </a:ext>
            </a:extLst>
          </p:cNvPr>
          <p:cNvSpPr>
            <a:spLocks xmlns:a="http://schemas.openxmlformats.org/drawingml/2006/main" noGrp="1"/>
          </p:cNvSpPr>
          <p:nvPr/>
        </p:nvSpPr>
        <p:spPr>
          <a:xfrm xmlns:a="http://schemas.openxmlformats.org/drawingml/2006/main">
            <a:off x="542925" y="2000250"/>
            <a:ext cx="11106150" cy="1571625"/>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83D4605-16E3-4F48-A4CB-FEA93BF0F735}"/>
              </a:ext>
            </a:extLst>
          </p:cNvPr>
          <p:cNvSpPr>
            <a:spLocks xmlns:a="http://schemas.openxmlformats.org/drawingml/2006/main" noGrp="1"/>
          </p:cNvSpPr>
          <p:nvPr/>
        </p:nvSpPr>
        <p:spPr>
          <a:xfrm xmlns:a="http://schemas.openxmlformats.org/drawingml/2006/main">
            <a:off x="714375" y="2124075"/>
            <a:ext cx="10763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unpack(60)   [home, chores, resume]</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resupply(55) [home, chores, resume]</a:t>
            </a:r>
          </a:p>
          <a:p xmlns:a="http://schemas.openxmlformats.org/drawingml/2006/main">
            <a:pPr>
              <a:defRPr sz="1650" b="0">
                <a:solidFill>
                  <a:srgbClr val="F2F6FA"/>
                </a:solidFill>
                <a:latin typeface="Consolas"/>
                <a:ea typeface="Consolas"/>
                <a:cs typeface="Consolas"/>
              </a:defRPr>
            </a:pPr>
            <a:r>
              <a:rPr sz="1650" b="0">
                <a:solidFill>
                  <a:srgbClr val="F2F6FA"/>
                </a:solidFill>
                <a:latin typeface="Consolas"/>
                <a:ea typeface="Consolas"/>
                <a:cs typeface="Consolas"/>
              </a:rPr>
              <a:t>haveKey(40)  [home, buy:key, resume]</a:t>
            </a:r>
          </a:p>
        </p:txBody>
      </p:sp>
      <p:sp>
        <p:nvSpPr>
          <p:cNvPr id="8" name="">
            <a:extLst xmlns:a="http://schemas.openxmlformats.org/drawingml/2006/main">
              <a:ext uri="{FF2B5EF4-FFF2-40B4-BE49-F238E27FC236}">
                <a16:creationId xmlns:a16="http://schemas.microsoft.com/office/drawing/2014/main" id="{D6A20AB0-E9B7-4867-B828-5CF5A13EA732}"/>
              </a:ext>
            </a:extLst>
          </p:cNvPr>
          <p:cNvSpPr>
            <a:spLocks xmlns:a="http://schemas.openxmlformats.org/drawingml/2006/main" noGrp="1"/>
          </p:cNvSpPr>
          <p:nvPr/>
        </p:nvSpPr>
        <p:spPr>
          <a:xfrm xmlns:a="http://schemas.openxmlformats.org/drawingml/2006/main">
            <a:off x="542925" y="3857625"/>
            <a:ext cx="1110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79DBB4"/>
                </a:solidFill>
                <a:latin typeface="Consolas"/>
                <a:ea typeface="Consolas"/>
                <a:cs typeface="Consolas"/>
              </a:defRPr>
            </a:pPr>
            <a:r>
              <a:rPr sz="2100" b="1">
                <a:solidFill>
                  <a:srgbClr val="79DBB4"/>
                </a:solidFill>
                <a:latin typeface="Consolas"/>
                <a:ea typeface="Consolas"/>
                <a:cs typeface="Consolas"/>
              </a:rPr>
              <a:t>mergePlans → [home, chores, buy:key, resume]</a:t>
            </a:r>
          </a:p>
        </p:txBody>
      </p:sp>
      <p:sp>
        <p:nvSpPr>
          <p:cNvPr id="9" name="">
            <a:extLst xmlns:a="http://schemas.openxmlformats.org/drawingml/2006/main">
              <a:ext uri="{FF2B5EF4-FFF2-40B4-BE49-F238E27FC236}">
                <a16:creationId xmlns:a16="http://schemas.microsoft.com/office/drawing/2014/main" id="{01296D5B-7051-40A7-A615-9618C77C876C}"/>
              </a:ext>
            </a:extLst>
          </p:cNvPr>
          <p:cNvSpPr>
            <a:spLocks xmlns:a="http://schemas.openxmlformats.org/drawingml/2006/main" noGrp="1"/>
          </p:cNvSpPr>
          <p:nvPr/>
        </p:nvSpPr>
        <p:spPr>
          <a:xfrm xmlns:a="http://schemas.openxmlformats.org/drawingml/2006/main">
            <a:off x="533400" y="460057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CA32490-00FF-4080-A227-90A69A99D2DB}"/>
              </a:ext>
            </a:extLst>
          </p:cNvPr>
          <p:cNvSpPr>
            <a:spLocks xmlns:a="http://schemas.openxmlformats.org/drawingml/2006/main" noGrp="1"/>
          </p:cNvSpPr>
          <p:nvPr/>
        </p:nvSpPr>
        <p:spPr>
          <a:xfrm xmlns:a="http://schemas.openxmlformats.org/drawingml/2006/main">
            <a:off x="542925" y="482917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F4CA7B"/>
                </a:solidFill>
                <a:latin typeface="Aptos"/>
                <a:ea typeface="Aptos"/>
                <a:cs typeface="Aptos"/>
              </a:defRPr>
            </a:pPr>
            <a:r>
              <a:rPr sz="1650" b="1">
                <a:solidFill>
                  <a:srgbClr val="F4CA7B"/>
                </a:solidFill>
                <a:latin typeface="Aptos"/>
                <a:ea typeface="Aptos"/>
                <a:cs typeface="Aptos"/>
              </a:rPr>
              <a:t>Execution state</a:t>
            </a:r>
          </a:p>
        </p:txBody>
      </p:sp>
      <p:sp>
        <p:nvSpPr>
          <p:cNvPr id="11" name="">
            <a:extLst xmlns:a="http://schemas.openxmlformats.org/drawingml/2006/main">
              <a:ext uri="{FF2B5EF4-FFF2-40B4-BE49-F238E27FC236}">
                <a16:creationId xmlns:a16="http://schemas.microsoft.com/office/drawing/2014/main" id="{60F3E660-4999-4586-B9EA-FBDA6E51F7C9}"/>
              </a:ext>
            </a:extLst>
          </p:cNvPr>
          <p:cNvSpPr>
            <a:spLocks xmlns:a="http://schemas.openxmlformats.org/drawingml/2006/main" noGrp="1"/>
          </p:cNvSpPr>
          <p:nvPr/>
        </p:nvSpPr>
        <p:spPr>
          <a:xfrm xmlns:a="http://schemas.openxmlformats.org/drawingml/2006/main">
            <a:off x="542925" y="5219700"/>
            <a:ext cx="11029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2F6FA"/>
                </a:solidFill>
                <a:latin typeface="Aptos"/>
                <a:ea typeface="Aptos"/>
                <a:cs typeface="Aptos"/>
              </a:defRPr>
            </a:pPr>
            <a:r>
              <a:rPr sz="1725" b="0">
                <a:solidFill>
                  <a:srgbClr val="F2F6FA"/>
                </a:solidFill>
                <a:latin typeface="Aptos"/>
                <a:ea typeface="Aptos"/>
                <a:cs typeface="Aptos"/>
              </a:rPr>
              <a:t>steps[i] runs until done(f,st); already-complete later tasks are skipped. Safety can interrupt without clearing the plan.</a:t>
            </a:r>
          </a:p>
        </p:txBody>
      </p:sp>
      <p:sp>
        <p:nvSpPr>
          <p:cNvPr id="12" name="">
            <a:extLst xmlns:a="http://schemas.openxmlformats.org/drawingml/2006/main">
              <a:ext uri="{FF2B5EF4-FFF2-40B4-BE49-F238E27FC236}">
                <a16:creationId xmlns:a16="http://schemas.microsoft.com/office/drawing/2014/main" id="{7F219DB7-8954-47C5-9C44-4683006BD6A7}"/>
              </a:ext>
            </a:extLst>
          </p:cNvPr>
          <p:cNvSpPr>
            <a:spLocks xmlns:a="http://schemas.openxmlformats.org/drawingml/2006/main" noGrp="1"/>
          </p:cNvSpPr>
          <p:nvPr/>
        </p:nvSpPr>
        <p:spPr>
          <a:xfrm xmlns:a="http://schemas.openxmlformats.org/drawingml/2006/main">
            <a:off x="542925" y="6000750"/>
            <a:ext cx="1110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F49893"/>
                </a:solidFill>
                <a:latin typeface="Aptos"/>
                <a:ea typeface="Aptos"/>
                <a:cs typeface="Aptos"/>
              </a:defRPr>
            </a:pPr>
            <a:r>
              <a:rPr sz="1350" b="0">
                <a:solidFill>
                  <a:srgbClr val="F49893"/>
                </a:solidFill>
                <a:latin typeface="Aptos"/>
                <a:ea typeface="Aptos"/>
                <a:cs typeface="Aptos"/>
              </a:rPr>
              <a:t>Limit: age &gt; 400 advances an unproven task; completed goals cool down for 80 ticks.</a:t>
            </a:r>
          </a:p>
        </p:txBody>
      </p:sp>
    </p:spTree>
    <p:extLst>
      <p:ext uri="{BB962C8B-B14F-4D97-AF65-F5344CB8AC3E}">
        <p14:creationId xmlns:p14="http://schemas.microsoft.com/office/powerpoint/2010/main" val="1568895220"/>
      </p:ext>
    </p:extLst>
  </p:cSld>
</p:sld>
</file>

<file path=ppt/slides/slide6.xml><?xml version="1.0" encoding="utf-8"?>
<p:sld xmlns:p="http://schemas.openxmlformats.org/presentationml/2006/main">
  <p:cSld>
    <p:bg>
      <p:bgPr>
        <a:solidFill xmlns:a="http://schemas.openxmlformats.org/drawingml/2006/main">
          <a:srgbClr val="0C121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8FB7036-4CE2-4124-8A74-15E7AD714343}"/>
              </a:ext>
            </a:extLst>
          </p:cNvPr>
          <p:cNvSpPr>
            <a:spLocks xmlns:a="http://schemas.openxmlformats.org/drawingml/2006/main" noGrp="1"/>
          </p:cNvSpPr>
          <p:nvPr/>
        </p:nvSpPr>
        <p:spPr>
          <a:xfrm xmlns:a="http://schemas.openxmlformats.org/drawingml/2006/main">
            <a:off x="542925" y="2571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86BDF4"/>
                </a:solidFill>
                <a:latin typeface="Aptos"/>
                <a:ea typeface="Aptos"/>
                <a:cs typeface="Aptos"/>
              </a:defRPr>
            </a:pPr>
            <a:r>
              <a:rPr sz="1275" b="1">
                <a:solidFill>
                  <a:srgbClr val="86BDF4"/>
                </a:solidFill>
                <a:latin typeface="Aptos"/>
                <a:ea typeface="Aptos"/>
                <a:cs typeface="Aptos"/>
              </a:rPr>
              <a:t>HISTORICAL LOCAL SAMPLE</a:t>
            </a:r>
          </a:p>
        </p:txBody>
      </p:sp>
      <p:sp>
        <p:nvSpPr>
          <p:cNvPr id="2" name="">
            <a:extLst xmlns:a="http://schemas.openxmlformats.org/drawingml/2006/main">
              <a:ext uri="{FF2B5EF4-FFF2-40B4-BE49-F238E27FC236}">
                <a16:creationId xmlns:a16="http://schemas.microsoft.com/office/drawing/2014/main" id="{FD9957F1-9DDF-4982-89D0-2E64633891C8}"/>
              </a:ext>
            </a:extLst>
          </p:cNvPr>
          <p:cNvSpPr>
            <a:spLocks xmlns:a="http://schemas.openxmlformats.org/drawingml/2006/main" noGrp="1"/>
          </p:cNvSpPr>
          <p:nvPr/>
        </p:nvSpPr>
        <p:spPr>
          <a:xfrm xmlns:a="http://schemas.openxmlformats.org/drawingml/2006/main">
            <a:off x="533400" y="5429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2F6FA"/>
                </a:solidFill>
                <a:latin typeface="Aptos"/>
                <a:ea typeface="Aptos"/>
                <a:cs typeface="Aptos"/>
              </a:defRPr>
            </a:pPr>
            <a:r>
              <a:rPr sz="2775" b="1">
                <a:solidFill>
                  <a:srgbClr val="F2F6FA"/>
                </a:solidFill>
                <a:latin typeface="Aptos"/>
                <a:ea typeface="Aptos"/>
                <a:cs typeface="Aptos"/>
              </a:rPr>
              <a:t>What the recorded telemetry supports</a:t>
            </a:r>
          </a:p>
        </p:txBody>
      </p:sp>
      <p:sp>
        <p:nvSpPr>
          <p:cNvPr id="3" name="">
            <a:extLst xmlns:a="http://schemas.openxmlformats.org/drawingml/2006/main">
              <a:ext uri="{FF2B5EF4-FFF2-40B4-BE49-F238E27FC236}">
                <a16:creationId xmlns:a16="http://schemas.microsoft.com/office/drawing/2014/main" id="{A79CAE07-F4D4-497E-9A1F-B6CE803CCEFE}"/>
              </a:ext>
            </a:extLst>
          </p:cNvPr>
          <p:cNvSpPr>
            <a:spLocks xmlns:a="http://schemas.openxmlformats.org/drawingml/2006/main" noGrp="1"/>
          </p:cNvSpPr>
          <p:nvPr/>
        </p:nvSpPr>
        <p:spPr>
          <a:xfrm xmlns:a="http://schemas.openxmlformats.org/drawingml/2006/main">
            <a:off x="533400" y="12668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1CCBF7-A294-4C80-96DE-BDD5F95D9E4B}"/>
              </a:ext>
            </a:extLst>
          </p:cNvPr>
          <p:cNvSpPr>
            <a:spLocks xmlns:a="http://schemas.openxmlformats.org/drawingml/2006/main" noGrp="1"/>
          </p:cNvSpPr>
          <p:nvPr/>
        </p:nvSpPr>
        <p:spPr>
          <a:xfrm xmlns:a="http://schemas.openxmlformats.org/drawingml/2006/main">
            <a:off x="533400" y="6438900"/>
            <a:ext cx="1110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6 / 7   ·   LayA + RogueRNG   ·   engineering briefing</a:t>
            </a:r>
          </a:p>
        </p:txBody>
      </p:sp>
      <p:sp>
        <p:nvSpPr>
          <p:cNvPr id="5" name="">
            <a:extLst xmlns:a="http://schemas.openxmlformats.org/drawingml/2006/main">
              <a:ext uri="{FF2B5EF4-FFF2-40B4-BE49-F238E27FC236}">
                <a16:creationId xmlns:a16="http://schemas.microsoft.com/office/drawing/2014/main" id="{0A97C5ED-998D-4221-8E4F-A043FE1E78D3}"/>
              </a:ext>
            </a:extLst>
          </p:cNvPr>
          <p:cNvSpPr>
            <a:spLocks xmlns:a="http://schemas.openxmlformats.org/drawingml/2006/main" noGrp="1"/>
          </p:cNvSpPr>
          <p:nvPr/>
        </p:nvSpPr>
        <p:spPr>
          <a:xfrm xmlns:a="http://schemas.openxmlformats.org/drawingml/2006/main">
            <a:off x="542925" y="150495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B2C1D1"/>
                </a:solidFill>
                <a:latin typeface="Aptos"/>
                <a:ea typeface="Aptos"/>
                <a:cs typeface="Aptos"/>
              </a:defRPr>
            </a:pPr>
            <a:r>
              <a:rPr sz="1575" b="0">
                <a:solidFill>
                  <a:srgbClr val="B2C1D1"/>
                </a:solidFill>
                <a:latin typeface="Aptos"/>
                <a:ea typeface="Aptos"/>
                <a:cs typeface="Aptos"/>
              </a:rPr>
              <a:t>runs/events.jsonl · mixed sessions from 23 Sep 2026</a:t>
            </a:r>
          </a:p>
        </p:txBody>
      </p:sp>
      <p:sp>
        <p:nvSpPr>
          <p:cNvPr id="6" name="">
            <a:extLst xmlns:a="http://schemas.openxmlformats.org/drawingml/2006/main">
              <a:ext uri="{FF2B5EF4-FFF2-40B4-BE49-F238E27FC236}">
                <a16:creationId xmlns:a16="http://schemas.microsoft.com/office/drawing/2014/main" id="{6236529F-40E7-4AD0-B0A7-8AC5AFA191E4}"/>
              </a:ext>
            </a:extLst>
          </p:cNvPr>
          <p:cNvSpPr>
            <a:spLocks xmlns:a="http://schemas.openxmlformats.org/drawingml/2006/main" noGrp="1"/>
          </p:cNvSpPr>
          <p:nvPr/>
        </p:nvSpPr>
        <p:spPr>
          <a:xfrm xmlns:a="http://schemas.openxmlformats.org/drawingml/2006/main">
            <a:off x="542925" y="20002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75" b="1">
                <a:solidFill>
                  <a:srgbClr val="F2F6FA"/>
                </a:solidFill>
                <a:latin typeface="Aptos"/>
                <a:ea typeface="Aptos"/>
                <a:cs typeface="Aptos"/>
              </a:defRPr>
            </a:pPr>
            <a:r>
              <a:rPr sz="3375" b="1">
                <a:solidFill>
                  <a:srgbClr val="F2F6FA"/>
                </a:solidFill>
                <a:latin typeface="Aptos"/>
                <a:ea typeface="Aptos"/>
                <a:cs typeface="Aptos"/>
              </a:rPr>
              <a:t>2,037</a:t>
            </a:r>
          </a:p>
        </p:txBody>
      </p:sp>
      <p:sp>
        <p:nvSpPr>
          <p:cNvPr id="7" name="">
            <a:extLst xmlns:a="http://schemas.openxmlformats.org/drawingml/2006/main">
              <a:ext uri="{FF2B5EF4-FFF2-40B4-BE49-F238E27FC236}">
                <a16:creationId xmlns:a16="http://schemas.microsoft.com/office/drawing/2014/main" id="{6A566F93-DF64-41B1-AC4B-D774F80E8D45}"/>
              </a:ext>
            </a:extLst>
          </p:cNvPr>
          <p:cNvSpPr>
            <a:spLocks xmlns:a="http://schemas.openxmlformats.org/drawingml/2006/main" noGrp="1"/>
          </p:cNvSpPr>
          <p:nvPr/>
        </p:nvSpPr>
        <p:spPr>
          <a:xfrm xmlns:a="http://schemas.openxmlformats.org/drawingml/2006/main">
            <a:off x="542925" y="2714625"/>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B2C1D1"/>
                </a:solidFill>
                <a:latin typeface="Aptos"/>
                <a:ea typeface="Aptos"/>
                <a:cs typeface="Aptos"/>
              </a:defRPr>
            </a:pPr>
            <a:r>
              <a:rPr sz="1500" b="0">
                <a:solidFill>
                  <a:srgbClr val="B2C1D1"/>
                </a:solidFill>
                <a:latin typeface="Aptos"/>
                <a:ea typeface="Aptos"/>
                <a:cs typeface="Aptos"/>
              </a:rPr>
              <a:t>logged turns</a:t>
            </a:r>
          </a:p>
        </p:txBody>
      </p:sp>
      <p:sp>
        <p:nvSpPr>
          <p:cNvPr id="8" name="">
            <a:extLst xmlns:a="http://schemas.openxmlformats.org/drawingml/2006/main">
              <a:ext uri="{FF2B5EF4-FFF2-40B4-BE49-F238E27FC236}">
                <a16:creationId xmlns:a16="http://schemas.microsoft.com/office/drawing/2014/main" id="{CAA6E279-89EB-41A2-8DF9-07DA4D6C24EF}"/>
              </a:ext>
            </a:extLst>
          </p:cNvPr>
          <p:cNvSpPr>
            <a:spLocks xmlns:a="http://schemas.openxmlformats.org/drawingml/2006/main" noGrp="1"/>
          </p:cNvSpPr>
          <p:nvPr/>
        </p:nvSpPr>
        <p:spPr>
          <a:xfrm xmlns:a="http://schemas.openxmlformats.org/drawingml/2006/main">
            <a:off x="3209925" y="20002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75" b="1">
                <a:solidFill>
                  <a:srgbClr val="86BDF4"/>
                </a:solidFill>
                <a:latin typeface="Aptos"/>
                <a:ea typeface="Aptos"/>
                <a:cs typeface="Aptos"/>
              </a:defRPr>
            </a:pPr>
            <a:r>
              <a:rPr sz="3075" b="1">
                <a:solidFill>
                  <a:srgbClr val="86BDF4"/>
                </a:solidFill>
                <a:latin typeface="Aptos"/>
                <a:ea typeface="Aptos"/>
                <a:cs typeface="Aptos"/>
              </a:rPr>
              <a:t>122.6 ms</a:t>
            </a:r>
          </a:p>
        </p:txBody>
      </p:sp>
      <p:sp>
        <p:nvSpPr>
          <p:cNvPr id="9" name="">
            <a:extLst xmlns:a="http://schemas.openxmlformats.org/drawingml/2006/main">
              <a:ext uri="{FF2B5EF4-FFF2-40B4-BE49-F238E27FC236}">
                <a16:creationId xmlns:a16="http://schemas.microsoft.com/office/drawing/2014/main" id="{79F2C0F2-AEF5-4728-A18B-281C85C54E1D}"/>
              </a:ext>
            </a:extLst>
          </p:cNvPr>
          <p:cNvSpPr>
            <a:spLocks xmlns:a="http://schemas.openxmlformats.org/drawingml/2006/main" noGrp="1"/>
          </p:cNvSpPr>
          <p:nvPr/>
        </p:nvSpPr>
        <p:spPr>
          <a:xfrm xmlns:a="http://schemas.openxmlformats.org/drawingml/2006/main">
            <a:off x="3209925" y="2714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C1D1"/>
                </a:solidFill>
                <a:latin typeface="Aptos"/>
                <a:ea typeface="Aptos"/>
                <a:cs typeface="Aptos"/>
              </a:defRPr>
            </a:pPr>
            <a:r>
              <a:rPr sz="1425" b="0">
                <a:solidFill>
                  <a:srgbClr val="B2C1D1"/>
                </a:solidFill>
                <a:latin typeface="Aptos"/>
                <a:ea typeface="Aptos"/>
                <a:cs typeface="Aptos"/>
              </a:rPr>
              <a:t>median bridge latency · n=2,031</a:t>
            </a:r>
          </a:p>
        </p:txBody>
      </p:sp>
      <p:sp>
        <p:nvSpPr>
          <p:cNvPr id="10" name="">
            <a:extLst xmlns:a="http://schemas.openxmlformats.org/drawingml/2006/main">
              <a:ext uri="{FF2B5EF4-FFF2-40B4-BE49-F238E27FC236}">
                <a16:creationId xmlns:a16="http://schemas.microsoft.com/office/drawing/2014/main" id="{E03F6DE8-0A6F-4FA1-A241-41310D4B5470}"/>
              </a:ext>
            </a:extLst>
          </p:cNvPr>
          <p:cNvSpPr>
            <a:spLocks xmlns:a="http://schemas.openxmlformats.org/drawingml/2006/main" noGrp="1"/>
          </p:cNvSpPr>
          <p:nvPr/>
        </p:nvSpPr>
        <p:spPr>
          <a:xfrm xmlns:a="http://schemas.openxmlformats.org/drawingml/2006/main">
            <a:off x="6962775" y="20002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75" b="1">
                <a:solidFill>
                  <a:srgbClr val="F4CA7B"/>
                </a:solidFill>
                <a:latin typeface="Aptos"/>
                <a:ea typeface="Aptos"/>
                <a:cs typeface="Aptos"/>
              </a:defRPr>
            </a:pPr>
            <a:r>
              <a:rPr sz="3075" b="1">
                <a:solidFill>
                  <a:srgbClr val="F4CA7B"/>
                </a:solidFill>
                <a:latin typeface="Aptos"/>
                <a:ea typeface="Aptos"/>
                <a:cs typeface="Aptos"/>
              </a:rPr>
              <a:t>206.4 ms</a:t>
            </a:r>
          </a:p>
        </p:txBody>
      </p:sp>
      <p:sp>
        <p:nvSpPr>
          <p:cNvPr id="11" name="">
            <a:extLst xmlns:a="http://schemas.openxmlformats.org/drawingml/2006/main">
              <a:ext uri="{FF2B5EF4-FFF2-40B4-BE49-F238E27FC236}">
                <a16:creationId xmlns:a16="http://schemas.microsoft.com/office/drawing/2014/main" id="{4E9CACE9-DD32-4843-B6D7-8115720C1E31}"/>
              </a:ext>
            </a:extLst>
          </p:cNvPr>
          <p:cNvSpPr>
            <a:spLocks xmlns:a="http://schemas.openxmlformats.org/drawingml/2006/main" noGrp="1"/>
          </p:cNvSpPr>
          <p:nvPr/>
        </p:nvSpPr>
        <p:spPr>
          <a:xfrm xmlns:a="http://schemas.openxmlformats.org/drawingml/2006/main">
            <a:off x="6962775" y="27146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B2C1D1"/>
                </a:solidFill>
                <a:latin typeface="Aptos"/>
                <a:ea typeface="Aptos"/>
                <a:cs typeface="Aptos"/>
              </a:defRPr>
            </a:pPr>
            <a:r>
              <a:rPr sz="1425" b="0">
                <a:solidFill>
                  <a:srgbClr val="B2C1D1"/>
                </a:solidFill>
                <a:latin typeface="Aptos"/>
                <a:ea typeface="Aptos"/>
                <a:cs typeface="Aptos"/>
              </a:rPr>
              <a:t>95th percentile · n=2,031</a:t>
            </a:r>
          </a:p>
        </p:txBody>
      </p:sp>
      <p:sp>
        <p:nvSpPr>
          <p:cNvPr id="12" name="">
            <a:extLst xmlns:a="http://schemas.openxmlformats.org/drawingml/2006/main">
              <a:ext uri="{FF2B5EF4-FFF2-40B4-BE49-F238E27FC236}">
                <a16:creationId xmlns:a16="http://schemas.microsoft.com/office/drawing/2014/main" id="{1433C2C2-C901-46F4-BE84-510A265CE8E6}"/>
              </a:ext>
            </a:extLst>
          </p:cNvPr>
          <p:cNvSpPr>
            <a:spLocks xmlns:a="http://schemas.openxmlformats.org/drawingml/2006/main" noGrp="1"/>
          </p:cNvSpPr>
          <p:nvPr/>
        </p:nvSpPr>
        <p:spPr>
          <a:xfrm xmlns:a="http://schemas.openxmlformats.org/drawingml/2006/main">
            <a:off x="533400" y="338137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88456C-BFF8-45CF-A4AC-3565B55B56B1}"/>
              </a:ext>
            </a:extLst>
          </p:cNvPr>
          <p:cNvSpPr>
            <a:spLocks xmlns:a="http://schemas.openxmlformats.org/drawingml/2006/main" noGrp="1"/>
          </p:cNvSpPr>
          <p:nvPr/>
        </p:nvSpPr>
        <p:spPr>
          <a:xfrm xmlns:a="http://schemas.openxmlformats.org/drawingml/2006/main">
            <a:off x="542925" y="3619500"/>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79DBB4"/>
                </a:solidFill>
                <a:latin typeface="Aptos"/>
                <a:ea typeface="Aptos"/>
                <a:cs typeface="Aptos"/>
              </a:defRPr>
            </a:pPr>
            <a:r>
              <a:rPr sz="1725" b="1">
                <a:solidFill>
                  <a:srgbClr val="79DBB4"/>
                </a:solidFill>
                <a:latin typeface="Aptos"/>
                <a:ea typeface="Aptos"/>
                <a:cs typeface="Aptos"/>
              </a:rPr>
              <a:t>Final action owner tags</a:t>
            </a:r>
          </a:p>
        </p:txBody>
      </p:sp>
      <p:sp>
        <p:nvSpPr>
          <p:cNvPr id="14" name="">
            <a:extLst xmlns:a="http://schemas.openxmlformats.org/drawingml/2006/main">
              <a:ext uri="{FF2B5EF4-FFF2-40B4-BE49-F238E27FC236}">
                <a16:creationId xmlns:a16="http://schemas.microsoft.com/office/drawing/2014/main" id="{6A228637-FF9A-408E-A4FF-B8905E3F1B3E}"/>
              </a:ext>
            </a:extLst>
          </p:cNvPr>
          <p:cNvSpPr>
            <a:spLocks xmlns:a="http://schemas.openxmlformats.org/drawingml/2006/main" noGrp="1"/>
          </p:cNvSpPr>
          <p:nvPr/>
        </p:nvSpPr>
        <p:spPr>
          <a:xfrm xmlns:a="http://schemas.openxmlformats.org/drawingml/2006/main">
            <a:off x="542925" y="4095750"/>
            <a:ext cx="11106150" cy="1057275"/>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4D1E0E6-A923-479E-9EFD-035E70E98147}"/>
              </a:ext>
            </a:extLst>
          </p:cNvPr>
          <p:cNvSpPr>
            <a:spLocks xmlns:a="http://schemas.openxmlformats.org/drawingml/2006/main" noGrp="1"/>
          </p:cNvSpPr>
          <p:nvPr/>
        </p:nvSpPr>
        <p:spPr>
          <a:xfrm xmlns:a="http://schemas.openxmlformats.org/drawingml/2006/main">
            <a:off x="714375" y="42195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2F6FA"/>
                </a:solidFill>
                <a:latin typeface="Consolas"/>
                <a:ea typeface="Consolas"/>
                <a:cs typeface="Consolas"/>
              </a:defRPr>
            </a:pPr>
            <a:r>
              <a:rPr sz="1725" b="0">
                <a:solidFill>
                  <a:srgbClr val="F2F6FA"/>
                </a:solidFill>
                <a:latin typeface="Consolas"/>
                <a:ea typeface="Consolas"/>
                <a:cs typeface="Consolas"/>
              </a:rPr>
              <a:t>macro  2,013    plan  14    reflex  6</a:t>
            </a:r>
          </a:p>
          <a:p xmlns:a="http://schemas.openxmlformats.org/drawingml/2006/main">
            <a:pPr>
              <a:defRPr sz="1725" b="0">
                <a:solidFill>
                  <a:srgbClr val="F2F6FA"/>
                </a:solidFill>
                <a:latin typeface="Consolas"/>
                <a:ea typeface="Consolas"/>
                <a:cs typeface="Consolas"/>
              </a:defRPr>
            </a:pPr>
            <a:r>
              <a:rPr sz="1725" b="0">
                <a:solidFill>
                  <a:srgbClr val="F2F6FA"/>
                </a:solidFill>
                <a:latin typeface="Consolas"/>
                <a:ea typeface="Consolas"/>
                <a:cs typeface="Consolas"/>
              </a:rPr>
              <a:t>safety     3    errand 1    laya    0</a:t>
            </a:r>
          </a:p>
        </p:txBody>
      </p:sp>
      <p:sp>
        <p:nvSpPr>
          <p:cNvPr id="16" name="">
            <a:extLst xmlns:a="http://schemas.openxmlformats.org/drawingml/2006/main">
              <a:ext uri="{FF2B5EF4-FFF2-40B4-BE49-F238E27FC236}">
                <a16:creationId xmlns:a16="http://schemas.microsoft.com/office/drawing/2014/main" id="{FF8D71BA-EE18-44BA-81D5-C7AD9927A921}"/>
              </a:ext>
            </a:extLst>
          </p:cNvPr>
          <p:cNvSpPr>
            <a:spLocks xmlns:a="http://schemas.openxmlformats.org/drawingml/2006/main" noGrp="1"/>
          </p:cNvSpPr>
          <p:nvPr/>
        </p:nvSpPr>
        <p:spPr>
          <a:xfrm xmlns:a="http://schemas.openxmlformats.org/drawingml/2006/main">
            <a:off x="542925" y="5372100"/>
            <a:ext cx="1110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F2F6FA"/>
                </a:solidFill>
                <a:latin typeface="Aptos"/>
                <a:ea typeface="Aptos"/>
                <a:cs typeface="Aptos"/>
              </a:defRPr>
            </a:pPr>
            <a:r>
              <a:rPr sz="1650" b="0">
                <a:solidFill>
                  <a:srgbClr val="F2F6FA"/>
                </a:solidFill>
                <a:latin typeface="Aptos"/>
                <a:ea typeface="Aptos"/>
                <a:cs typeface="Aptos"/>
              </a:rPr>
              <a:t>Interpretation: this file shows a working loop dominated by deterministic actions. “via” does not capture indirect model influence on goal triggers.</a:t>
            </a:r>
          </a:p>
        </p:txBody>
      </p:sp>
    </p:spTree>
    <p:extLst>
      <p:ext uri="{BB962C8B-B14F-4D97-AF65-F5344CB8AC3E}">
        <p14:creationId xmlns:p14="http://schemas.microsoft.com/office/powerpoint/2010/main" val="1323820241"/>
      </p:ext>
    </p:extLst>
  </p:cSld>
</p:sld>
</file>

<file path=ppt/slides/slide7.xml><?xml version="1.0" encoding="utf-8"?>
<p:sld xmlns:p="http://schemas.openxmlformats.org/presentationml/2006/main">
  <p:cSld>
    <p:bg>
      <p:bgPr>
        <a:solidFill xmlns:a="http://schemas.openxmlformats.org/drawingml/2006/main">
          <a:srgbClr val="0C121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AF00D2-C6DC-4439-94B4-2310FA429380}"/>
              </a:ext>
            </a:extLst>
          </p:cNvPr>
          <p:cNvSpPr>
            <a:spLocks xmlns:a="http://schemas.openxmlformats.org/drawingml/2006/main" noGrp="1"/>
          </p:cNvSpPr>
          <p:nvPr/>
        </p:nvSpPr>
        <p:spPr>
          <a:xfrm xmlns:a="http://schemas.openxmlformats.org/drawingml/2006/main">
            <a:off x="542925" y="2571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86BDF4"/>
                </a:solidFill>
                <a:latin typeface="Aptos"/>
                <a:ea typeface="Aptos"/>
                <a:cs typeface="Aptos"/>
              </a:defRPr>
            </a:pPr>
            <a:r>
              <a:rPr sz="1275" b="1">
                <a:solidFill>
                  <a:srgbClr val="86BDF4"/>
                </a:solidFill>
                <a:latin typeface="Aptos"/>
                <a:ea typeface="Aptos"/>
                <a:cs typeface="Aptos"/>
              </a:rPr>
              <a:t>NEXT EXPERIMENT</a:t>
            </a:r>
          </a:p>
        </p:txBody>
      </p:sp>
      <p:sp>
        <p:nvSpPr>
          <p:cNvPr id="2" name="">
            <a:extLst xmlns:a="http://schemas.openxmlformats.org/drawingml/2006/main">
              <a:ext uri="{FF2B5EF4-FFF2-40B4-BE49-F238E27FC236}">
                <a16:creationId xmlns:a16="http://schemas.microsoft.com/office/drawing/2014/main" id="{B41F68AC-19C8-458B-AB53-63F78B202CAB}"/>
              </a:ext>
            </a:extLst>
          </p:cNvPr>
          <p:cNvSpPr>
            <a:spLocks xmlns:a="http://schemas.openxmlformats.org/drawingml/2006/main" noGrp="1"/>
          </p:cNvSpPr>
          <p:nvPr/>
        </p:nvSpPr>
        <p:spPr>
          <a:xfrm xmlns:a="http://schemas.openxmlformats.org/drawingml/2006/main">
            <a:off x="533400" y="5429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F2F6FA"/>
                </a:solidFill>
                <a:latin typeface="Aptos"/>
                <a:ea typeface="Aptos"/>
                <a:cs typeface="Aptos"/>
              </a:defRPr>
            </a:pPr>
            <a:r>
              <a:rPr sz="2775" b="1">
                <a:solidFill>
                  <a:srgbClr val="F2F6FA"/>
                </a:solidFill>
                <a:latin typeface="Aptos"/>
                <a:ea typeface="Aptos"/>
                <a:cs typeface="Aptos"/>
              </a:rPr>
              <a:t>Transfer test: task routing and domain tuning</a:t>
            </a:r>
          </a:p>
        </p:txBody>
      </p:sp>
      <p:sp>
        <p:nvSpPr>
          <p:cNvPr id="3" name="">
            <a:extLst xmlns:a="http://schemas.openxmlformats.org/drawingml/2006/main">
              <a:ext uri="{FF2B5EF4-FFF2-40B4-BE49-F238E27FC236}">
                <a16:creationId xmlns:a16="http://schemas.microsoft.com/office/drawing/2014/main" id="{748EBC96-7E01-4C42-AD63-B5FB010AF9AA}"/>
              </a:ext>
            </a:extLst>
          </p:cNvPr>
          <p:cNvSpPr>
            <a:spLocks xmlns:a="http://schemas.openxmlformats.org/drawingml/2006/main" noGrp="1"/>
          </p:cNvSpPr>
          <p:nvPr/>
        </p:nvSpPr>
        <p:spPr>
          <a:xfrm xmlns:a="http://schemas.openxmlformats.org/drawingml/2006/main">
            <a:off x="533400" y="1266825"/>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CBA47E-A458-4BB7-B47C-D69648CF4255}"/>
              </a:ext>
            </a:extLst>
          </p:cNvPr>
          <p:cNvSpPr>
            <a:spLocks xmlns:a="http://schemas.openxmlformats.org/drawingml/2006/main" noGrp="1"/>
          </p:cNvSpPr>
          <p:nvPr/>
        </p:nvSpPr>
        <p:spPr>
          <a:xfrm xmlns:a="http://schemas.openxmlformats.org/drawingml/2006/main">
            <a:off x="533400" y="6438900"/>
            <a:ext cx="1110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B2C1D1"/>
                </a:solidFill>
                <a:latin typeface="Aptos"/>
                <a:ea typeface="Aptos"/>
                <a:cs typeface="Aptos"/>
              </a:defRPr>
            </a:pPr>
            <a:r>
              <a:rPr sz="1200" b="0">
                <a:solidFill>
                  <a:srgbClr val="B2C1D1"/>
                </a:solidFill>
                <a:latin typeface="Aptos"/>
                <a:ea typeface="Aptos"/>
                <a:cs typeface="Aptos"/>
              </a:rPr>
              <a:t>7 / 7   ·   LayA + RogueRNG   ·   engineering briefing</a:t>
            </a:r>
          </a:p>
        </p:txBody>
      </p:sp>
      <p:sp>
        <p:nvSpPr>
          <p:cNvPr id="5" name="">
            <a:extLst xmlns:a="http://schemas.openxmlformats.org/drawingml/2006/main">
              <a:ext uri="{FF2B5EF4-FFF2-40B4-BE49-F238E27FC236}">
                <a16:creationId xmlns:a16="http://schemas.microsoft.com/office/drawing/2014/main" id="{258B148A-41C2-4635-977A-483E56D4AC0C}"/>
              </a:ext>
            </a:extLst>
          </p:cNvPr>
          <p:cNvSpPr>
            <a:spLocks xmlns:a="http://schemas.openxmlformats.org/drawingml/2006/main" noGrp="1"/>
          </p:cNvSpPr>
          <p:nvPr/>
        </p:nvSpPr>
        <p:spPr>
          <a:xfrm xmlns:a="http://schemas.openxmlformats.org/drawingml/2006/main">
            <a:off x="542925" y="15906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86BDF4"/>
                </a:solidFill>
                <a:latin typeface="Aptos"/>
                <a:ea typeface="Aptos"/>
                <a:cs typeface="Aptos"/>
              </a:defRPr>
            </a:pPr>
            <a:r>
              <a:rPr sz="1650" b="1">
                <a:solidFill>
                  <a:srgbClr val="86BDF4"/>
                </a:solidFill>
                <a:latin typeface="Aptos"/>
                <a:ea typeface="Aptos"/>
                <a:cs typeface="Aptos"/>
              </a:rPr>
              <a:t>Target workflow</a:t>
            </a:r>
          </a:p>
        </p:txBody>
      </p:sp>
      <p:sp>
        <p:nvSpPr>
          <p:cNvPr id="6" name="">
            <a:extLst xmlns:a="http://schemas.openxmlformats.org/drawingml/2006/main">
              <a:ext uri="{FF2B5EF4-FFF2-40B4-BE49-F238E27FC236}">
                <a16:creationId xmlns:a16="http://schemas.microsoft.com/office/drawing/2014/main" id="{6302DD45-6340-40AC-9C0B-A8C75EE573CB}"/>
              </a:ext>
            </a:extLst>
          </p:cNvPr>
          <p:cNvSpPr>
            <a:spLocks xmlns:a="http://schemas.openxmlformats.org/drawingml/2006/main" noGrp="1"/>
          </p:cNvSpPr>
          <p:nvPr/>
        </p:nvSpPr>
        <p:spPr>
          <a:xfrm xmlns:a="http://schemas.openxmlformats.org/drawingml/2006/main">
            <a:off x="542925" y="2000250"/>
            <a:ext cx="11106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F2F6FA"/>
                </a:solidFill>
                <a:latin typeface="Aptos"/>
                <a:ea typeface="Aptos"/>
                <a:cs typeface="Aptos"/>
              </a:defRPr>
            </a:pPr>
            <a:r>
              <a:rPr sz="1950" b="0">
                <a:solidFill>
                  <a:srgbClr val="F2F6FA"/>
                </a:solidFill>
                <a:latin typeface="Aptos"/>
                <a:ea typeface="Aptos"/>
                <a:cs typeface="Aptos"/>
              </a:rPr>
              <a:t>A bounded, recurring decision with labeled outcomes: route a task to an eligible model, or flag a case for escalation.</a:t>
            </a:r>
          </a:p>
        </p:txBody>
      </p:sp>
      <p:sp>
        <p:nvSpPr>
          <p:cNvPr id="7" name="">
            <a:extLst xmlns:a="http://schemas.openxmlformats.org/drawingml/2006/main">
              <a:ext uri="{FF2B5EF4-FFF2-40B4-BE49-F238E27FC236}">
                <a16:creationId xmlns:a16="http://schemas.microsoft.com/office/drawing/2014/main" id="{C728A135-B571-4430-AD33-4EA56244D0C8}"/>
              </a:ext>
            </a:extLst>
          </p:cNvPr>
          <p:cNvSpPr>
            <a:spLocks xmlns:a="http://schemas.openxmlformats.org/drawingml/2006/main" noGrp="1"/>
          </p:cNvSpPr>
          <p:nvPr/>
        </p:nvSpPr>
        <p:spPr>
          <a:xfrm xmlns:a="http://schemas.openxmlformats.org/drawingml/2006/main">
            <a:off x="533400" y="3086100"/>
            <a:ext cx="11125200" cy="19050"/>
          </a:xfrm>
          <a:prstGeom xmlns:a="http://schemas.openxmlformats.org/drawingml/2006/main" prst="rect">
            <a:avLst/>
          </a:prstGeom>
          <a:solidFill xmlns:a="http://schemas.openxmlformats.org/drawingml/2006/main">
            <a:srgbClr val="39506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959ED5-3648-46B1-B9DE-F9BB77B3C4F9}"/>
              </a:ext>
            </a:extLst>
          </p:cNvPr>
          <p:cNvSpPr>
            <a:spLocks xmlns:a="http://schemas.openxmlformats.org/drawingml/2006/main" noGrp="1"/>
          </p:cNvSpPr>
          <p:nvPr/>
        </p:nvSpPr>
        <p:spPr>
          <a:xfrm xmlns:a="http://schemas.openxmlformats.org/drawingml/2006/main">
            <a:off x="542925" y="3324225"/>
            <a:ext cx="4524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79DBB4"/>
                </a:solidFill>
                <a:latin typeface="Aptos"/>
                <a:ea typeface="Aptos"/>
                <a:cs typeface="Aptos"/>
              </a:defRPr>
            </a:pPr>
            <a:r>
              <a:rPr sz="1650" b="1">
                <a:solidFill>
                  <a:srgbClr val="79DBB4"/>
                </a:solidFill>
                <a:latin typeface="Aptos"/>
                <a:ea typeface="Aptos"/>
                <a:cs typeface="Aptos"/>
              </a:rPr>
              <a:t>Evaluation contract</a:t>
            </a:r>
          </a:p>
        </p:txBody>
      </p:sp>
      <p:sp>
        <p:nvSpPr>
          <p:cNvPr id="9" name="">
            <a:extLst xmlns:a="http://schemas.openxmlformats.org/drawingml/2006/main">
              <a:ext uri="{FF2B5EF4-FFF2-40B4-BE49-F238E27FC236}">
                <a16:creationId xmlns:a16="http://schemas.microsoft.com/office/drawing/2014/main" id="{CDCCA3E4-BF67-4E88-8D17-76258915D9BC}"/>
              </a:ext>
            </a:extLst>
          </p:cNvPr>
          <p:cNvSpPr>
            <a:spLocks xmlns:a="http://schemas.openxmlformats.org/drawingml/2006/main" noGrp="1"/>
          </p:cNvSpPr>
          <p:nvPr/>
        </p:nvSpPr>
        <p:spPr>
          <a:xfrm xmlns:a="http://schemas.openxmlformats.org/drawingml/2006/main">
            <a:off x="542925" y="3762375"/>
            <a:ext cx="11106150" cy="1581150"/>
          </a:xfrm>
          <a:prstGeom xmlns:a="http://schemas.openxmlformats.org/drawingml/2006/main" prst="rect">
            <a:avLst/>
          </a:prstGeom>
          <a:solidFill xmlns:a="http://schemas.openxmlformats.org/drawingml/2006/main">
            <a:srgbClr val="15213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DA4B06B-D3C7-46A7-82C5-9DB465BE58EA}"/>
              </a:ext>
            </a:extLst>
          </p:cNvPr>
          <p:cNvSpPr>
            <a:spLocks xmlns:a="http://schemas.openxmlformats.org/drawingml/2006/main" noGrp="1"/>
          </p:cNvSpPr>
          <p:nvPr/>
        </p:nvSpPr>
        <p:spPr>
          <a:xfrm xmlns:a="http://schemas.openxmlformats.org/drawingml/2006/main">
            <a:off x="714375" y="38862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baseline: current simple / small / medium / large route</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labels: task type, context, tools, outcome</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metrics: quality, calibration, latency, cost, fallback</a:t>
            </a:r>
          </a:p>
          <a:p xmlns:a="http://schemas.openxmlformats.org/drawingml/2006/main">
            <a:pPr>
              <a:defRPr sz="1575" b="0">
                <a:solidFill>
                  <a:srgbClr val="F2F6FA"/>
                </a:solidFill>
                <a:latin typeface="Consolas"/>
                <a:ea typeface="Consolas"/>
                <a:cs typeface="Consolas"/>
              </a:defRPr>
            </a:pPr>
            <a:r>
              <a:rPr sz="1575" b="0">
                <a:solidFill>
                  <a:srgbClr val="F2F6FA"/>
                </a:solidFill>
                <a:latin typeface="Consolas"/>
                <a:ea typeface="Consolas"/>
                <a:cs typeface="Consolas"/>
              </a:rPr>
              <a:t>compare: 1 vs 7 questions; classifier vs LLM route</a:t>
            </a:r>
          </a:p>
        </p:txBody>
      </p:sp>
      <p:sp>
        <p:nvSpPr>
          <p:cNvPr id="11" name="">
            <a:extLst xmlns:a="http://schemas.openxmlformats.org/drawingml/2006/main">
              <a:ext uri="{FF2B5EF4-FFF2-40B4-BE49-F238E27FC236}">
                <a16:creationId xmlns:a16="http://schemas.microsoft.com/office/drawing/2014/main" id="{FC9F16DA-4843-463B-B868-29F07D8A0C96}"/>
              </a:ext>
            </a:extLst>
          </p:cNvPr>
          <p:cNvSpPr>
            <a:spLocks xmlns:a="http://schemas.openxmlformats.org/drawingml/2006/main" noGrp="1"/>
          </p:cNvSpPr>
          <p:nvPr/>
        </p:nvSpPr>
        <p:spPr>
          <a:xfrm xmlns:a="http://schemas.openxmlformats.org/drawingml/2006/main">
            <a:off x="542925" y="5610225"/>
            <a:ext cx="1110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F4CA7B"/>
                </a:solidFill>
                <a:latin typeface="Aptos"/>
                <a:ea typeface="Aptos"/>
                <a:cs typeface="Aptos"/>
              </a:defRPr>
            </a:pPr>
            <a:r>
              <a:rPr sz="1725" b="1">
                <a:solidFill>
                  <a:srgbClr val="F4CA7B"/>
                </a:solidFill>
                <a:latin typeface="Aptos"/>
                <a:ea typeface="Aptos"/>
                <a:cs typeface="Aptos"/>
              </a:rPr>
              <a:t>Promote authority only where held-out results justify it; retain explicit eligibility rules and verification.</a:t>
            </a:r>
          </a:p>
        </p:txBody>
      </p:sp>
    </p:spTree>
    <p:extLst>
      <p:ext uri="{BB962C8B-B14F-4D97-AF65-F5344CB8AC3E}">
        <p14:creationId xmlns:p14="http://schemas.microsoft.com/office/powerpoint/2010/main" val="1064668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2026-09-24T21:15:05.0290000Z</dcterms:created>
  <dcterms:modified xsi:type="dcterms:W3CDTF">2026-09-24T21:15:05.0290000Z</dcterms:modified>
</coreProperties>
</file>