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Pitch in one sentence: an 807 MB encoder answers SEVEN typed questions about a game state in one forward pass (~100 ms), and deterministic code decides what to do. Same typed-primitive pattern as the Jev DOOM demo — running locally, offline, for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Contrast: every LLM-agent failure mode (parse errors, hallucinated options, latency spikes, token bills) comes from generating text. We never generate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model NEVER acts. It votes. Everything around it is deterministic JS + stdlib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output from the actual bridge. The state is unstructured JSON; the questions are declared once in matrix.py.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honesty trick: confidence floor 0.15. If the model isn't sure, the reflex layer plays instead — and the dashboard tracks who actually decided each 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Score can interpolate between anchor levels — like Jev's frustration score. Here it acts as a second, independent key that must turn together with the intent.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System-1 -&gt; long-horizon bridge: a calibrated gut feeling, gated at 0.75, planning a multi-step town trip. No hardcoded threshold on HP/gold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why a near-chance zero-shot model is already playable: its wrong answers are filtered by facts, its right answers get 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replaced 8 hardcoded event chains. The model's noul axes (packNeedsTending) are one of the goal triggers — perception layer feeding the planning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Pilot-e2e.mjs is reproducible: PILOT_MINUTES=480 for overnight runs, JSONL telemetry -&gt; dashboard at :8732.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trust: we don't claim the model plays well yet — we show the machinery that makes every improvement measurable and every bad prediction harmless.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the demo loop running on the dashboard if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7DFFA0"/>
                </a:solidFill>
                <a:latin typeface="Segoe UI"/>
              </a:rPr>
              <a:t>One Forward Pass Per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2918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D8E8E0"/>
                </a:solidFill>
                <a:latin typeface="Segoe UI"/>
              </a:rPr>
              <a:t>Playing a roguelike with a non-autoregressive decision brain —</a:t>
            </a:r>
          </a:p>
          <a:p>
            <a:r>
              <a:rPr sz="2000" b="0">
                <a:solidFill>
                  <a:srgbClr val="D8E8E0"/>
                </a:solidFill>
                <a:latin typeface="Segoe UI"/>
              </a:rPr>
              <a:t>typed judgments in ONE parallel pass. No LLM. No tokens. No text parsing.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7A9A8A"/>
                </a:solidFill>
                <a:latin typeface="Segoe UI"/>
              </a:rPr>
              <a:t>Laya-Rogue · LayA decision matrix + HTN planner · repo: Irtechie/Laya-Rogue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7A9A8A"/>
                </a:solidFill>
                <a:latin typeface="Segoe UI"/>
              </a:rPr>
              <a:t>THE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7DFFA0"/>
                </a:solidFill>
                <a:latin typeface="Segoe UI"/>
              </a:rPr>
              <a:t>Agents today = a loop of LLM calls. It didn't have to be.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7DFFA0"/>
                </a:solidFill>
                <a:latin typeface="Segoe UI"/>
              </a:rPr>
              <a:t>LLM agent</a:t>
            </a:r>
            <a:r>
              <a:rPr sz="1600">
                <a:solidFill>
                  <a:srgbClr val="D8E8E0"/>
                </a:solidFill>
                <a:latin typeface="Segoe UI"/>
              </a:rPr>
              <a:t>  text out, parse it, pray it's JSON; seconds per step; meter running; nondeterministic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7DFFA0"/>
                </a:solidFill>
                <a:latin typeface="Segoe UI"/>
              </a:rPr>
              <a:t>Our agent (LayA)</a:t>
            </a:r>
            <a:r>
              <a:rPr sz="1600">
                <a:solidFill>
                  <a:srgbClr val="D8E8E0"/>
                </a:solidFill>
                <a:latin typeface="Segoe UI"/>
              </a:rPr>
              <a:t>  non-autoregressive encoder — it does NOT generate text; it answers typed questions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7DFFA0"/>
                </a:solidFill>
                <a:latin typeface="Segoe UI"/>
              </a:rPr>
              <a:t>The primitive trio</a:t>
            </a:r>
            <a:r>
              <a:rPr sz="1600">
                <a:solidFill>
                  <a:srgbClr val="D8E8E0"/>
                </a:solidFill>
                <a:latin typeface="Segoe UI"/>
              </a:rPr>
              <a:t>  Choice (category), Score (scale), Noul (strict yes/no probability) — Jev-style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7DFFA0"/>
                </a:solidFill>
                <a:latin typeface="Segoe UI"/>
              </a:rPr>
              <a:t>Why it can be fast</a:t>
            </a:r>
            <a:r>
              <a:rPr sz="1600">
                <a:solidFill>
                  <a:srgbClr val="D8E8E0"/>
                </a:solidFill>
                <a:latin typeface="Segoe UI"/>
              </a:rPr>
              <a:t>  one forward pass classifies ALL questions in parallel: ask 7 = cost of asking 1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7DFFA0"/>
                </a:solidFill>
                <a:latin typeface="Segoe UI"/>
              </a:rPr>
              <a:t>Where it runs</a:t>
            </a:r>
            <a:r>
              <a:rPr sz="1600">
                <a:solidFill>
                  <a:srgbClr val="D8E8E0"/>
                </a:solidFill>
                <a:latin typeface="Segoe UI"/>
              </a:rPr>
              <a:t>  807 MB checkpoint (model.safetensors, ~400M params) on a local GPU — $0 marginal cost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7A9A8A"/>
                </a:solidFill>
                <a:latin typeface="Segoe U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7DFFA0"/>
                </a:solidFill>
                <a:latin typeface="Segoe UI"/>
              </a:rPr>
              <a:t>Two boxes, one HTTP 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291840" cy="1737360"/>
          </a:xfrm>
          <a:prstGeom prst="roundRect">
            <a:avLst/>
          </a:prstGeom>
          <a:solidFill>
            <a:srgbClr val="0F1822"/>
          </a:solidFill>
          <a:ln w="19050">
            <a:solidFill>
              <a:srgbClr val="1E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7DFFA0"/>
                </a:solidFill>
                <a:latin typeface="Segoe UI"/>
              </a:rPr>
              <a:t>GAME (browser)</a:t>
            </a:r>
          </a:p>
          <a:p>
            <a:r>
              <a:rPr sz="1500" b="0">
                <a:solidFill>
                  <a:srgbClr val="D8E8E0"/>
                </a:solidFill>
                <a:latin typeface="Segoe UI"/>
              </a:rPr>
              <a:t>RogueRNG + src/laya/ autopilot</a:t>
            </a:r>
          </a:p>
          <a:p>
            <a:r>
              <a:rPr sz="1500" b="0">
                <a:solidFill>
                  <a:srgbClr val="D8E8E0"/>
                </a:solidFill>
                <a:latin typeface="Segoe UI"/>
              </a:rPr>
              <a:t>policy · HTN planner · 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1737360"/>
            <a:ext cx="3200400" cy="1737360"/>
          </a:xfrm>
          <a:prstGeom prst="roundRect">
            <a:avLst/>
          </a:prstGeom>
          <a:solidFill>
            <a:srgbClr val="0F1822"/>
          </a:solidFill>
          <a:ln w="19050">
            <a:solidFill>
              <a:srgbClr val="1E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7DFFA0"/>
                </a:solidFill>
                <a:latin typeface="Segoe UI"/>
              </a:rPr>
              <a:t>BRIDGE (stdlib HTTP)</a:t>
            </a:r>
          </a:p>
          <a:p>
            <a:r>
              <a:rPr sz="1500" b="0">
                <a:solidFill>
                  <a:srgbClr val="D8E8E0"/>
                </a:solidFill>
                <a:latin typeface="Segoe UI"/>
              </a:rPr>
              <a:t>bridge/server.py + matrix.py</a:t>
            </a:r>
          </a:p>
          <a:p>
            <a:r>
              <a:rPr sz="1500" b="0">
                <a:solidFill>
                  <a:srgbClr val="D8E8E0"/>
                </a:solidFill>
                <a:latin typeface="Segoe UI"/>
              </a:rPr>
              <a:t>/decide /event /stats /schema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95360" y="1737360"/>
            <a:ext cx="3063240" cy="1737360"/>
          </a:xfrm>
          <a:prstGeom prst="roundRect">
            <a:avLst/>
          </a:prstGeom>
          <a:solidFill>
            <a:srgbClr val="0F1822"/>
          </a:solidFill>
          <a:ln w="19050">
            <a:solidFill>
              <a:srgbClr val="1E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7DFFA0"/>
                </a:solidFill>
                <a:latin typeface="Segoe UI"/>
              </a:rPr>
              <a:t>LayA CHECKPOINT</a:t>
            </a:r>
          </a:p>
          <a:p>
            <a:r>
              <a:rPr sz="1500" b="0">
                <a:solidFill>
                  <a:srgbClr val="D8E8E0"/>
                </a:solidFill>
                <a:latin typeface="Segoe UI"/>
              </a:rPr>
              <a:t>encoder on CUDA</a:t>
            </a:r>
          </a:p>
          <a:p>
            <a:r>
              <a:rPr sz="1500" b="0">
                <a:solidFill>
                  <a:srgbClr val="D8E8E0"/>
                </a:solidFill>
                <a:latin typeface="Segoe UI"/>
              </a:rPr>
              <a:t>1 pass ~100 ms · 0 LLM calls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22860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7A9A8A"/>
                </a:solidFill>
                <a:latin typeface="Segoe UI"/>
              </a:rPr>
              <a:t>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2860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7A9A8A"/>
                </a:solidFill>
                <a:latin typeface="Segoe U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881360" cy="2286000"/>
          </a:xfrm>
          <a:prstGeom prst="roundRect">
            <a:avLst/>
          </a:prstGeom>
          <a:solidFill>
            <a:srgbClr val="0F1822"/>
          </a:solidFill>
          <a:ln w="15875">
            <a:solidFill>
              <a:srgbClr val="1E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tIns="128016"/>
          <a:lstStyle/>
          <a:p>
            <a:pPr algn="ctr">
              <a:spcAft>
                <a:spcPts val="150"/>
              </a:spcAft>
            </a:pPr>
            <a:r>
              <a:rPr sz="1300">
                <a:solidFill>
                  <a:srgbClr val="5F8F72"/>
                </a:solidFill>
                <a:latin typeface="Consolas"/>
              </a:rPr>
              <a:t>// one tick, every ~110 ms (game/src/laya.js)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FF9E7D"/>
                </a:solidFill>
                <a:latin typeface="Consolas"/>
              </a:rPr>
              <a:t>const</a:t>
            </a:r>
            <a:r>
              <a:rPr sz="1300">
                <a:solidFill>
                  <a:srgbClr val="E6F2E6"/>
                </a:solidFill>
                <a:latin typeface="Consolas"/>
              </a:rPr>
              <a:t> f = facts();                      </a:t>
            </a:r>
            <a:r>
              <a:rPr sz="1300">
                <a:solidFill>
                  <a:srgbClr val="5F8F72"/>
                </a:solidFill>
                <a:latin typeface="Consolas"/>
              </a:rPr>
              <a:t>// game -&gt; structured JSON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FF9E7D"/>
                </a:solidFill>
                <a:latin typeface="Consolas"/>
              </a:rPr>
              <a:t>const</a:t>
            </a:r>
            <a:r>
              <a:rPr sz="1300">
                <a:solidFill>
                  <a:srgbClr val="E6F2E6"/>
                </a:solidFill>
                <a:latin typeface="Consolas"/>
              </a:rPr>
              <a:t> d = </a:t>
            </a:r>
            <a:r>
              <a:rPr sz="1300">
                <a:solidFill>
                  <a:srgbClr val="FF9E7D"/>
                </a:solidFill>
                <a:latin typeface="Consolas"/>
              </a:rPr>
              <a:t>await</a:t>
            </a:r>
            <a:r>
              <a:rPr sz="1300">
                <a:solidFill>
                  <a:srgbClr val="E6F2E6"/>
                </a:solidFill>
                <a:latin typeface="Consolas"/>
              </a:rPr>
              <a:t> askBridge(buildState(f));   </a:t>
            </a:r>
            <a:r>
              <a:rPr sz="1300">
                <a:solidFill>
                  <a:srgbClr val="5F8F72"/>
                </a:solidFill>
                <a:latin typeface="Consolas"/>
              </a:rPr>
              <a:t>// ONE forward pass -&gt; 7 typed answers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plannerTick(f, d.decision);             </a:t>
            </a:r>
            <a:r>
              <a:rPr sz="1300">
                <a:solidFill>
                  <a:srgbClr val="5F8F72"/>
                </a:solidFill>
                <a:latin typeface="Consolas"/>
              </a:rPr>
              <a:t>// HTN: noul axes arm long-horizon goals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FF9E7D"/>
                </a:solidFill>
                <a:latin typeface="Consolas"/>
              </a:rPr>
              <a:t>const</a:t>
            </a:r>
            <a:r>
              <a:rPr sz="1300">
                <a:solidFill>
                  <a:srgbClr val="E6F2E6"/>
                </a:solidFill>
                <a:latin typeface="Consolas"/>
              </a:rPr>
              <a:t> { act } = macroDecision(f, d.decision); </a:t>
            </a:r>
            <a:r>
              <a:rPr sz="1300">
                <a:solidFill>
                  <a:srgbClr val="5F8F72"/>
                </a:solidFill>
                <a:latin typeface="Consolas"/>
              </a:rPr>
              <a:t>// safety &gt; plan &gt; laya &gt; reflex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game().core.act(act);                   </a:t>
            </a:r>
            <a:r>
              <a:rPr sz="1300">
                <a:solidFill>
                  <a:srgbClr val="5F8F72"/>
                </a:solidFill>
                <a:latin typeface="Consolas"/>
              </a:rPr>
              <a:t>// code owns the action, always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7A9A8A"/>
                </a:solidFill>
                <a:latin typeface="Segoe UI"/>
              </a:rPr>
              <a:t>THE API — python bridge\demo.py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7DFFA0"/>
                </a:solidFill>
                <a:latin typeface="Segoe UI"/>
              </a:rPr>
              <a:t>One call in. Seven typed answers 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8595360" cy="4937760"/>
          </a:xfrm>
          <a:prstGeom prst="roundRect">
            <a:avLst/>
          </a:prstGeom>
          <a:solidFill>
            <a:srgbClr val="0F1822"/>
          </a:solidFill>
          <a:ln w="15875">
            <a:solidFill>
              <a:srgbClr val="1E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tIns="128016"/>
          <a:lstStyle/>
          <a:p>
            <a:pPr algn="ctr"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STATE  dungeon crypts tier </a:t>
            </a:r>
            <a:r>
              <a:rPr sz="1300">
                <a:solidFill>
                  <a:srgbClr val="7DDFFF"/>
                </a:solidFill>
                <a:latin typeface="Consolas"/>
              </a:rPr>
              <a:t>2</a:t>
            </a:r>
            <a:r>
              <a:rPr sz="1300">
                <a:solidFill>
                  <a:srgbClr val="E6F2E6"/>
                </a:solidFill>
                <a:latin typeface="Consolas"/>
              </a:rPr>
              <a:t> | hp </a:t>
            </a:r>
            <a:r>
              <a:rPr sz="1300">
                <a:solidFill>
                  <a:srgbClr val="7DDFFF"/>
                </a:solidFill>
                <a:latin typeface="Consolas"/>
              </a:rPr>
              <a:t>11</a:t>
            </a:r>
            <a:r>
              <a:rPr sz="1300">
                <a:solidFill>
                  <a:srgbClr val="E6F2E6"/>
                </a:solidFill>
                <a:latin typeface="Consolas"/>
              </a:rPr>
              <a:t>/</a:t>
            </a:r>
            <a:r>
              <a:rPr sz="1300">
                <a:solidFill>
                  <a:srgbClr val="7DDFFF"/>
                </a:solidFill>
                <a:latin typeface="Consolas"/>
              </a:rPr>
              <a:t>42</a:t>
            </a:r>
            <a:r>
              <a:rPr sz="1300">
                <a:solidFill>
                  <a:srgbClr val="E6F2E6"/>
                </a:solidFill>
                <a:latin typeface="Consolas"/>
              </a:rPr>
              <a:t> | </a:t>
            </a:r>
            <a:r>
              <a:rPr sz="1300">
                <a:solidFill>
                  <a:srgbClr val="7DDFFF"/>
                </a:solidFill>
                <a:latin typeface="Consolas"/>
              </a:rPr>
              <a:t>3</a:t>
            </a:r>
            <a:r>
              <a:rPr sz="1300">
                <a:solidFill>
                  <a:srgbClr val="E6F2E6"/>
                </a:solidFill>
                <a:latin typeface="Consolas"/>
              </a:rPr>
              <a:t> monsters | </a:t>
            </a:r>
            <a:r>
              <a:rPr sz="1300">
                <a:solidFill>
                  <a:srgbClr val="7DDFFF"/>
                </a:solidFill>
                <a:latin typeface="Consolas"/>
              </a:rPr>
              <a:t>1</a:t>
            </a:r>
            <a:r>
              <a:rPr sz="1300">
                <a:solidFill>
                  <a:srgbClr val="E6F2E6"/>
                </a:solidFill>
                <a:latin typeface="Consolas"/>
              </a:rPr>
              <a:t> potion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MODEL  </a:t>
            </a:r>
            <a:r>
              <a:rPr sz="1300">
                <a:solidFill>
                  <a:srgbClr val="7DDFFF"/>
                </a:solidFill>
                <a:latin typeface="Consolas"/>
              </a:rPr>
              <a:t>229</a:t>
            </a:r>
            <a:r>
              <a:rPr sz="1300">
                <a:solidFill>
                  <a:srgbClr val="E6F2E6"/>
                </a:solidFill>
                <a:latin typeface="Consolas"/>
              </a:rPr>
              <a:t> ms forward pass on cuda      </a:t>
            </a:r>
            <a:r>
              <a:rPr sz="1300">
                <a:solidFill>
                  <a:srgbClr val="5F8F72"/>
                </a:solidFill>
                <a:latin typeface="Consolas"/>
              </a:rPr>
              <a:t># 7 questions = 1 pass = 1 cost</a:t>
            </a:r>
          </a:p>
          <a:p>
            <a:pPr>
              <a:spcAft>
                <a:spcPts val="150"/>
              </a:spcAft>
            </a:pP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intent               choice -&gt; explore  conf </a:t>
            </a:r>
            <a:r>
              <a:rPr sz="1300">
                <a:solidFill>
                  <a:srgbClr val="7DDFFF"/>
                </a:solidFill>
                <a:latin typeface="Consolas"/>
              </a:rPr>
              <a:t>0.26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                       [explore </a:t>
            </a:r>
            <a:r>
              <a:rPr sz="1300">
                <a:solidFill>
                  <a:srgbClr val="7DDFFF"/>
                </a:solidFill>
                <a:latin typeface="Consolas"/>
              </a:rPr>
              <a:t>0.40</a:t>
            </a:r>
            <a:r>
              <a:rPr sz="1300">
                <a:solidFill>
                  <a:srgbClr val="E6F2E6"/>
                </a:solidFill>
                <a:latin typeface="Consolas"/>
              </a:rPr>
              <a:t>  flee </a:t>
            </a:r>
            <a:r>
              <a:rPr sz="1300">
                <a:solidFill>
                  <a:srgbClr val="7DDFFF"/>
                </a:solidFill>
                <a:latin typeface="Consolas"/>
              </a:rPr>
              <a:t>0.21</a:t>
            </a:r>
            <a:r>
              <a:rPr sz="1300">
                <a:solidFill>
                  <a:srgbClr val="E6F2E6"/>
                </a:solidFill>
                <a:latin typeface="Consolas"/>
              </a:rPr>
              <a:t>  cast </a:t>
            </a:r>
            <a:r>
              <a:rPr sz="1300">
                <a:solidFill>
                  <a:srgbClr val="7DDFFF"/>
                </a:solidFill>
                <a:latin typeface="Consolas"/>
              </a:rPr>
              <a:t>0.12</a:t>
            </a:r>
            <a:r>
              <a:rPr sz="1300">
                <a:solidFill>
                  <a:srgbClr val="E6F2E6"/>
                </a:solidFill>
                <a:latin typeface="Consolas"/>
              </a:rPr>
              <a:t>  heal </a:t>
            </a:r>
            <a:r>
              <a:rPr sz="1300">
                <a:solidFill>
                  <a:srgbClr val="7DDFFF"/>
                </a:solidFill>
                <a:latin typeface="Consolas"/>
              </a:rPr>
              <a:t>0.06</a:t>
            </a:r>
            <a:r>
              <a:rPr sz="1300">
                <a:solidFill>
                  <a:srgbClr val="E6F2E6"/>
                </a:solidFill>
                <a:latin typeface="Consolas"/>
              </a:rPr>
              <a:t>]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threat               score  -&gt; </a:t>
            </a:r>
            <a:r>
              <a:rPr sz="1300">
                <a:solidFill>
                  <a:srgbClr val="7DDFFF"/>
                </a:solidFill>
                <a:latin typeface="Consolas"/>
              </a:rPr>
              <a:t>1.79</a:t>
            </a:r>
            <a:r>
              <a:rPr sz="1300">
                <a:solidFill>
                  <a:srgbClr val="E6F2E6"/>
                </a:solidFill>
                <a:latin typeface="Consolas"/>
              </a:rPr>
              <a:t> / </a:t>
            </a:r>
            <a:r>
              <a:rPr sz="1300">
                <a:solidFill>
                  <a:srgbClr val="7DDFFF"/>
                </a:solidFill>
                <a:latin typeface="Consolas"/>
              </a:rPr>
              <a:t>3</a:t>
            </a:r>
            <a:r>
              <a:rPr sz="1300">
                <a:solidFill>
                  <a:srgbClr val="E6F2E6"/>
                </a:solidFill>
                <a:latin typeface="Consolas"/>
              </a:rPr>
              <a:t>        conf </a:t>
            </a:r>
            <a:r>
              <a:rPr sz="1300">
                <a:solidFill>
                  <a:srgbClr val="7DDFFF"/>
                </a:solidFill>
                <a:latin typeface="Consolas"/>
              </a:rPr>
              <a:t>0.04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hp_critical          noul   -&gt; P(</a:t>
            </a:r>
            <a:r>
              <a:rPr sz="1300">
                <a:solidFill>
                  <a:srgbClr val="FF9E7D"/>
                </a:solidFill>
                <a:latin typeface="Consolas"/>
              </a:rPr>
              <a:t>true</a:t>
            </a:r>
            <a:r>
              <a:rPr sz="1300">
                <a:solidFill>
                  <a:srgbClr val="E6F2E6"/>
                </a:solidFill>
                <a:latin typeface="Consolas"/>
              </a:rPr>
              <a:t>) = </a:t>
            </a:r>
            <a:r>
              <a:rPr sz="1300">
                <a:solidFill>
                  <a:srgbClr val="7DDFFF"/>
                </a:solidFill>
                <a:latin typeface="Consolas"/>
              </a:rPr>
              <a:t>0.25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can_kill             noul   -&gt; P(</a:t>
            </a:r>
            <a:r>
              <a:rPr sz="1300">
                <a:solidFill>
                  <a:srgbClr val="FF9E7D"/>
                </a:solidFill>
                <a:latin typeface="Consolas"/>
              </a:rPr>
              <a:t>true</a:t>
            </a:r>
            <a:r>
              <a:rPr sz="1300">
                <a:solidFill>
                  <a:srgbClr val="E6F2E6"/>
                </a:solidFill>
                <a:latin typeface="Consolas"/>
              </a:rPr>
              <a:t>) = </a:t>
            </a:r>
            <a:r>
              <a:rPr sz="1300">
                <a:solidFill>
                  <a:srgbClr val="7DDFFF"/>
                </a:solidFill>
                <a:latin typeface="Consolas"/>
              </a:rPr>
              <a:t>0.17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objective_reachable  noul   -&gt; P(</a:t>
            </a:r>
            <a:r>
              <a:rPr sz="1300">
                <a:solidFill>
                  <a:srgbClr val="FF9E7D"/>
                </a:solidFill>
                <a:latin typeface="Consolas"/>
              </a:rPr>
              <a:t>true</a:t>
            </a:r>
            <a:r>
              <a:rPr sz="1300">
                <a:solidFill>
                  <a:srgbClr val="E6F2E6"/>
                </a:solidFill>
                <a:latin typeface="Consolas"/>
              </a:rPr>
              <a:t>) = </a:t>
            </a:r>
            <a:r>
              <a:rPr sz="1300">
                <a:solidFill>
                  <a:srgbClr val="7DDFFF"/>
                </a:solidFill>
                <a:latin typeface="Consolas"/>
              </a:rPr>
              <a:t>0.53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overmatched          noul   -&gt; P(</a:t>
            </a:r>
            <a:r>
              <a:rPr sz="1300">
                <a:solidFill>
                  <a:srgbClr val="FF9E7D"/>
                </a:solidFill>
                <a:latin typeface="Consolas"/>
              </a:rPr>
              <a:t>true</a:t>
            </a:r>
            <a:r>
              <a:rPr sz="1300">
                <a:solidFill>
                  <a:srgbClr val="E6F2E6"/>
                </a:solidFill>
                <a:latin typeface="Consolas"/>
              </a:rPr>
              <a:t>) = </a:t>
            </a:r>
            <a:r>
              <a:rPr sz="1300">
                <a:solidFill>
                  <a:srgbClr val="7DDFFF"/>
                </a:solidFill>
                <a:latin typeface="Consolas"/>
              </a:rPr>
              <a:t>0.23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pack_needs_tending   noul   -&gt; P(</a:t>
            </a:r>
            <a:r>
              <a:rPr sz="1300">
                <a:solidFill>
                  <a:srgbClr val="FF9E7D"/>
                </a:solidFill>
                <a:latin typeface="Consolas"/>
              </a:rPr>
              <a:t>true</a:t>
            </a:r>
            <a:r>
              <a:rPr sz="1300">
                <a:solidFill>
                  <a:srgbClr val="E6F2E6"/>
                </a:solidFill>
                <a:latin typeface="Consolas"/>
              </a:rPr>
              <a:t>) = </a:t>
            </a:r>
            <a:r>
              <a:rPr sz="1300">
                <a:solidFill>
                  <a:srgbClr val="7DDFFF"/>
                </a:solidFill>
                <a:latin typeface="Consolas"/>
              </a:rPr>
              <a:t>0.25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1645920"/>
            <a:ext cx="2651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7DFFA0"/>
                </a:solidFill>
                <a:latin typeface="Segoe UI"/>
              </a:rPr>
              <a:t>Typed</a:t>
            </a:r>
            <a:r>
              <a:rPr sz="1400">
                <a:solidFill>
                  <a:srgbClr val="D8E8E0"/>
                </a:solidFill>
                <a:latin typeface="Segoe UI"/>
              </a:rPr>
              <a:t>  no string parsing, no hallucinated JSON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7DFFA0"/>
                </a:solidFill>
                <a:latin typeface="Segoe UI"/>
              </a:rPr>
              <a:t>Calibrated</a:t>
            </a:r>
            <a:r>
              <a:rPr sz="1400">
                <a:solidFill>
                  <a:srgbClr val="D8E8E0"/>
                </a:solidFill>
                <a:latin typeface="Segoe UI"/>
              </a:rPr>
              <a:t>  every answer carries a probability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7DFFA0"/>
                </a:solidFill>
                <a:latin typeface="Segoe UI"/>
              </a:rPr>
              <a:t>Parallel</a:t>
            </a:r>
            <a:r>
              <a:rPr sz="1400">
                <a:solidFill>
                  <a:srgbClr val="D8E8E0"/>
                </a:solidFill>
                <a:latin typeface="Segoe UI"/>
              </a:rPr>
              <a:t>  7 answers, same latency as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7A9A8A"/>
                </a:solidFill>
                <a:latin typeface="Segoe UI"/>
              </a:rPr>
              <a:t>PRIMITIVE 1 OF 3 — CHOICE (closed-set decision)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7DFFA0"/>
                </a:solidFill>
                <a:latin typeface="Segoe UI"/>
              </a:rPr>
              <a:t>Choice: pick one of 11 macro intents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A9A8A"/>
                </a:solidFill>
                <a:latin typeface="Segoe UI"/>
              </a:rPr>
              <a:t>bridge/matrix.py — the 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486400" cy="3383280"/>
          </a:xfrm>
          <a:prstGeom prst="roundRect">
            <a:avLst/>
          </a:prstGeom>
          <a:solidFill>
            <a:srgbClr val="0F1822"/>
          </a:solidFill>
          <a:ln w="15875">
            <a:solidFill>
              <a:srgbClr val="1E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tIns="128016"/>
          <a:lstStyle/>
          <a:p>
            <a:pPr algn="ctr">
              <a:spcAft>
                <a:spcPts val="150"/>
              </a:spcAft>
            </a:pPr>
            <a:r>
              <a:rPr sz="1300">
                <a:solidFill>
                  <a:srgbClr val="FFD76A"/>
                </a:solidFill>
                <a:latin typeface="Consolas"/>
              </a:rPr>
              <a:t>"intent"</a:t>
            </a:r>
            <a:r>
              <a:rPr sz="1300">
                <a:solidFill>
                  <a:srgbClr val="E6F2E6"/>
                </a:solidFill>
                <a:latin typeface="Consolas"/>
              </a:rPr>
              <a:t>: Choice(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  "What single move should the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   adventurer make this turn?",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  { </a:t>
            </a:r>
            <a:r>
              <a:rPr sz="1300">
                <a:solidFill>
                  <a:srgbClr val="FFD76A"/>
                </a:solidFill>
                <a:latin typeface="Consolas"/>
              </a:rPr>
              <a:t>"fight"</a:t>
            </a:r>
            <a:r>
              <a:rPr sz="1300">
                <a:solidFill>
                  <a:srgbClr val="E6F2E6"/>
                </a:solidFill>
                <a:latin typeface="Consolas"/>
              </a:rPr>
              <a:t>:  </a:t>
            </a:r>
            <a:r>
              <a:rPr sz="1300">
                <a:solidFill>
                  <a:srgbClr val="FFD76A"/>
                </a:solidFill>
                <a:latin typeface="Consolas"/>
              </a:rPr>
              <a:t>"strike a monster"</a:t>
            </a:r>
            <a:r>
              <a:rPr sz="1300">
                <a:solidFill>
                  <a:srgbClr val="E6F2E6"/>
                </a:solidFill>
                <a:latin typeface="Consolas"/>
              </a:rPr>
              <a:t>,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    </a:t>
            </a:r>
            <a:r>
              <a:rPr sz="1300">
                <a:solidFill>
                  <a:srgbClr val="FFD76A"/>
                </a:solidFill>
                <a:latin typeface="Consolas"/>
              </a:rPr>
              <a:t>"cast"</a:t>
            </a:r>
            <a:r>
              <a:rPr sz="1300">
                <a:solidFill>
                  <a:srgbClr val="E6F2E6"/>
                </a:solidFill>
                <a:latin typeface="Consolas"/>
              </a:rPr>
              <a:t>:   </a:t>
            </a:r>
            <a:r>
              <a:rPr sz="1300">
                <a:solidFill>
                  <a:srgbClr val="FFD76A"/>
                </a:solidFill>
                <a:latin typeface="Consolas"/>
              </a:rPr>
              <a:t>"attack spell in range"</a:t>
            </a:r>
            <a:r>
              <a:rPr sz="1300">
                <a:solidFill>
                  <a:srgbClr val="E6F2E6"/>
                </a:solidFill>
                <a:latin typeface="Consolas"/>
              </a:rPr>
              <a:t>,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    </a:t>
            </a:r>
            <a:r>
              <a:rPr sz="1300">
                <a:solidFill>
                  <a:srgbClr val="FFD76A"/>
                </a:solidFill>
                <a:latin typeface="Consolas"/>
              </a:rPr>
              <a:t>"flee"</a:t>
            </a:r>
            <a:r>
              <a:rPr sz="1300">
                <a:solidFill>
                  <a:srgbClr val="E6F2E6"/>
                </a:solidFill>
                <a:latin typeface="Consolas"/>
              </a:rPr>
              <a:t>:   </a:t>
            </a:r>
            <a:r>
              <a:rPr sz="1300">
                <a:solidFill>
                  <a:srgbClr val="FFD76A"/>
                </a:solidFill>
                <a:latin typeface="Consolas"/>
              </a:rPr>
              <a:t>"run for the stairs"</a:t>
            </a:r>
            <a:r>
              <a:rPr sz="1300">
                <a:solidFill>
                  <a:srgbClr val="E6F2E6"/>
                </a:solidFill>
                <a:latin typeface="Consolas"/>
              </a:rPr>
              <a:t>,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    </a:t>
            </a:r>
            <a:r>
              <a:rPr sz="1300">
                <a:solidFill>
                  <a:srgbClr val="FFD76A"/>
                </a:solidFill>
                <a:latin typeface="Consolas"/>
              </a:rPr>
              <a:t>"heal"</a:t>
            </a:r>
            <a:r>
              <a:rPr sz="1300">
                <a:solidFill>
                  <a:srgbClr val="E6F2E6"/>
                </a:solidFill>
                <a:latin typeface="Consolas"/>
              </a:rPr>
              <a:t>:   </a:t>
            </a:r>
            <a:r>
              <a:rPr sz="1300">
                <a:solidFill>
                  <a:srgbClr val="FFD76A"/>
                </a:solidFill>
                <a:latin typeface="Consolas"/>
              </a:rPr>
              <a:t>"drink a potion first"</a:t>
            </a:r>
            <a:r>
              <a:rPr sz="1300">
                <a:solidFill>
                  <a:srgbClr val="E6F2E6"/>
                </a:solidFill>
                <a:latin typeface="Consolas"/>
              </a:rPr>
              <a:t>,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    </a:t>
            </a:r>
            <a:r>
              <a:rPr sz="1300">
                <a:solidFill>
                  <a:srgbClr val="FFD76A"/>
                </a:solidFill>
                <a:latin typeface="Consolas"/>
              </a:rPr>
              <a:t>"explore"</a:t>
            </a:r>
            <a:r>
              <a:rPr sz="1300">
                <a:solidFill>
                  <a:srgbClr val="E6F2E6"/>
                </a:solidFill>
                <a:latin typeface="Consolas"/>
              </a:rPr>
              <a:t>: </a:t>
            </a:r>
            <a:r>
              <a:rPr sz="1300">
                <a:solidFill>
                  <a:srgbClr val="FFD76A"/>
                </a:solidFill>
                <a:latin typeface="Consolas"/>
              </a:rPr>
              <a:t>"go deeper"</a:t>
            </a:r>
            <a:r>
              <a:rPr sz="1300">
                <a:solidFill>
                  <a:srgbClr val="E6F2E6"/>
                </a:solidFill>
                <a:latin typeface="Consolas"/>
              </a:rPr>
              <a:t>,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    </a:t>
            </a:r>
            <a:r>
              <a:rPr sz="1300">
                <a:solidFill>
                  <a:srgbClr val="FFD76A"/>
                </a:solidFill>
                <a:latin typeface="Consolas"/>
              </a:rPr>
              <a:t>"loot"</a:t>
            </a:r>
            <a:r>
              <a:rPr sz="1300">
                <a:solidFill>
                  <a:srgbClr val="E6F2E6"/>
                </a:solidFill>
                <a:latin typeface="Consolas"/>
              </a:rPr>
              <a:t>:   </a:t>
            </a:r>
            <a:r>
              <a:rPr sz="1300">
                <a:solidFill>
                  <a:srgbClr val="FFD76A"/>
                </a:solidFill>
                <a:latin typeface="Consolas"/>
              </a:rPr>
              <a:t>"grab the item"</a:t>
            </a:r>
            <a:r>
              <a:rPr sz="1300">
                <a:solidFill>
                  <a:srgbClr val="E6F2E6"/>
                </a:solidFill>
                <a:latin typeface="Consolas"/>
              </a:rPr>
              <a:t>,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    ... descend, ascend,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        travel, errand, wait ...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  })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A9A8A"/>
                </a:solidFill>
                <a:latin typeface="Segoe UI"/>
              </a:rPr>
              <a:t>game/src/laya/policy.js — in-game 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91640"/>
            <a:ext cx="5257800" cy="3383280"/>
          </a:xfrm>
          <a:prstGeom prst="roundRect">
            <a:avLst/>
          </a:prstGeom>
          <a:solidFill>
            <a:srgbClr val="0F1822"/>
          </a:solidFill>
          <a:ln w="15875">
            <a:solidFill>
              <a:srgbClr val="1E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tIns="128016"/>
          <a:lstStyle/>
          <a:p>
            <a:pPr algn="ctr">
              <a:spcAft>
                <a:spcPts val="150"/>
              </a:spcAft>
            </a:pPr>
            <a:r>
              <a:rPr sz="1300">
                <a:solidFill>
                  <a:srgbClr val="5F8F72"/>
                </a:solidFill>
                <a:latin typeface="Consolas"/>
              </a:rPr>
              <a:t>// below the floor, a choice is noise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FF9E7D"/>
                </a:solidFill>
                <a:latin typeface="Consolas"/>
              </a:rPr>
              <a:t>const</a:t>
            </a:r>
            <a:r>
              <a:rPr sz="1300">
                <a:solidFill>
                  <a:srgbClr val="E6F2E6"/>
                </a:solidFill>
                <a:latin typeface="Consolas"/>
              </a:rPr>
              <a:t> intent = decision.confidence &gt;= </a:t>
            </a:r>
            <a:r>
              <a:rPr sz="1300">
                <a:solidFill>
                  <a:srgbClr val="7DDFFF"/>
                </a:solidFill>
                <a:latin typeface="Consolas"/>
              </a:rPr>
              <a:t>0.15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  ? decision.intent : </a:t>
            </a:r>
            <a:r>
              <a:rPr sz="1300">
                <a:solidFill>
                  <a:srgbClr val="FF9E7D"/>
                </a:solidFill>
                <a:latin typeface="Consolas"/>
              </a:rPr>
              <a:t>null</a:t>
            </a:r>
            <a:r>
              <a:rPr sz="1300">
                <a:solidFill>
                  <a:srgbClr val="E6F2E6"/>
                </a:solidFill>
                <a:latin typeface="Consolas"/>
              </a:rPr>
              <a:t>;</a:t>
            </a:r>
          </a:p>
          <a:p>
            <a:pPr>
              <a:spcAft>
                <a:spcPts val="150"/>
              </a:spcAft>
            </a:pP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FF9E7D"/>
                </a:solidFill>
                <a:latin typeface="Consolas"/>
              </a:rPr>
              <a:t>if</a:t>
            </a:r>
            <a:r>
              <a:rPr sz="1300">
                <a:solidFill>
                  <a:srgbClr val="E6F2E6"/>
                </a:solidFill>
                <a:latin typeface="Consolas"/>
              </a:rPr>
              <a:t> (intent === </a:t>
            </a:r>
            <a:r>
              <a:rPr sz="1300">
                <a:solidFill>
                  <a:srgbClr val="FFD76A"/>
                </a:solidFill>
                <a:latin typeface="Consolas"/>
              </a:rPr>
              <a:t>"flee"</a:t>
            </a:r>
            <a:r>
              <a:rPr sz="1300">
                <a:solidFill>
                  <a:srgbClr val="E6F2E6"/>
                </a:solidFill>
                <a:latin typeface="Consolas"/>
              </a:rPr>
              <a:t>)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  </a:t>
            </a:r>
            <a:r>
              <a:rPr sz="1300">
                <a:solidFill>
                  <a:srgbClr val="FF9E7D"/>
                </a:solidFill>
                <a:latin typeface="Consolas"/>
              </a:rPr>
              <a:t>return</a:t>
            </a:r>
            <a:r>
              <a:rPr sz="1300">
                <a:solidFill>
                  <a:srgbClr val="E6F2E6"/>
                </a:solidFill>
                <a:latin typeface="Consolas"/>
              </a:rPr>
              <a:t> fleeAction(f);      </a:t>
            </a:r>
            <a:r>
              <a:rPr sz="1300">
                <a:solidFill>
                  <a:srgbClr val="5F8F72"/>
                </a:solidFill>
                <a:latin typeface="Consolas"/>
              </a:rPr>
              <a:t>// "laya:flee"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FF9E7D"/>
                </a:solidFill>
                <a:latin typeface="Consolas"/>
              </a:rPr>
              <a:t>if</a:t>
            </a:r>
            <a:r>
              <a:rPr sz="1300">
                <a:solidFill>
                  <a:srgbClr val="E6F2E6"/>
                </a:solidFill>
                <a:latin typeface="Consolas"/>
              </a:rPr>
              <a:t> (intent === </a:t>
            </a:r>
            <a:r>
              <a:rPr sz="1300">
                <a:solidFill>
                  <a:srgbClr val="FFD76A"/>
                </a:solidFill>
                <a:latin typeface="Consolas"/>
              </a:rPr>
              <a:t>"fight"</a:t>
            </a:r>
            <a:r>
              <a:rPr sz="1300">
                <a:solidFill>
                  <a:srgbClr val="E6F2E6"/>
                </a:solidFill>
                <a:latin typeface="Consolas"/>
              </a:rPr>
              <a:t> || intent === </a:t>
            </a:r>
            <a:r>
              <a:rPr sz="1300">
                <a:solidFill>
                  <a:srgbClr val="FFD76A"/>
                </a:solidFill>
                <a:latin typeface="Consolas"/>
              </a:rPr>
              <a:t>"cast"</a:t>
            </a:r>
            <a:r>
              <a:rPr sz="1300">
                <a:solidFill>
                  <a:srgbClr val="E6F2E6"/>
                </a:solidFill>
                <a:latin typeface="Consolas"/>
              </a:rPr>
              <a:t>) {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  </a:t>
            </a:r>
            <a:r>
              <a:rPr sz="1300">
                <a:solidFill>
                  <a:srgbClr val="FF9E7D"/>
                </a:solidFill>
                <a:latin typeface="Consolas"/>
              </a:rPr>
              <a:t>const</a:t>
            </a:r>
            <a:r>
              <a:rPr sz="1300">
                <a:solidFill>
                  <a:srgbClr val="E6F2E6"/>
                </a:solidFill>
                <a:latin typeface="Consolas"/>
              </a:rPr>
              <a:t> a = bestAttack(f);   </a:t>
            </a:r>
            <a:r>
              <a:rPr sz="1300">
                <a:solidFill>
                  <a:srgbClr val="5F8F72"/>
                </a:solidFill>
                <a:latin typeface="Consolas"/>
              </a:rPr>
              <a:t>// facts must allow it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  </a:t>
            </a:r>
            <a:r>
              <a:rPr sz="1300">
                <a:solidFill>
                  <a:srgbClr val="FF9E7D"/>
                </a:solidFill>
                <a:latin typeface="Consolas"/>
              </a:rPr>
              <a:t>if</a:t>
            </a:r>
            <a:r>
              <a:rPr sz="1300">
                <a:solidFill>
                  <a:srgbClr val="E6F2E6"/>
                </a:solidFill>
                <a:latin typeface="Consolas"/>
              </a:rPr>
              <a:t> (a) </a:t>
            </a:r>
            <a:r>
              <a:rPr sz="1300">
                <a:solidFill>
                  <a:srgbClr val="FF9E7D"/>
                </a:solidFill>
                <a:latin typeface="Consolas"/>
              </a:rPr>
              <a:t>return</a:t>
            </a:r>
            <a:r>
              <a:rPr sz="1300">
                <a:solidFill>
                  <a:srgbClr val="E6F2E6"/>
                </a:solidFill>
                <a:latin typeface="Consolas"/>
              </a:rPr>
              <a:t> { act: a, why: </a:t>
            </a:r>
            <a:r>
              <a:rPr sz="1300">
                <a:solidFill>
                  <a:srgbClr val="FFD76A"/>
                </a:solidFill>
                <a:latin typeface="Consolas"/>
              </a:rPr>
              <a:t>"laya:"</a:t>
            </a:r>
            <a:r>
              <a:rPr sz="1300">
                <a:solidFill>
                  <a:srgbClr val="E6F2E6"/>
                </a:solidFill>
                <a:latin typeface="Consolas"/>
              </a:rPr>
              <a:t> + intent };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9496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D8E8E0"/>
                </a:solidFill>
                <a:latin typeface="Segoe UI"/>
              </a:rPr>
              <a:t>Returns: chosen intent + confidence + the FULL 11-bar probability table (that's the distribution on the in-game panel and the dashboard).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7A9A8A"/>
                </a:solidFill>
                <a:latin typeface="Segoe UI"/>
              </a:rPr>
              <a:t>PRIMITIVE 2 OF 3 — SCORE (ordered scale, can land between levels)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7DFFA0"/>
                </a:solidFill>
                <a:latin typeface="Segoe UI"/>
              </a:rPr>
              <a:t>Score: how dangerous is this turn, 0 →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A9A8A"/>
                </a:solidFill>
                <a:latin typeface="Segoe UI"/>
              </a:rPr>
              <a:t>bridge/matrix.py — the 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486400" cy="2926080"/>
          </a:xfrm>
          <a:prstGeom prst="roundRect">
            <a:avLst/>
          </a:prstGeom>
          <a:solidFill>
            <a:srgbClr val="0F1822"/>
          </a:solidFill>
          <a:ln w="15875">
            <a:solidFill>
              <a:srgbClr val="1E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tIns="128016"/>
          <a:lstStyle/>
          <a:p>
            <a:pPr algn="ctr">
              <a:spcAft>
                <a:spcPts val="150"/>
              </a:spcAft>
            </a:pPr>
            <a:r>
              <a:rPr sz="1300">
                <a:solidFill>
                  <a:srgbClr val="FFD76A"/>
                </a:solidFill>
                <a:latin typeface="Consolas"/>
              </a:rPr>
              <a:t>"threat"</a:t>
            </a:r>
            <a:r>
              <a:rPr sz="1300">
                <a:solidFill>
                  <a:srgbClr val="E6F2E6"/>
                </a:solidFill>
                <a:latin typeface="Consolas"/>
              </a:rPr>
              <a:t>: Score(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  </a:t>
            </a:r>
            <a:r>
              <a:rPr sz="1300">
                <a:solidFill>
                  <a:srgbClr val="FFD76A"/>
                </a:solidFill>
                <a:latin typeface="Consolas"/>
              </a:rPr>
              <a:t>"How dangerous is this turn?"</a:t>
            </a:r>
            <a:r>
              <a:rPr sz="1300">
                <a:solidFill>
                  <a:srgbClr val="E6F2E6"/>
                </a:solidFill>
                <a:latin typeface="Consolas"/>
              </a:rPr>
              <a:t>,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  [ </a:t>
            </a:r>
            <a:r>
              <a:rPr sz="1300">
                <a:solidFill>
                  <a:srgbClr val="FFD76A"/>
                </a:solidFill>
                <a:latin typeface="Consolas"/>
              </a:rPr>
              <a:t>"level 0: harmless"</a:t>
            </a:r>
            <a:r>
              <a:rPr sz="1300">
                <a:solidFill>
                  <a:srgbClr val="E6F2E6"/>
                </a:solidFill>
                <a:latin typeface="Consolas"/>
              </a:rPr>
              <a:t>,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    </a:t>
            </a:r>
            <a:r>
              <a:rPr sz="1300">
                <a:solidFill>
                  <a:srgbClr val="FFD76A"/>
                </a:solidFill>
                <a:latin typeface="Consolas"/>
              </a:rPr>
              <a:t>"level 1: tense, not touching me"</a:t>
            </a:r>
            <a:r>
              <a:rPr sz="1300">
                <a:solidFill>
                  <a:srgbClr val="E6F2E6"/>
                </a:solidFill>
                <a:latin typeface="Consolas"/>
              </a:rPr>
              <a:t>,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    </a:t>
            </a:r>
            <a:r>
              <a:rPr sz="1300">
                <a:solidFill>
                  <a:srgbClr val="FFD76A"/>
                </a:solidFill>
                <a:latin typeface="Consolas"/>
              </a:rPr>
              <a:t>"level 2: adjacent, could die soon"</a:t>
            </a:r>
            <a:r>
              <a:rPr sz="1300">
                <a:solidFill>
                  <a:srgbClr val="E6F2E6"/>
                </a:solidFill>
                <a:latin typeface="Consolas"/>
              </a:rPr>
              <a:t>,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    </a:t>
            </a:r>
            <a:r>
              <a:rPr sz="1300">
                <a:solidFill>
                  <a:srgbClr val="FFD76A"/>
                </a:solidFill>
                <a:latin typeface="Consolas"/>
              </a:rPr>
              <a:t>"level 3: lethal, dying now"</a:t>
            </a:r>
            <a:r>
              <a:rPr sz="1300">
                <a:solidFill>
                  <a:srgbClr val="E6F2E6"/>
                </a:solidFill>
                <a:latin typeface="Consolas"/>
              </a:rPr>
              <a:t> 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A9A8A"/>
                </a:solidFill>
                <a:latin typeface="Segoe UI"/>
              </a:rPr>
              <a:t>game/src/laya/policy.js — in-game 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91640"/>
            <a:ext cx="5257800" cy="2926080"/>
          </a:xfrm>
          <a:prstGeom prst="roundRect">
            <a:avLst/>
          </a:prstGeom>
          <a:solidFill>
            <a:srgbClr val="0F1822"/>
          </a:solidFill>
          <a:ln w="15875">
            <a:solidFill>
              <a:srgbClr val="1E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tIns="128016"/>
          <a:lstStyle/>
          <a:p>
            <a:pPr algn="ctr">
              <a:spcAft>
                <a:spcPts val="150"/>
              </a:spcAft>
            </a:pPr>
            <a:r>
              <a:rPr sz="1300">
                <a:solidFill>
                  <a:srgbClr val="5F8F72"/>
                </a:solidFill>
                <a:latin typeface="Consolas"/>
              </a:rPr>
              <a:t>// leaving the level needs BOTH the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5F8F72"/>
                </a:solidFill>
                <a:latin typeface="Consolas"/>
              </a:rPr>
              <a:t>// intent AND a near-lethal score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FF9E7D"/>
                </a:solidFill>
                <a:latin typeface="Consolas"/>
              </a:rPr>
              <a:t>if</a:t>
            </a:r>
            <a:r>
              <a:rPr sz="1300">
                <a:solidFill>
                  <a:srgbClr val="E6F2E6"/>
                </a:solidFill>
                <a:latin typeface="Consolas"/>
              </a:rPr>
              <a:t> (intent === </a:t>
            </a:r>
            <a:r>
              <a:rPr sz="1300">
                <a:solidFill>
                  <a:srgbClr val="FFD76A"/>
                </a:solidFill>
                <a:latin typeface="Consolas"/>
              </a:rPr>
              <a:t>"ascend"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    &amp;&amp; decision.threat &gt; </a:t>
            </a:r>
            <a:r>
              <a:rPr sz="1300">
                <a:solidFill>
                  <a:srgbClr val="7DDFFF"/>
                </a:solidFill>
                <a:latin typeface="Consolas"/>
              </a:rPr>
              <a:t>2.2</a:t>
            </a:r>
            <a:r>
              <a:rPr sz="1300">
                <a:solidFill>
                  <a:srgbClr val="E6F2E6"/>
                </a:solidFill>
                <a:latin typeface="Consolas"/>
              </a:rPr>
              <a:t>)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  </a:t>
            </a:r>
            <a:r>
              <a:rPr sz="1300">
                <a:solidFill>
                  <a:srgbClr val="FF9E7D"/>
                </a:solidFill>
                <a:latin typeface="Consolas"/>
              </a:rPr>
              <a:t>return</a:t>
            </a:r>
            <a:r>
              <a:rPr sz="1300">
                <a:solidFill>
                  <a:srgbClr val="E6F2E6"/>
                </a:solidFill>
                <a:latin typeface="Consolas"/>
              </a:rPr>
              <a:t> { act: { type: </a:t>
            </a:r>
            <a:r>
              <a:rPr sz="1300">
                <a:solidFill>
                  <a:srgbClr val="FFD76A"/>
                </a:solidFill>
                <a:latin typeface="Consolas"/>
              </a:rPr>
              <a:t>"ascend"</a:t>
            </a:r>
            <a:r>
              <a:rPr sz="1300">
                <a:solidFill>
                  <a:srgbClr val="E6F2E6"/>
                </a:solidFill>
                <a:latin typeface="Consolas"/>
              </a:rPr>
              <a:t> },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           why: </a:t>
            </a:r>
            <a:r>
              <a:rPr sz="1300">
                <a:solidFill>
                  <a:srgbClr val="FFD76A"/>
                </a:solidFill>
                <a:latin typeface="Consolas"/>
              </a:rPr>
              <a:t>"laya:ascend"</a:t>
            </a:r>
            <a:r>
              <a:rPr sz="1300">
                <a:solidFill>
                  <a:srgbClr val="E6F2E6"/>
                </a:solidFill>
                <a:latin typeface="Consolas"/>
              </a:rPr>
              <a:t> };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D8E8E0"/>
                </a:solidFill>
                <a:latin typeface="Segoe UI"/>
              </a:rPr>
              <a:t>A float on the scale, not an integer — 1.79 means "between tense and dangerous." Two typed signals must agree (choice + score) before the model can make the agent abandon the dive.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7A9A8A"/>
                </a:solidFill>
                <a:latin typeface="Segoe UI"/>
              </a:rPr>
              <a:t>PRIMITIVE 3 OF 3 — NOUL (strict binary judgment)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7DFFA0"/>
                </a:solidFill>
                <a:latin typeface="Segoe UI"/>
              </a:rPr>
              <a:t>Noul: P(true) for one yes/no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A9A8A"/>
                </a:solidFill>
                <a:latin typeface="Segoe UI"/>
              </a:rPr>
              <a:t>bridge/matrix.py — 1 of 5 noul axes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486400" cy="2926080"/>
          </a:xfrm>
          <a:prstGeom prst="roundRect">
            <a:avLst/>
          </a:prstGeom>
          <a:solidFill>
            <a:srgbClr val="0F1822"/>
          </a:solidFill>
          <a:ln w="15875">
            <a:solidFill>
              <a:srgbClr val="1E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tIns="128016"/>
          <a:lstStyle/>
          <a:p>
            <a:pPr algn="ctr">
              <a:spcAft>
                <a:spcPts val="150"/>
              </a:spcAft>
            </a:pPr>
            <a:r>
              <a:rPr sz="1300">
                <a:solidFill>
                  <a:srgbClr val="FFD76A"/>
                </a:solidFill>
                <a:latin typeface="Consolas"/>
              </a:rPr>
              <a:t>"pack_needs_tending"</a:t>
            </a:r>
            <a:r>
              <a:rPr sz="1300">
                <a:solidFill>
                  <a:srgbClr val="E6F2E6"/>
                </a:solidFill>
                <a:latin typeface="Consolas"/>
              </a:rPr>
              <a:t>: Noul(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  "Should the adventurer go to town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   soon to sell loot, identify gear,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   buy supplies or turn </a:t>
            </a:r>
            <a:r>
              <a:rPr sz="1300">
                <a:solidFill>
                  <a:srgbClr val="FF9E7D"/>
                </a:solidFill>
                <a:latin typeface="Consolas"/>
              </a:rPr>
              <a:t>in</a:t>
            </a:r>
            <a:r>
              <a:rPr sz="1300">
                <a:solidFill>
                  <a:srgbClr val="E6F2E6"/>
                </a:solidFill>
                <a:latin typeface="Consolas"/>
              </a:rPr>
              <a:t> a quest?")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A9A8A"/>
                </a:solidFill>
                <a:latin typeface="Segoe UI"/>
              </a:rPr>
              <a:t>game/src/laya/planner.js — in-game 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91640"/>
            <a:ext cx="5257800" cy="2926080"/>
          </a:xfrm>
          <a:prstGeom prst="roundRect">
            <a:avLst/>
          </a:prstGeom>
          <a:solidFill>
            <a:srgbClr val="0F1822"/>
          </a:solidFill>
          <a:ln w="15875">
            <a:solidFill>
              <a:srgbClr val="1E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tIns="128016"/>
          <a:lstStyle/>
          <a:p>
            <a:pPr algn="ctr">
              <a:spcAft>
                <a:spcPts val="150"/>
              </a:spcAft>
            </a:pPr>
            <a:r>
              <a:rPr sz="1300">
                <a:solidFill>
                  <a:srgbClr val="5F8F72"/>
                </a:solidFill>
                <a:latin typeface="Consolas"/>
              </a:rPr>
              <a:t>// a noul PROBABILITY arms an HTN goal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{ id: </a:t>
            </a:r>
            <a:r>
              <a:rPr sz="1300">
                <a:solidFill>
                  <a:srgbClr val="FFD76A"/>
                </a:solidFill>
                <a:latin typeface="Consolas"/>
              </a:rPr>
              <a:t>"tending"</a:t>
            </a:r>
            <a:r>
              <a:rPr sz="1300">
                <a:solidFill>
                  <a:srgbClr val="E6F2E6"/>
                </a:solidFill>
                <a:latin typeface="Consolas"/>
              </a:rPr>
              <a:t>, weight: </a:t>
            </a:r>
            <a:r>
              <a:rPr sz="1300">
                <a:solidFill>
                  <a:srgbClr val="7DDFFF"/>
                </a:solidFill>
                <a:latin typeface="Consolas"/>
              </a:rPr>
              <a:t>45</a:t>
            </a:r>
            <a:r>
              <a:rPr sz="1300">
                <a:solidFill>
                  <a:srgbClr val="E6F2E6"/>
                </a:solidFill>
                <a:latin typeface="Consolas"/>
              </a:rPr>
              <a:t>,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  trig: (f, d) =&gt;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    d.packNeedsTending &gt; </a:t>
            </a:r>
            <a:r>
              <a:rPr sz="1300">
                <a:solidFill>
                  <a:srgbClr val="7DDFFF"/>
                </a:solidFill>
                <a:latin typeface="Consolas"/>
              </a:rPr>
              <a:t>0.75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    &amp;&amp; f.mapKind === </a:t>
            </a:r>
            <a:r>
              <a:rPr sz="1300">
                <a:solidFill>
                  <a:srgbClr val="FFD76A"/>
                </a:solidFill>
                <a:latin typeface="Consolas"/>
              </a:rPr>
              <a:t>"dungeon"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    &amp;&amp; (f.bag.length &gt;= </a:t>
            </a:r>
            <a:r>
              <a:rPr sz="1300">
                <a:solidFill>
                  <a:srgbClr val="7DDFFF"/>
                </a:solidFill>
                <a:latin typeface="Consolas"/>
              </a:rPr>
              <a:t>10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        || f.gold &gt;= </a:t>
            </a:r>
            <a:r>
              <a:rPr sz="1300">
                <a:solidFill>
                  <a:srgbClr val="7DDFFF"/>
                </a:solidFill>
                <a:latin typeface="Consolas"/>
              </a:rPr>
              <a:t>90</a:t>
            </a:r>
            <a:r>
              <a:rPr sz="1300">
                <a:solidFill>
                  <a:srgbClr val="E6F2E6"/>
                </a:solidFill>
                <a:latin typeface="Consolas"/>
              </a:rPr>
              <a:t>),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  tasks: tHomeDive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3776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D8E8E0"/>
                </a:solidFill>
                <a:latin typeface="Segoe UI"/>
              </a:rPr>
              <a:t>Five noul axes: hp_critical, can_kill, objective_reachable, overmatched, pack_needs_tending. They are the model's own judgment used as SOFT PRECONDITIONS on long-horizon plans — e.g. overmatched &gt; 0.7 triggers a flee the intent can't veto.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7A9A8A"/>
                </a:solidFill>
                <a:latin typeface="Segoe UI"/>
              </a:rPr>
              <a:t>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7DFFA0"/>
                </a:solidFill>
                <a:latin typeface="Segoe UI"/>
              </a:rPr>
              <a:t>The model votes. The code decides.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6492240" cy="3840480"/>
          </a:xfrm>
          <a:prstGeom prst="roundRect">
            <a:avLst/>
          </a:prstGeom>
          <a:solidFill>
            <a:srgbClr val="0F1822"/>
          </a:solidFill>
          <a:ln w="15875">
            <a:solidFill>
              <a:srgbClr val="1E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tIns="128016"/>
          <a:lstStyle/>
          <a:p>
            <a:pPr algn="ctr">
              <a:spcAft>
                <a:spcPts val="150"/>
              </a:spcAft>
            </a:pPr>
            <a:r>
              <a:rPr sz="1300">
                <a:solidFill>
                  <a:srgbClr val="5F8F72"/>
                </a:solidFill>
                <a:latin typeface="Consolas"/>
              </a:rPr>
              <a:t>// priority is fixed, top wins (policy.js)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7DDFFF"/>
                </a:solidFill>
                <a:latin typeface="Consolas"/>
              </a:rPr>
              <a:t>1</a:t>
            </a:r>
            <a:r>
              <a:rPr sz="1300">
                <a:solidFill>
                  <a:srgbClr val="E6F2E6"/>
                </a:solidFill>
                <a:latin typeface="Consolas"/>
              </a:rPr>
              <a:t> safety   hp &lt; </a:t>
            </a:r>
            <a:r>
              <a:rPr sz="1300">
                <a:solidFill>
                  <a:srgbClr val="7DDFFF"/>
                </a:solidFill>
                <a:latin typeface="Consolas"/>
              </a:rPr>
              <a:t>35</a:t>
            </a:r>
            <a:r>
              <a:rPr sz="1300">
                <a:solidFill>
                  <a:srgbClr val="E6F2E6"/>
                </a:solidFill>
                <a:latin typeface="Consolas"/>
              </a:rPr>
              <a:t>% -&gt; heal, </a:t>
            </a:r>
            <a:r>
              <a:rPr sz="1300">
                <a:solidFill>
                  <a:srgbClr val="FF9E7D"/>
                </a:solidFill>
                <a:latin typeface="Consolas"/>
              </a:rPr>
              <a:t>else</a:t>
            </a:r>
            <a:r>
              <a:rPr sz="1300">
                <a:solidFill>
                  <a:srgbClr val="E6F2E6"/>
                </a:solidFill>
                <a:latin typeface="Consolas"/>
              </a:rPr>
              <a:t> flee   </a:t>
            </a:r>
            <a:r>
              <a:rPr sz="1300">
                <a:solidFill>
                  <a:srgbClr val="5F8F72"/>
                </a:solidFill>
                <a:latin typeface="Consolas"/>
              </a:rPr>
              <a:t># no override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7DDFFF"/>
                </a:solidFill>
                <a:latin typeface="Consolas"/>
              </a:rPr>
              <a:t>2</a:t>
            </a:r>
            <a:r>
              <a:rPr sz="1300">
                <a:solidFill>
                  <a:srgbClr val="E6F2E6"/>
                </a:solidFill>
                <a:latin typeface="Consolas"/>
              </a:rPr>
              <a:t> plan     current HTN task (fight through it)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7DDFFF"/>
                </a:solidFill>
                <a:latin typeface="Consolas"/>
              </a:rPr>
              <a:t>3</a:t>
            </a:r>
            <a:r>
              <a:rPr sz="1300">
                <a:solidFill>
                  <a:srgbClr val="E6F2E6"/>
                </a:solidFill>
                <a:latin typeface="Consolas"/>
              </a:rPr>
              <a:t> laya     intent IF conf &gt;= </a:t>
            </a:r>
            <a:r>
              <a:rPr sz="1300">
                <a:solidFill>
                  <a:srgbClr val="7DDFFF"/>
                </a:solidFill>
                <a:latin typeface="Consolas"/>
              </a:rPr>
              <a:t>0.15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           AND facts say it's executable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7DDFFF"/>
                </a:solidFill>
                <a:latin typeface="Consolas"/>
              </a:rPr>
              <a:t>4</a:t>
            </a:r>
            <a:r>
              <a:rPr sz="1300">
                <a:solidFill>
                  <a:srgbClr val="E6F2E6"/>
                </a:solidFill>
                <a:latin typeface="Consolas"/>
              </a:rPr>
              <a:t> reflex   loot &gt; fight &gt; stairs &gt; frontier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0" y="164592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7DFFA0"/>
                </a:solidFill>
                <a:latin typeface="Segoe UI"/>
              </a:rPr>
              <a:t>Facts gate</a:t>
            </a:r>
            <a:r>
              <a:rPr sz="1500">
                <a:solidFill>
                  <a:srgbClr val="D8E8E0"/>
                </a:solidFill>
                <a:latin typeface="Segoe UI"/>
              </a:rPr>
              <a:t>  "cast" with no mana in range → rejected, reflex plays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7DFFA0"/>
                </a:solidFill>
                <a:latin typeface="Segoe UI"/>
              </a:rPr>
              <a:t>Safety first</a:t>
            </a:r>
            <a:r>
              <a:rPr sz="1500">
                <a:solidFill>
                  <a:srgbClr val="D8E8E0"/>
                </a:solidFill>
                <a:latin typeface="Segoe UI"/>
              </a:rPr>
              <a:t>  safety layer cannot be outvoted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7DFFA0"/>
                </a:solidFill>
                <a:latin typeface="Segoe UI"/>
              </a:rPr>
              <a:t>Watchdog</a:t>
            </a:r>
            <a:r>
              <a:rPr sz="1500">
                <a:solidFill>
                  <a:srgbClr val="D8E8E0"/>
                </a:solidFill>
                <a:latin typeface="Segoe UI"/>
              </a:rPr>
              <a:t>  15 ticks stuck → drop goal; 30 → ascend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7DFFA0"/>
                </a:solidFill>
                <a:latin typeface="Segoe UI"/>
              </a:rPr>
              <a:t>Accountability</a:t>
            </a:r>
            <a:r>
              <a:rPr sz="1500">
                <a:solidFill>
                  <a:srgbClr val="D8E8E0"/>
                </a:solidFill>
                <a:latin typeface="Segoe UI"/>
              </a:rPr>
              <a:t>  every turn logs who decided: laya / safety / plan / macro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7A9A8A"/>
                </a:solidFill>
                <a:latin typeface="Segoe UI"/>
              </a:rPr>
              <a:t>LONG HORIZON — HTN GOAL PLANNER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7DFFA0"/>
                </a:solidFill>
                <a:latin typeface="Segoe UI"/>
              </a:rPr>
              <a:t>Three worries, one town trip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0881360" cy="3017520"/>
          </a:xfrm>
          <a:prstGeom prst="roundRect">
            <a:avLst/>
          </a:prstGeom>
          <a:solidFill>
            <a:srgbClr val="0F1822"/>
          </a:solidFill>
          <a:ln w="15875">
            <a:solidFill>
              <a:srgbClr val="1E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tIns="128016"/>
          <a:lstStyle/>
          <a:p>
            <a:pPr algn="ctr"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GOALS ARMED THIS TURN (facts + noul)          MERGED PLAN (shared tasks once)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  unpack     bag </a:t>
            </a:r>
            <a:r>
              <a:rPr sz="1300">
                <a:solidFill>
                  <a:srgbClr val="7DDFFF"/>
                </a:solidFill>
                <a:latin typeface="Consolas"/>
              </a:rPr>
              <a:t>18</a:t>
            </a:r>
            <a:r>
              <a:rPr sz="1300">
                <a:solidFill>
                  <a:srgbClr val="E6F2E6"/>
                </a:solidFill>
                <a:latin typeface="Consolas"/>
              </a:rPr>
              <a:t>/</a:t>
            </a:r>
            <a:r>
              <a:rPr sz="1300">
                <a:solidFill>
                  <a:srgbClr val="7DDFFF"/>
                </a:solidFill>
                <a:latin typeface="Consolas"/>
              </a:rPr>
              <a:t>18</a:t>
            </a:r>
            <a:r>
              <a:rPr sz="1300">
                <a:solidFill>
                  <a:srgbClr val="E6F2E6"/>
                </a:solidFill>
                <a:latin typeface="Consolas"/>
              </a:rPr>
              <a:t>          ─┐              </a:t>
            </a:r>
            <a:r>
              <a:rPr sz="1300">
                <a:solidFill>
                  <a:srgbClr val="7DDFFF"/>
                </a:solidFill>
                <a:latin typeface="Consolas"/>
              </a:rPr>
              <a:t>1</a:t>
            </a:r>
            <a:r>
              <a:rPr sz="1300">
                <a:solidFill>
                  <a:srgbClr val="E6F2E6"/>
                </a:solidFill>
                <a:latin typeface="Consolas"/>
              </a:rPr>
              <a:t> gohome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  resupply   </a:t>
            </a:r>
            <a:r>
              <a:rPr sz="1300">
                <a:solidFill>
                  <a:srgbClr val="7DDFFF"/>
                </a:solidFill>
                <a:latin typeface="Consolas"/>
              </a:rPr>
              <a:t>0</a:t>
            </a:r>
            <a:r>
              <a:rPr sz="1300">
                <a:solidFill>
                  <a:srgbClr val="E6F2E6"/>
                </a:solidFill>
                <a:latin typeface="Consolas"/>
              </a:rPr>
              <a:t> potions, </a:t>
            </a:r>
            <a:r>
              <a:rPr sz="1300">
                <a:solidFill>
                  <a:srgbClr val="7DDFFF"/>
                </a:solidFill>
                <a:latin typeface="Consolas"/>
              </a:rPr>
              <a:t>90</a:t>
            </a:r>
            <a:r>
              <a:rPr sz="1300">
                <a:solidFill>
                  <a:srgbClr val="E6F2E6"/>
                </a:solidFill>
                <a:latin typeface="Consolas"/>
              </a:rPr>
              <a:t> gold  ├─► merge ──►  </a:t>
            </a:r>
            <a:r>
              <a:rPr sz="1300">
                <a:solidFill>
                  <a:srgbClr val="7DDFFF"/>
                </a:solidFill>
                <a:latin typeface="Consolas"/>
              </a:rPr>
              <a:t>2</a:t>
            </a:r>
            <a:r>
              <a:rPr sz="1300">
                <a:solidFill>
                  <a:srgbClr val="E6F2E6"/>
                </a:solidFill>
                <a:latin typeface="Consolas"/>
              </a:rPr>
              <a:t> chores      &lt;- run ONCE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  haveKey    locked chest, no key ┘              </a:t>
            </a:r>
            <a:r>
              <a:rPr sz="1300">
                <a:solidFill>
                  <a:srgbClr val="7DDFFF"/>
                </a:solidFill>
                <a:latin typeface="Consolas"/>
              </a:rPr>
              <a:t>3</a:t>
            </a:r>
            <a:r>
              <a:rPr sz="1300">
                <a:solidFill>
                  <a:srgbClr val="E6F2E6"/>
                </a:solidFill>
                <a:latin typeface="Consolas"/>
              </a:rPr>
              <a:t> buy key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E6F2E6"/>
                </a:solidFill>
                <a:latin typeface="Consolas"/>
              </a:rPr>
              <a:t>                                                </a:t>
            </a:r>
            <a:r>
              <a:rPr sz="1300">
                <a:solidFill>
                  <a:srgbClr val="7DDFFF"/>
                </a:solidFill>
                <a:latin typeface="Consolas"/>
              </a:rPr>
              <a:t>4</a:t>
            </a:r>
            <a:r>
              <a:rPr sz="1300">
                <a:solidFill>
                  <a:srgbClr val="E6F2E6"/>
                </a:solidFill>
                <a:latin typeface="Consolas"/>
              </a:rPr>
              <a:t> resume crypts:t2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8463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D8E8E0"/>
                </a:solidFill>
                <a:latin typeface="Segoe UI"/>
              </a:rPr>
              <a:t>Each goal = trigger + method (primitive tasks with done/act predicates). Active goals merge: duplicate tasks drop, the terminal "resume dive" is hoisted to the end. Three sequential chains would be 3 round trips; the planner makes it one. Dashboard shows the live plan per decision.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7A9A8A"/>
                </a:solidFill>
                <a:latin typeface="Segoe UI"/>
              </a:rPr>
              <a:t>IT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7DFFA0"/>
                </a:solidFill>
                <a:latin typeface="Segoe UI"/>
              </a:rPr>
              <a:t>45-second smoke run (headless, live bridge)</a:t>
            </a:r>
          </a:p>
        </p:txBody>
      </p:sp>
      <p:pic>
        <p:nvPicPr>
          <p:cNvPr id="4" name="Picture 3" descr="pilot-e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463040"/>
            <a:ext cx="585216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6459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7DFFA0"/>
                </a:solidFill>
                <a:latin typeface="Segoe UI"/>
              </a:rPr>
              <a:t>60 decisions</a:t>
            </a:r>
            <a:r>
              <a:rPr sz="1500">
                <a:solidFill>
                  <a:srgbClr val="D8E8E0"/>
                </a:solidFill>
                <a:latin typeface="Segoe UI"/>
              </a:rPr>
              <a:t>  0 fallbacks — bridge answered every dungeon tick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7DFFA0"/>
                </a:solidFill>
                <a:latin typeface="Segoe UI"/>
              </a:rPr>
              <a:t>3 kills</a:t>
            </a:r>
            <a:r>
              <a:rPr sz="1500">
                <a:solidFill>
                  <a:srgbClr val="D8E8E0"/>
                </a:solidFill>
                <a:latin typeface="Segoe UI"/>
              </a:rPr>
              <a:t>  while exploring + looting; 0 deaths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7DFFA0"/>
                </a:solidFill>
                <a:latin typeface="Segoe UI"/>
              </a:rPr>
              <a:t>0 stalls, 0 page errors</a:t>
            </a:r>
            <a:r>
              <a:rPr sz="1500">
                <a:solidFill>
                  <a:srgbClr val="D8E8E0"/>
                </a:solidFill>
                <a:latin typeface="Segoe UI"/>
              </a:rPr>
              <a:t>  goal commitment + watchdog never tripped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7DFFA0"/>
                </a:solidFill>
                <a:latin typeface="Segoe UI"/>
              </a:rPr>
              <a:t>Panel visible right</a:t>
            </a:r>
            <a:r>
              <a:rPr sz="1500">
                <a:solidFill>
                  <a:srgbClr val="D8E8E0"/>
                </a:solidFill>
                <a:latin typeface="Segoe UI"/>
              </a:rPr>
              <a:t>  full intent distribution + 5 noul axes, live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7DFFA0"/>
                </a:solidFill>
                <a:latin typeface="Segoe UI"/>
              </a:rPr>
              <a:t>Longer runs</a:t>
            </a:r>
            <a:r>
              <a:rPr sz="1500">
                <a:solidFill>
                  <a:srgbClr val="D8E8E0"/>
                </a:solidFill>
                <a:latin typeface="Segoe UI"/>
              </a:rPr>
              <a:t>  full chain loop verified: locked chest -&gt; buy key -&gt; potions -&gt; quest -&gt; descend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7A9A8A"/>
                </a:solidFill>
                <a:latin typeface="Segoe UI"/>
              </a:rPr>
              <a:t>HONESTY &amp;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7DFFA0"/>
                </a:solidFill>
                <a:latin typeface="Segoe UI"/>
              </a:rPr>
              <a:t>Zero-shot today — and the dashboard proves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7DFFA0"/>
                </a:solidFill>
                <a:latin typeface="Segoe UI"/>
              </a:rPr>
              <a:t>Near chance today</a:t>
            </a:r>
            <a:r>
              <a:rPr sz="1600">
                <a:solidFill>
                  <a:srgbClr val="D8E8E0"/>
                </a:solidFill>
                <a:latin typeface="Segoe UI"/>
              </a:rPr>
              <a:t>  base checkpoint: intent conf ~0.3-0.5; gates + reflex carry the play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7DFFA0"/>
                </a:solidFill>
                <a:latin typeface="Segoe UI"/>
              </a:rPr>
              <a:t>Honesty table</a:t>
            </a:r>
            <a:r>
              <a:rPr sz="1600">
                <a:solidFill>
                  <a:srgbClr val="D8E8E0"/>
                </a:solidFill>
                <a:latin typeface="Segoe UI"/>
              </a:rPr>
              <a:t>  dashboard tracks the share of turns where laya:* actually earned execution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7DFFA0"/>
                </a:solidFill>
                <a:latin typeface="Segoe UI"/>
              </a:rPr>
              <a:t>Next: RLCD fine-tune</a:t>
            </a:r>
            <a:r>
              <a:rPr sz="1600">
                <a:solidFill>
                  <a:srgbClr val="D8E8E0"/>
                </a:solidFill>
                <a:latin typeface="Segoe UI"/>
              </a:rPr>
              <a:t>  train on game-state labels -&gt; noul axes become CALIBRATED preconditions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7DFFA0"/>
                </a:solidFill>
                <a:latin typeface="Segoe UI"/>
              </a:rPr>
              <a:t>Then hand over the wheel</a:t>
            </a:r>
            <a:r>
              <a:rPr sz="1600">
                <a:solidFill>
                  <a:srgbClr val="D8E8E0"/>
                </a:solidFill>
                <a:latin typeface="Segoe UI"/>
              </a:rPr>
              <a:t>  as conf rises, the floor drops and laya share grows — measured, not assumed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7DFFA0"/>
                </a:solidFill>
                <a:latin typeface="Segoe UI"/>
              </a:rPr>
              <a:t>The pitch</a:t>
            </a:r>
            <a:r>
              <a:rPr sz="1600">
                <a:solidFill>
                  <a:srgbClr val="D8E8E0"/>
                </a:solidFill>
                <a:latin typeface="Segoe UI"/>
              </a:rPr>
              <a:t>  a $0-per-turn agent brain: ~100 ms, local, deterministic guardrails, typed answers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4688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7DFFA0"/>
                </a:solidFill>
                <a:latin typeface="Segoe UI"/>
              </a:rPr>
              <a:t>Ask seven questions. Pay one forward pass.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6576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D8E8E0"/>
                </a:solidFill>
                <a:latin typeface="Segoe UI"/>
              </a:rPr>
              <a:t>game + bridge + dashboard + planner: github.com/Irtechie/Laya-Rogue</a:t>
            </a:r>
          </a:p>
          <a:p>
            <a:r>
              <a:rPr sz="1800" b="0">
                <a:solidFill>
                  <a:srgbClr val="D8E8E0"/>
                </a:solidFill>
                <a:latin typeface="Segoe UI"/>
              </a:rPr>
              <a:t>demo: python bridge\demo.py · dashboard: http://localhost:8732 · press P in game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